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b8260690ec457c" /><Relationship Type="http://schemas.openxmlformats.org/officeDocument/2006/relationships/extended-properties" Target="/docProps/app.xml" Id="R4d614622f5e34a5d" /><Relationship Type="http://schemas.openxmlformats.org/officeDocument/2006/relationships/officeDocument" Target="/ppt/presentation.xml" Id="R621d36691f3c41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4c0feea0bb482e"/>
  </p:sldMasterIdLst>
  <p:notesMasterIdLst>
    <p:notesMasterId xmlns:r="http://schemas.openxmlformats.org/officeDocument/2006/relationships" r:id="R9dad3908ead2435e"/>
  </p:notesMasterIdLst>
  <p:sldIdLst>
    <p:sldId xmlns:r="http://schemas.openxmlformats.org/officeDocument/2006/relationships" id="256" r:id="Rf3c255e81f1646b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a847472ca4a51" /><Relationship Type="http://schemas.openxmlformats.org/officeDocument/2006/relationships/slideMaster" Target="/ppt/slideMasters/slideMaster1.xml" Id="R484c0feea0bb482e" /><Relationship Type="http://schemas.openxmlformats.org/officeDocument/2006/relationships/notesMaster" Target="/ppt/notesMasters/notesMaster1.xml" Id="R9dad3908ead2435e" /><Relationship Type="http://schemas.openxmlformats.org/officeDocument/2006/relationships/presProps" Target="/ppt/presProps.xml" Id="R0275a74faba5490f" /><Relationship Type="http://schemas.openxmlformats.org/officeDocument/2006/relationships/tableStyles" Target="/ppt/tableStyles.xml" Id="R93ddcfbdfda44ccb" /><Relationship Type="http://schemas.openxmlformats.org/officeDocument/2006/relationships/slide" Target="/ppt/slides/slide1.xml" Id="Rf3c255e81f1646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ae79505aae44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586c4b541e4bbc" /><Relationship Type="http://schemas.openxmlformats.org/officeDocument/2006/relationships/notesMaster" Target="/ppt/notesMasters/notesMaster1.xml" Id="R898cd093ed0e49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主題：NFT 只存地址，資料怎麼被找到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講解順序：先說明 NFT 的 tokenId 是識別編號，兩個 URI 指向鏈外資料。公開 metadata 列介紹和照片位置，私密素材索引列加密檔案的位置。接著指向分類表，最後走一次大頭照讀取流程。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本頁依來源呈現目標架構。NFT 同時記錄擁有者與家族關係，不能把「只存地址」理解為整份合約只有兩個欄位。鏈上紀錄可追溯指標與持有權，本身不驗證上傳生平的真實性。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評審追問：</a:t>
            </a:r>
          </a:p>
          <a:p xmlns:a="http://schemas.openxmlformats.org/drawingml/2006/main">
            <a:r>
              <a:t>照片存在 NFT 裡嗎？檔案在鏈外儲存，NFT 記錄地址。</a:t>
            </a:r>
          </a:p>
          <a:p xmlns:a="http://schemas.openxmlformats.org/drawingml/2006/main">
            <a:r>
              <a:t>為什麼不全部加密？家屬同意公開的介紹用於公開追思，私密素材另行加密。</a:t>
            </a:r>
          </a:p>
          <a:p xmlns:a="http://schemas.openxmlformats.org/drawingml/2006/main">
            <a:r>
              <a:t>家族關係怎麼表示？以 parentOf、childrenOf 記錄 NFT 間的父子關係。</a:t>
            </a:r>
          </a:p>
          <a:p xmlns:a="http://schemas.openxmlformats.org/drawingml/2006/main">
            <a:r>
              <a:t>地址相同但檔案被替換？依來源的 Arweave 設計，新內容對應新 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</a:t>
            </a:r>
          </a:p>
          <a:p xmlns:a="http://schemas.openxmlformats.org/drawingml/2006/main">
            <a:r>
              <a:t>https://eips.ethereum.org/EIPS/eip-721</a:t>
            </a:r>
          </a:p>
          <a:p xmlns:a="http://schemas.openxmlformats.org/drawingml/2006/main">
            <a:r>
              <a:t>https://eips.ethereum.org/EIPS/eip-6150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 Markdown（含完整細節、分類、評審追問與引用）：</a:t>
            </a:r>
          </a:p>
          <a:p xmlns:a="http://schemas.openxmlformats.org/drawingml/2006/main">
            <a:r>
              <a:t># 第 1 頁 · NFT 只存地址:資料怎麼被找到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**這頁的一句話**:塔位 NFT 在鏈上**只存兩條地址**。一條指向**公開**的逝者介紹,一條指向**加密**的私密素材。檔案本身都不在鏈上。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建議版面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左半放「兩條路」主圖,右半放「公開 vs 加密」分類表。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主圖:一顆 NFT,兩條路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NFT["🪪 塔位 NFT&lt;br/&gt;tokenId 42"]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NFT --&gt;|"tokenURI"| META["👁️ 公開 metadata&lt;br/&gt;姓名 · 生卒 · 籍貫 · 簡介 · 大頭照"]</a:t>
            </a:r>
          </a:p>
          <a:p xmlns:a="http://schemas.openxmlformats.org/drawingml/2006/main">
            <a:r>
              <a:t>    NFT --&gt;|"artifactURI"| MAN["🔒 加密索引清單&lt;br/&gt;列出每個密文的位置"]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MAN --&gt; C1["相簿密文"]</a:t>
            </a:r>
          </a:p>
          <a:p xmlns:a="http://schemas.openxmlformats.org/drawingml/2006/main">
            <a:r>
              <a:t>    MAN --&gt; C2["錄音密文"]</a:t>
            </a:r>
          </a:p>
          <a:p xmlns:a="http://schemas.openxmlformats.org/drawingml/2006/main">
            <a:r>
              <a:t>    MAN --&gt; C3["對話紀錄密文"]</a:t>
            </a:r>
          </a:p>
          <a:p xmlns:a="http://schemas.openxmlformats.org/drawingml/2006/main">
            <a:r>
              <a:t>    MAN --&gt; C4["3D 頭像 · 聲音參考密文"]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META -.-&gt;|"任何人可讀"| PUB["OpenSea · 追思頁"]</a:t>
            </a:r>
          </a:p>
          <a:p xmlns:a="http://schemas.openxmlformats.org/drawingml/2006/main">
            <a:r>
              <a:t>    MAN -.-&gt;|"持有 NFT 才能解密"| OWN["家屬"]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為什麼只存地址?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區塊鏈很貴,也不是拿來放大檔案的:以太坊每存 32 bytes 約要 **20,000 gas**,一張照片放上鏈的成本高到不切實際。</a:t>
            </a:r>
          </a:p>
          <a:p xmlns:a="http://schemas.openxmlformats.org/drawingml/2006/main">
            <a:r>
              <a:t>所以區塊鏈的角色是**公證人**,不是**硬碟**: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鏈上證明「**這個地址指向的東西是真的,而且屬於誰**」,檔案則交給專門的永久儲存網路。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鏈上存的東西 | 來源標準 | 大小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`ownerOf` 擁有者 | ERC-721 | 20 bytes |</a:t>
            </a:r>
          </a:p>
          <a:p xmlns:a="http://schemas.openxmlformats.org/drawingml/2006/main">
            <a:r>
              <a:t>| `parentOf` / `childrenOf` 家族樹 | ERC-6150 | 每筆 32 bytes |</a:t>
            </a:r>
          </a:p>
          <a:p xmlns:a="http://schemas.openxmlformats.org/drawingml/2006/main">
            <a:r>
              <a:t>| `tokenURI` 公開資料地址 | ERC-721 Metadata | 約 50 bytes |</a:t>
            </a:r>
          </a:p>
          <a:p xmlns:a="http://schemas.openxmlformats.org/drawingml/2006/main">
            <a:r>
              <a:t>| `artifactURI` 加密資料地址 | 本專案自訂 | 約 50 bytes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分類原則:墓碑上會刻的,才公開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類別 | 內容 | 走哪條路 | 加密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公開介紹 | 姓名、生卒年、籍貫、簡短生平、公開大頭照 | `tokenURI` | ❌ |</a:t>
            </a:r>
          </a:p>
          <a:p xmlns:a="http://schemas.openxmlformats.org/drawingml/2006/main">
            <a:r>
              <a:t>| 私密素材 | 相簿、影片、錄音、日記、對話紀錄 | `artifactURI` | ✅ |</a:t>
            </a:r>
          </a:p>
          <a:p xmlns:a="http://schemas.openxmlformats.org/drawingml/2006/main">
            <a:r>
              <a:t>| 分身產物 | 3D 頭像檔、聲音參考 | `artifactURI` | ✅ |</a:t>
            </a:r>
          </a:p>
          <a:p xmlns:a="http://schemas.openxmlformats.org/drawingml/2006/main">
            <a:r>
              <a:t>| 互動紀錄 | 公祭留言、邀請碼、可見度 | 一般資料庫 | 視需求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「一層指一層」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>tokenId 42 ──讀鏈──▶ 地址字串 ──取檔──▶ metadata.json ──讀 image 欄位──▶ 大頭照</a:t>
            </a:r>
          </a:p>
          <a:p xmlns:a="http://schemas.openxmlformats.org/drawingml/2006/main">
            <a:r>
              <a:t>  鏈上                約 50 bytes          幾 KB                           幾 MB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**鏈上只為最前面那 50 bytes 付費**,其餘都在永久儲存網路上。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評審可能追問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問題 | 簡短回答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照片是存在 NFT 裡嗎? | 不是。NFT 只存地址,照片在 Arweave |</a:t>
            </a:r>
          </a:p>
          <a:p xmlns:a="http://schemas.openxmlformats.org/drawingml/2006/main">
            <a:r>
              <a:t>| 地址不變、檔案被偷換怎麼辦? | Arweave 的交易 ID 對應的內容無法修改,換內容就會變成另一個 ID |</a:t>
            </a:r>
          </a:p>
          <a:p xmlns:a="http://schemas.openxmlformats.org/drawingml/2006/main">
            <a:r>
              <a:t>| 為什麼不全部加密? | 塔位需要能被公開追思;姓名、生卒這類墓碑資訊本來就是公開的 |</a:t>
            </a:r>
          </a:p>
          <a:p xmlns:a="http://schemas.openxmlformats.org/drawingml/2006/main">
            <a:r>
              <a:t>| 家族關係怎麼表示? | ERC-6150 讓 NFT 之間有父子關係,家譜直接記錄在鏈上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引用來源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[EIP-721: Non-Fungible Token Standard](https://eips.ethereum.org/EIPS/eip-721) —— NFT 標準與 `tokenURI` metadata 格式</a:t>
            </a:r>
          </a:p>
          <a:p xmlns:a="http://schemas.openxmlformats.org/drawingml/2006/main">
            <a:r>
              <a:t>- [EIP-6150: Hierarchical NFTs](https://eips.ethereum.org/EIPS/eip-6150) —— 階層式 NFT(家族樹)</a:t>
            </a:r>
          </a:p>
          <a:p xmlns:a="http://schemas.openxmlformats.org/drawingml/2006/main">
            <a:r>
              <a:t>- 完整說明:[architecture-qa.md · Q2–Q5](architecture-qa.md)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634ea76c647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bcd4db829a4490" /><Relationship Type="http://schemas.openxmlformats.org/officeDocument/2006/relationships/slideLayout" Target="/ppt/slideLayouts/slideLayout1.xml" Id="R1cf7a8ae37174a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7a8ae37174a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552be5d9e4533" /><Relationship Type="http://schemas.openxmlformats.org/officeDocument/2006/relationships/notesSlide" Target="/ppt/notesSlides/notesSlide1.xml" Id="R011fd237cd2b4b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rand">
            <a:extLst xmlns:a="http://schemas.openxmlformats.org/drawingml/2006/main">
              <a:ext uri="{FF2B5EF4-FFF2-40B4-BE49-F238E27FC236}">
                <a16:creationId xmlns:a16="http://schemas.microsoft.com/office/drawing/2014/main" id="{ADC77DB0-3889-4530-88F1-47C13BE5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26079D01-6E4E-4065-992E-97661AE7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QA 01　架構設計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D584DA-3B81-4356-B75A-993C516D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4020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NFT 只存地址：資料怎麼被找到</a:t>
            </a:r>
          </a:p>
        </p:txBody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860B9A57-CBB1-4641-A265-2828071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400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鏈上記錄持有權與檔案地址，公開介紹與加密素材各走一條路。</a:t>
            </a:r>
          </a:p>
        </p:txBody>
      </p:sp>
      <p:sp>
        <p:nvSpPr>
          <p:cNvPr id="5" name="diagram-title">
            <a:extLst xmlns:a="http://schemas.openxmlformats.org/drawingml/2006/main">
              <a:ext uri="{FF2B5EF4-FFF2-40B4-BE49-F238E27FC236}">
                <a16:creationId xmlns:a16="http://schemas.microsoft.com/office/drawing/2014/main" id="{90237DC4-1F1F-40DE-B957-923D527F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一顆 NFT，兩條資料路徑</a:t>
            </a:r>
          </a:p>
        </p:txBody>
      </p:sp>
      <p:sp>
        <p:nvSpPr>
          <p:cNvPr id="6" name="NFT">
            <a:extLst xmlns:a="http://schemas.openxmlformats.org/drawingml/2006/main">
              <a:ext uri="{FF2B5EF4-FFF2-40B4-BE49-F238E27FC236}">
                <a16:creationId xmlns:a16="http://schemas.microsoft.com/office/drawing/2014/main" id="{30EE816B-0E3A-4187-8743-FB73BAC6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20478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B"/>
          </a:solidFill>
          <a:ln xmlns:a="http://schemas.openxmlformats.org/drawingml/2006/main" w="14288">
            <a:solidFill>
              <a:srgbClr val="812D2A"/>
            </a:solidFill>
          </a:ln>
        </p:spPr>
      </p:sp>
      <p:sp>
        <p:nvSpPr>
          <p:cNvPr id="7" name="nft-name">
            <a:extLst xmlns:a="http://schemas.openxmlformats.org/drawingml/2006/main">
              <a:ext uri="{FF2B5EF4-FFF2-40B4-BE49-F238E27FC236}">
                <a16:creationId xmlns:a16="http://schemas.microsoft.com/office/drawing/2014/main" id="{25D82732-3920-426C-BA92-56A0B48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666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塔位 NFT</a:t>
            </a:r>
          </a:p>
        </p:txBody>
      </p:sp>
      <p:sp>
        <p:nvSpPr>
          <p:cNvPr id="8" name="nft-id">
            <a:extLst xmlns:a="http://schemas.openxmlformats.org/drawingml/2006/main">
              <a:ext uri="{FF2B5EF4-FFF2-40B4-BE49-F238E27FC236}">
                <a16:creationId xmlns:a16="http://schemas.microsoft.com/office/drawing/2014/main" id="{CD23816E-59BC-4524-8E16-CD796AB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704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tokenId 42</a:t>
            </a:r>
          </a:p>
        </p:txBody>
      </p:sp>
      <p:sp>
        <p:nvSpPr>
          <p:cNvPr id="9" name="public-metadata">
            <a:extLst xmlns:a="http://schemas.openxmlformats.org/drawingml/2006/main">
              <a:ext uri="{FF2B5EF4-FFF2-40B4-BE49-F238E27FC236}">
                <a16:creationId xmlns:a16="http://schemas.microsoft.com/office/drawing/2014/main" id="{06FE824A-617B-4094-8C20-89EBA63A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6230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DD"/>
          </a:solidFill>
          <a:ln xmlns:a="http://schemas.openxmlformats.org/drawingml/2006/main" w="14288">
            <a:solidFill>
              <a:srgbClr val="E2EBDD"/>
            </a:solidFill>
          </a:ln>
        </p:spPr>
      </p:sp>
      <p:sp>
        <p:nvSpPr>
          <p:cNvPr id="10" name="encrypted-manifest">
            <a:extLst xmlns:a="http://schemas.openxmlformats.org/drawingml/2006/main">
              <a:ext uri="{FF2B5EF4-FFF2-40B4-BE49-F238E27FC236}">
                <a16:creationId xmlns:a16="http://schemas.microsoft.com/office/drawing/2014/main" id="{AAEF3479-EB29-4727-A28C-3BCB21DF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015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8"/>
          </a:solidFill>
          <a:ln xmlns:a="http://schemas.openxmlformats.org/drawingml/2006/main" w="14288">
            <a:solidFill>
              <a:srgbClr val="F7E5D8"/>
            </a:solidFill>
          </a:ln>
        </p:spPr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657475" y="3829050"/>
            <a:ext cx="1438275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426147"/>
            </a:solidFill>
            <a:head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57475" y="4686300"/>
            <a:ext cx="1438275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812D2A"/>
            </a:solidFill>
            <a:headEnd type="triangle" w="med" len="med"/>
          </a:ln>
        </p:spPr>
      </p:cxnSp>
      <p:sp>
        <p:nvSpPr>
          <p:cNvPr id="13" name="token-uri">
            <a:extLst xmlns:a="http://schemas.openxmlformats.org/drawingml/2006/main">
              <a:ext uri="{FF2B5EF4-FFF2-40B4-BE49-F238E27FC236}">
                <a16:creationId xmlns:a16="http://schemas.microsoft.com/office/drawing/2014/main" id="{C299E3E2-5EE0-4B5F-A403-C2730C99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3337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tokenURI</a:t>
            </a:r>
          </a:p>
        </p:txBody>
      </p:sp>
      <p:sp>
        <p:nvSpPr>
          <p:cNvPr id="14" name="artifact-uri">
            <a:extLst xmlns:a="http://schemas.openxmlformats.org/drawingml/2006/main">
              <a:ext uri="{FF2B5EF4-FFF2-40B4-BE49-F238E27FC236}">
                <a16:creationId xmlns:a16="http://schemas.microsoft.com/office/drawing/2014/main" id="{24A8D675-BCAA-4A17-8607-7E4D3B18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74357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artifactURI</a:t>
            </a:r>
          </a:p>
        </p:txBody>
      </p:sp>
      <p:sp>
        <p:nvSpPr>
          <p:cNvPr id="15" name="public-title">
            <a:extLst xmlns:a="http://schemas.openxmlformats.org/drawingml/2006/main">
              <a:ext uri="{FF2B5EF4-FFF2-40B4-BE49-F238E27FC236}">
                <a16:creationId xmlns:a16="http://schemas.microsoft.com/office/drawing/2014/main" id="{F316CA11-D295-4BCB-9798-BA426EF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76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公開 metadata</a:t>
            </a:r>
          </a:p>
        </p:txBody>
      </p:sp>
      <p:sp>
        <p:nvSpPr>
          <p:cNvPr id="16" name="public-content">
            <a:extLst xmlns:a="http://schemas.openxmlformats.org/drawingml/2006/main">
              <a:ext uri="{FF2B5EF4-FFF2-40B4-BE49-F238E27FC236}">
                <a16:creationId xmlns:a16="http://schemas.microsoft.com/office/drawing/2014/main" id="{D46A0777-3A17-4750-94D7-A11133C7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介紹與大頭照的位置</a:t>
            </a:r>
          </a:p>
        </p:txBody>
      </p:sp>
      <p:sp>
        <p:nvSpPr>
          <p:cNvPr id="17" name="public-access">
            <a:extLst xmlns:a="http://schemas.openxmlformats.org/drawingml/2006/main">
              <a:ext uri="{FF2B5EF4-FFF2-40B4-BE49-F238E27FC236}">
                <a16:creationId xmlns:a16="http://schemas.microsoft.com/office/drawing/2014/main" id="{F9F8FBF0-1D6F-422D-96C9-89113F09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14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任何人可讀</a:t>
            </a:r>
          </a:p>
        </p:txBody>
      </p:sp>
      <p:sp>
        <p:nvSpPr>
          <p:cNvPr id="18" name="private-title">
            <a:extLst xmlns:a="http://schemas.openxmlformats.org/drawingml/2006/main">
              <a:ext uri="{FF2B5EF4-FFF2-40B4-BE49-F238E27FC236}">
                <a16:creationId xmlns:a16="http://schemas.microsoft.com/office/drawing/2014/main" id="{DC9D672E-CA1E-459F-B4F0-3981BFF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5302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私密素材索引</a:t>
            </a:r>
          </a:p>
        </p:txBody>
      </p:sp>
      <p:sp>
        <p:nvSpPr>
          <p:cNvPr id="19" name="private-content">
            <a:extLst xmlns:a="http://schemas.openxmlformats.org/drawingml/2006/main">
              <a:ext uri="{FF2B5EF4-FFF2-40B4-BE49-F238E27FC236}">
                <a16:creationId xmlns:a16="http://schemas.microsoft.com/office/drawing/2014/main" id="{06C9BEB9-B366-4517-A0E8-1CAA4E1B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列出各個密文的位置</a:t>
            </a:r>
          </a:p>
        </p:txBody>
      </p:sp>
      <p:sp>
        <p:nvSpPr>
          <p:cNvPr id="20" name="private-access">
            <a:extLst xmlns:a="http://schemas.openxmlformats.org/drawingml/2006/main">
              <a:ext uri="{FF2B5EF4-FFF2-40B4-BE49-F238E27FC236}">
                <a16:creationId xmlns:a16="http://schemas.microsoft.com/office/drawing/2014/main" id="{D412A164-1208-4E72-871F-7D818C8B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007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持有 NFT 才能解密素材</a:t>
            </a:r>
          </a:p>
        </p:txBody>
      </p:sp>
      <p:sp>
        <p:nvSpPr>
          <p:cNvPr id="21" name="chain-details">
            <a:extLst xmlns:a="http://schemas.openxmlformats.org/drawingml/2006/main">
              <a:ext uri="{FF2B5EF4-FFF2-40B4-BE49-F238E27FC236}">
                <a16:creationId xmlns:a16="http://schemas.microsoft.com/office/drawing/2014/main" id="{5EFBA34D-DD09-48CB-82DB-2EE0137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2305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鏈上另記錄擁有者與家族關係</a:t>
            </a:r>
          </a:p>
        </p:txBody>
      </p:sp>
      <p:sp>
        <p:nvSpPr>
          <p:cNvPr id="22" name="table-title">
            <a:extLst xmlns:a="http://schemas.openxmlformats.org/drawingml/2006/main">
              <a:ext uri="{FF2B5EF4-FFF2-40B4-BE49-F238E27FC236}">
                <a16:creationId xmlns:a16="http://schemas.microsoft.com/office/drawing/2014/main" id="{0ED50C4B-5D3D-4C80-BAD8-931AA2D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62225"/>
            <a:ext cx="674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公開與加密資料分類</a:t>
            </a:r>
          </a:p>
        </p:txBody>
      </p:sp>
      <p:graphicFrame>
        <p:nvGraphicFramePr>
          <p:cNvPr id="58" name=""/>
          <p:cNvGraphicFramePr/>
          <p:nvPr/>
        </p:nvGraphicFramePr>
        <p:xfrm>
          <a:off xmlns:a="http://schemas.openxmlformats.org/drawingml/2006/main" x="7886700" y="3162300"/>
          <a:ext xmlns:a="http://schemas.openxmlformats.org/drawingml/2006/main" cx="67437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3333750"/>
                <a:gridCol w="21336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</a:t>
                      </a:r>
                    </a:p>
                  </a:txBody>
                  <a:tcPr marL="142875" marR="95250" marT="76200" marB="76200" anchor="ctr">
                    <a:solidFill>
                      <a:srgbClr val="812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</a:t>
                      </a:r>
                    </a:p>
                  </a:txBody>
                  <a:tcPr marL="142875" marR="95250" marT="76200" marB="76200" anchor="ctr">
                    <a:solidFill>
                      <a:srgbClr val="812D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保存方式</a:t>
                      </a:r>
                    </a:p>
                  </a:txBody>
                  <a:tcPr marL="142875" marR="95250" marT="76200" marB="76200" anchor="ctr">
                    <a:solidFill>
                      <a:srgbClr val="812D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公開介紹</a:t>
                      </a:r>
                    </a:p>
                  </a:txBody>
                  <a:tcPr marL="142875" marR="95250" marT="76200" marB="76200" anchor="ctr"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姓名、生卒、籍貫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簡介與公開大頭照</a:t>
                      </a:r>
                    </a:p>
                  </a:txBody>
                  <a:tcPr marL="142875" marR="95250" marT="76200" marB="76200" anchor="ctr">
                    <a:solidFill>
                      <a:srgbClr val="ED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明文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tokenURI</a:t>
                      </a:r>
                    </a:p>
                  </a:txBody>
                  <a:tcPr marL="142875" marR="95250" marT="76200" marB="76200" anchor="ctr">
                    <a:solidFill>
                      <a:srgbClr val="EDF1E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私密素材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相簿、影片、錄音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日記與對話紀錄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加密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artifactURI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分身產物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3D 頭像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聲音參考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加密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artifactURI</a:t>
                      </a:r>
                    </a:p>
                  </a:txBody>
                  <a:tcPr marL="142875" marR="95250" marT="76200" marB="76200" anchor="ctr">
                    <a:solidFill>
                      <a:srgbClr val="F9EEE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互動資料</a:t>
                      </a:r>
                    </a:p>
                  </a:txBody>
                  <a:tcPr marL="142875" marR="95250" marT="76200" marB="7620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公祭留言、邀請碼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可見度設定</a:t>
                      </a:r>
                    </a:p>
                  </a:txBody>
                  <a:tcPr marL="142875" marR="95250" marT="76200" marB="76200" anchor="ctr">
                    <a:solidFill>
                      <a:srgbClr val="F4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一般資料庫</a:t>
                      </a:r>
                    </a:p>
                    <a:p>
                      <a:r>
                        <a:rPr sz="1725" b="0">
                          <a:solidFill>
                            <a:srgbClr val="282B2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依需求保護</a:t>
                      </a:r>
                    </a:p>
                  </a:txBody>
                  <a:tcPr marL="142875" marR="95250" marT="76200" marB="76200" anchor="ctr">
                    <a:solidFill>
                      <a:srgbClr val="F4F2EB"/>
                    </a:solidFill>
                  </a:tcPr>
                </a:tc>
              </a:tr>
            </a:tbl>
          </a:graphicData>
        </a:graphic>
      </p:graphicFrame>
      <p:sp>
        <p:nvSpPr>
          <p:cNvPr id="24" name="lookup-title">
            <a:extLst xmlns:a="http://schemas.openxmlformats.org/drawingml/2006/main">
              <a:ext uri="{FF2B5EF4-FFF2-40B4-BE49-F238E27FC236}">
                <a16:creationId xmlns:a16="http://schemas.microsoft.com/office/drawing/2014/main" id="{7BA3A9D5-3A65-43BD-9144-E0A0E1C3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48475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找一張大頭照</a:t>
            </a:r>
          </a:p>
        </p:txBody>
      </p:sp>
      <p:sp>
        <p:nvSpPr>
          <p:cNvPr id="25" name="lookup-0">
            <a:extLst xmlns:a="http://schemas.openxmlformats.org/drawingml/2006/main">
              <a:ext uri="{FF2B5EF4-FFF2-40B4-BE49-F238E27FC236}">
                <a16:creationId xmlns:a16="http://schemas.microsoft.com/office/drawing/2014/main" id="{707CBE2C-8B06-4B3D-817D-768E3903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858000"/>
            <a:ext cx="1685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tokenId 42</a:t>
            </a:r>
          </a:p>
        </p:txBody>
      </p:sp>
      <p:sp>
        <p:nvSpPr>
          <p:cNvPr id="26" name="lookup-1">
            <a:extLst xmlns:a="http://schemas.openxmlformats.org/drawingml/2006/main">
              <a:ext uri="{FF2B5EF4-FFF2-40B4-BE49-F238E27FC236}">
                <a16:creationId xmlns:a16="http://schemas.microsoft.com/office/drawing/2014/main" id="{F49F78A3-E381-49EA-A9B2-0EF9A6DD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580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tokenURI</a:t>
            </a:r>
          </a:p>
        </p:txBody>
      </p:sp>
      <p:sp>
        <p:nvSpPr>
          <p:cNvPr id="27" name="lookup-2">
            <a:extLst xmlns:a="http://schemas.openxmlformats.org/drawingml/2006/main">
              <a:ext uri="{FF2B5EF4-FFF2-40B4-BE49-F238E27FC236}">
                <a16:creationId xmlns:a16="http://schemas.microsoft.com/office/drawing/2014/main" id="{9C409DA4-D2EA-4154-AFCD-547F9B34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8580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metadata.json</a:t>
            </a:r>
          </a:p>
        </p:txBody>
      </p:sp>
      <p:sp>
        <p:nvSpPr>
          <p:cNvPr id="28" name="lookup-3">
            <a:extLst xmlns:a="http://schemas.openxmlformats.org/drawingml/2006/main">
              <a:ext uri="{FF2B5EF4-FFF2-40B4-BE49-F238E27FC236}">
                <a16:creationId xmlns:a16="http://schemas.microsoft.com/office/drawing/2014/main" id="{AA7234F4-D5B0-49D7-AA3E-DF32481F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580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image 欄位</a:t>
            </a:r>
          </a:p>
        </p:txBody>
      </p:sp>
      <p:sp>
        <p:nvSpPr>
          <p:cNvPr id="29" name="lookup-4">
            <a:extLst xmlns:a="http://schemas.openxmlformats.org/drawingml/2006/main">
              <a:ext uri="{FF2B5EF4-FFF2-40B4-BE49-F238E27FC236}">
                <a16:creationId xmlns:a16="http://schemas.microsoft.com/office/drawing/2014/main" id="{62A928BE-9FB8-41A1-9CA7-9A3582EC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8580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大頭照</a:t>
            </a:r>
          </a:p>
        </p:txBody>
      </p:sp>
      <p:cxnSp>
        <p:nvCxnSpPr>
          <p:cNvPr id="6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981575" y="70580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6B63"/>
            </a:solidFill>
            <a:head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143750" y="70580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6B63"/>
            </a:solidFill>
            <a:head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953625" y="70580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6B63"/>
            </a:solidFill>
            <a:headEnd type="triangle" w="med" len="med"/>
          </a:ln>
        </p:spPr>
      </p:cxnSp>
      <p:cxnSp>
        <p:nvCxnSpPr>
          <p:cNvPr id="68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2363450" y="70580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76B63"/>
            </a:solidFill>
            <a:headEnd type="triangle" w="med" len="med"/>
          </a:ln>
        </p:spPr>
      </p:cxnSp>
      <p:sp>
        <p:nvSpPr>
          <p:cNvPr id="34" name="reason">
            <a:extLst xmlns:a="http://schemas.openxmlformats.org/drawingml/2006/main">
              <a:ext uri="{FF2B5EF4-FFF2-40B4-BE49-F238E27FC236}">
                <a16:creationId xmlns:a16="http://schemas.microsoft.com/office/drawing/2014/main" id="{CC08749D-A61F-4AA6-B130-41797855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0"/>
            <a:ext cx="1400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大檔案放 Arweave，鏈上保存地址，降低鏈上儲存成本。</a:t>
            </a:r>
          </a:p>
        </p:txBody>
      </p:sp>
      <p:sp>
        <p:nvSpPr>
          <p:cNvPr id="35" name="source">
            <a:extLst xmlns:a="http://schemas.openxmlformats.org/drawingml/2006/main">
              <a:ext uri="{FF2B5EF4-FFF2-40B4-BE49-F238E27FC236}">
                <a16:creationId xmlns:a16="http://schemas.microsoft.com/office/drawing/2014/main" id="{CCB23285-C5F4-4CB3-A973-EC613C5E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24825"/>
            <a:ext cx="1400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76B63"/>
                </a:solidFill>
                <a:latin typeface="Microsoft JhengHei"/>
                <a:ea typeface="Microsoft JhengHei"/>
                <a:cs typeface="Microsoft JhengHei"/>
              </a:rPr>
              <a:t>來源：architecture-qa-4pages.md 第 1 頁；ERC-721、ERC-6150</a:t>
            </a:r>
          </a:p>
        </p:txBody>
      </p:sp>
    </p:spTree>
    <p:extLst>
      <p:ext uri="{BB962C8B-B14F-4D97-AF65-F5344CB8AC3E}">
        <p14:creationId xmlns:p14="http://schemas.microsoft.com/office/powerpoint/2010/main" val="1331818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2026-09-15T00:46:50.9270000Z</dcterms:created>
  <dcterms:modified xsi:type="dcterms:W3CDTF">2026-09-15T00:46:50.9270000Z</dcterms:modified>
</coreProperties>
</file>