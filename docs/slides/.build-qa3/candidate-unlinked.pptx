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fdd52856754be4" /><Relationship Type="http://schemas.openxmlformats.org/officeDocument/2006/relationships/extended-properties" Target="/docProps/app.xml" Id="Recfd1565f0644723" /><Relationship Type="http://schemas.openxmlformats.org/officeDocument/2006/relationships/officeDocument" Target="/ppt/presentation.xml" Id="R42eebe83a30b44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1deb2bb734ebc"/>
  </p:sldMasterIdLst>
  <p:notesMasterIdLst>
    <p:notesMasterId xmlns:r="http://schemas.openxmlformats.org/officeDocument/2006/relationships" r:id="Rb990413f5892415a"/>
  </p:notesMasterIdLst>
  <p:sldIdLst>
    <p:sldId xmlns:r="http://schemas.openxmlformats.org/officeDocument/2006/relationships" id="256" r:id="Re961d71047834c1b"/>
    <p:sldId xmlns:r="http://schemas.openxmlformats.org/officeDocument/2006/relationships" id="257" r:id="R6b5528ab2db14c9a"/>
    <p:sldId xmlns:r="http://schemas.openxmlformats.org/officeDocument/2006/relationships" id="258" r:id="Ref0f8a9a96444443"/>
    <p:sldId xmlns:r="http://schemas.openxmlformats.org/officeDocument/2006/relationships" id="259" r:id="R66fe48d5530e47de"/>
    <p:sldId xmlns:r="http://schemas.openxmlformats.org/officeDocument/2006/relationships" id="260" r:id="Rd2bf6ef9c268478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019546861f48fa" /><Relationship Type="http://schemas.openxmlformats.org/officeDocument/2006/relationships/slideMaster" Target="/ppt/slideMasters/slideMaster1.xml" Id="R9e51deb2bb734ebc" /><Relationship Type="http://schemas.openxmlformats.org/officeDocument/2006/relationships/notesMaster" Target="/ppt/notesMasters/notesMaster1.xml" Id="Rb990413f5892415a" /><Relationship Type="http://schemas.openxmlformats.org/officeDocument/2006/relationships/presProps" Target="/ppt/presProps.xml" Id="R00c65605d6334929" /><Relationship Type="http://schemas.openxmlformats.org/officeDocument/2006/relationships/tableStyles" Target="/ppt/tableStyles.xml" Id="Rce4387a3d2e14282" /><Relationship Type="http://schemas.openxmlformats.org/officeDocument/2006/relationships/slide" Target="/ppt/slides/slide1.xml" Id="Re961d71047834c1b" /><Relationship Type="http://schemas.openxmlformats.org/officeDocument/2006/relationships/slide" Target="/ppt/slides/slide2.xml" Id="R6b5528ab2db14c9a" /><Relationship Type="http://schemas.openxmlformats.org/officeDocument/2006/relationships/slide" Target="/ppt/slides/slide3.xml" Id="Ref0f8a9a96444443" /><Relationship Type="http://schemas.openxmlformats.org/officeDocument/2006/relationships/slide" Target="/ppt/slides/slide4.xml" Id="R66fe48d5530e47de" /><Relationship Type="http://schemas.openxmlformats.org/officeDocument/2006/relationships/slide" Target="/ppt/slides/slide5.xml" Id="Rd2bf6ef9c26847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c9c32bf49c4c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46754d9a8e451f" /><Relationship Type="http://schemas.openxmlformats.org/officeDocument/2006/relationships/notesMaster" Target="/ppt/notesMasters/notesMaster1.xml" Id="Ra02cc5459cd74d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f99b4f71ba47c4" /><Relationship Type="http://schemas.openxmlformats.org/officeDocument/2006/relationships/notesMaster" Target="/ppt/notesMasters/notesMaster1.xml" Id="Rff2e149e3ed548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a326ba393043ae" /><Relationship Type="http://schemas.openxmlformats.org/officeDocument/2006/relationships/notesMaster" Target="/ppt/notesMasters/notesMaster1.xml" Id="R8760b240ff034b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263d09d34a44f1" /><Relationship Type="http://schemas.openxmlformats.org/officeDocument/2006/relationships/notesMaster" Target="/ppt/notesMasters/notesMaster1.xml" Id="R9a5bc0e5fa3a43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e892c2b2d84243" /><Relationship Type="http://schemas.openxmlformats.org/officeDocument/2006/relationships/notesMaster" Target="/ppt/notesMasters/notesMaster1.xml" Id="R3ddcf719bbf345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頁｜素材到分身總覽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【45 秒講稿】</a:t>
            </a:r>
          </a:p>
          <a:p xmlns:a="http://schemas.openxmlformats.org/drawingml/2006/main">
            <a:r>
              <a:t>建立分身時，我們把素材分成三條路。對話紀錄及家屬核可的回憶，先辨別來源、切成短片段，再透過 E5 建立可搜尋的記憶索引。一張清楚的正面照交給 LAM，產生可以用表情和姿態參數驅動的 3D 頭像。一段本人錄音則提供聲音參考，後續讓 TTS 用這個音色說出新文字。這三條路都使用已訓練好的模型，不必為每位逝者重新訓練一套模型。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【建立後重用的範圍】</a:t>
            </a:r>
          </a:p>
          <a:p xmlns:a="http://schemas.openxmlformats.org/drawingml/2006/main">
            <a:r>
              <a:t>建立的是可重用資產及索引，不代表一輩子只做一次。新增或修正回憶需更新索引，更換照片可能重建頭像，更換錄音或模型版本可能重算聲音條件。每次新對話仍需檢索、語言模型生成及 TTS 推論。不能將聲音登記說成預先生成所有未來對話。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【Arweave 與權限】</a:t>
            </a:r>
          </a:p>
          <a:p xmlns:a="http://schemas.openxmlformats.org/drawingml/2006/main">
            <a:r>
              <a:t>本組聚焦 QA 第3頁的素材處理。延續 Arweave 目標架構，私密原素材、頭像與聲音條件應加密封存並由 manifest 索引。pgvector 是持續運作的資料庫，不應說成索引已全數存進 Arweave。授權後若後端處理明文，必須說明其存取邊界，不能同時主張平台在所有階段都看不到內容。Lit 整合仍屬規劃，非本組證明已完成。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【模型狀態】</a:t>
            </a:r>
          </a:p>
          <a:p xmlns:a="http://schemas.openxmlformats.org/drawingml/2006/main">
            <a:r>
              <a:t>原 QA 使用 IndexTTS2。依本次對話將聲音頁改為 Chatterbox Multilingual V3 替換候選，但沒有改程式、安裝或完成5090實測。LAM依原專案保留。若非中國來源限制擴及所有模型，LAM來自Alibaba Tongyi Lab仍須另行評估，不能暗示整套模型已符合該限制。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docs/architecture-qa-4pages.md 第3頁；docs/architecture-qa.md Q9–Q10、Q15–Q16、Q20–Q22。</a:t>
            </a:r>
          </a:p>
          <a:p xmlns:a="http://schemas.openxmlformats.org/drawingml/2006/main">
            <a:r>
              <a:t>backend/src/lib/embedding.ts、backend/src/lib/rag.ts。</a:t>
            </a:r>
          </a:p>
          <a:p xmlns:a="http://schemas.openxmlformats.org/drawingml/2006/main">
            <a:r>
              <a:t>https://github.com/resemble-ai/chatterbox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頁｜LAM 重建成果與單張照片的限制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【40 秒講稿】</a:t>
            </a:r>
          </a:p>
          <a:p xmlns:a="http://schemas.openxmlformats.org/drawingml/2006/main">
            <a:r>
              <a:t>這張是 LAM 論文的成果原圖。左邊是一張輸入照片，右邊是重建頭像在不同表情與姿勢下的樣子。頭像使用 3D 高斯點表示外觀：每個點有位置、形狀、方向、顏色和透明度，渲染時依視角投影並合成。預訓練模型提供人頭的先驗知識，照片提供這個人的外觀線索。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【界線】</a:t>
            </a:r>
          </a:p>
          <a:p xmlns:a="http://schemas.openxmlformats.org/drawingml/2006/main">
            <a:r>
              <a:t>這是研究作者的展示，不是Aeterlux實際使用者或本機測試成果。單張照片未提供的側面、後方和遮蔽區域屬推測，不能保證精準還原；頭髮、眼鏡、遮擋、表情與照片品質皆可能影響結果。建議先選清楚、少遮擋的正面照，以家屬驗收決定是否可用。</a:t>
            </a:r>
          </a:p>
          <a:p xmlns:a="http://schemas.openxmlformats.org/drawingml/2006/main">
            <a:r>
              <a:t>3D高斯點不是會發光的粒子；高斯的柔邊及透明度是在渲染時計算的外觀表示。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【可能追問】</a:t>
            </a:r>
          </a:p>
          <a:p xmlns:a="http://schemas.openxmlformats.org/drawingml/2006/main">
            <a:r>
              <a:t>Q：只有正面照，側面是怎麼來的？</a:t>
            </a:r>
          </a:p>
          <a:p xmlns:a="http://schemas.openxmlformats.org/drawingml/2006/main">
            <a:r>
              <a:t>A：模型結合照片線索和先前學到的人頭分布推測，因此看不到的部位不是從照片直接量測而得。</a:t>
            </a:r>
          </a:p>
          <a:p xmlns:a="http://schemas.openxmlformats.org/drawingml/2006/main">
            <a:r>
              <a:t>Q：這就是一段影片嗎？</a:t>
            </a:r>
          </a:p>
          <a:p xmlns:a="http://schemas.openxmlformats.org/drawingml/2006/main">
            <a:r>
              <a:t>A：輸出為可驅動的頭像資產，之後依表情與姿勢產生畫面。本圖以靜態畫面展示其不同驅動狀態。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He et al., LAM: Large Avatar Model for One-shot Animatable Gaussian Head, 2025, Figure 1。</a:t>
            </a:r>
          </a:p>
          <a:p xmlns:a="http://schemas.openxmlformats.org/drawingml/2006/main">
            <a:r>
              <a:t>https://arxiv.org/abs/2502.17796</a:t>
            </a:r>
          </a:p>
          <a:p xmlns:a="http://schemas.openxmlformats.org/drawingml/2006/main">
            <a:r>
              <a:t>https://arxiv.org/html/2502.17796v2/teaser.png</a:t>
            </a:r>
          </a:p>
          <a:p xmlns:a="http://schemas.openxmlformats.org/drawingml/2006/main">
            <a:r>
              <a:t>3DGS概念背景：Kerbl et al., 3D Gaussian Splatting for Real-Time Radiance Field Rendering, SIGGRAPH 2023。</a:t>
            </a:r>
          </a:p>
          <a:p xmlns:a="http://schemas.openxmlformats.org/drawingml/2006/main">
            <a:r>
              <a:t>https://repo-sam.inria.fr/fungraph/3d-gaussian-splatting/</a:t>
            </a:r>
          </a:p>
          <a:p xmlns:a="http://schemas.openxmlformats.org/drawingml/2006/main">
            <a:r>
              <a:t>本圖完整保留比例、標註與內容，2026-09-15取得。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頁｜LAM 方法原圖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【50 秒講稿】</a:t>
            </a:r>
          </a:p>
          <a:p xmlns:a="http://schemas.openxmlformats.org/drawingml/2006/main">
            <a:r>
              <a:t>先看左半邊。LAM以FLAME標準人頭的點作為查詢，搭配照片的多層影像特徵，用Transformer推測每個高斯點的外觀。這一步產生標準姿態下的頭像。再看右邊，同一份頭像接收表情與姿態參數，做變形並渲染，因此不必每次講話都重新從照片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【圖中名詞】</a:t>
            </a:r>
          </a:p>
          <a:p xmlns:a="http://schemas.openxmlformats.org/drawingml/2006/main">
            <a:r>
              <a:t>FLAME是參數化的人頭模型，包含形狀、表情、姿態及變形關係，不能只簡化成幾根骨架。Q來自FLAME點的查詢，KV來自影像特徵。MLP預測高斯屬性。右側Gaussian Morph利用變形關係產生當前姿態，最後由渲染器呈現。論文預設細分兩次取得81,424點，頁面四捨五入為約8萬。這是論文設定，不宣稱每份專案輸出都相同。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【效能口徑】</a:t>
            </a:r>
          </a:p>
          <a:p xmlns:a="http://schemas.openxmlformats.org/drawingml/2006/main">
            <a:r>
              <a:t>原QA提到M1 Pro 120 FPS；此組不將该數字放在主頁，以免被解讀為本專案端到端效能。論文渲染效能排除頭像重建和驅動參數估計，不能等同家屬說完話至AI回覆的延遲。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【可能追問】</a:t>
            </a:r>
          </a:p>
          <a:p xmlns:a="http://schemas.openxmlformats.org/drawingml/2006/main">
            <a:r>
              <a:t>Q：為什麼說不用重新訓練？</a:t>
            </a:r>
          </a:p>
          <a:p xmlns:a="http://schemas.openxmlformats.org/drawingml/2006/main">
            <a:r>
              <a:t>A：使用已訓練的LAM做推論，產生個人化資產，並非替此人再訓練一個模型。</a:t>
            </a:r>
          </a:p>
          <a:p xmlns:a="http://schemas.openxmlformats.org/drawingml/2006/main">
            <a:r>
              <a:t>Q：後面真的完全沒有神經網路？</a:t>
            </a:r>
          </a:p>
          <a:p xmlns:a="http://schemas.openxmlformats.org/drawingml/2006/main">
            <a:r>
              <a:t>A：這個結論僅指論文頭像的變形與渲染不需要額外外觀重建／後處理網路。整體對話仍有語言模型、TTS與表情／頭姿模型。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He et al., LAM, 2025, Figure 2及§3.2–3.3。</a:t>
            </a:r>
          </a:p>
          <a:p xmlns:a="http://schemas.openxmlformats.org/drawingml/2006/main">
            <a:r>
              <a:t>https://arxiv.org/html/2502.17796v2/framework.png</a:t>
            </a:r>
          </a:p>
          <a:p xmlns:a="http://schemas.openxmlformats.org/drawingml/2006/main">
            <a:r>
              <a:t>https://arxiv.org/html/2502.17796v2</a:t>
            </a:r>
          </a:p>
          <a:p xmlns:a="http://schemas.openxmlformats.org/drawingml/2006/main">
            <a:r>
              <a:t>FLAME：Li et al., Learning a Model of Facial Shape and Expression from 4D Scans, SIGGRAPH Asia 2017。</a:t>
            </a:r>
          </a:p>
          <a:p xmlns:a="http://schemas.openxmlformats.org/drawingml/2006/main">
            <a:r>
              <a:t>https://flame.is.tue.mpg.de/</a:t>
            </a:r>
          </a:p>
          <a:p xmlns:a="http://schemas.openxmlformats.org/drawingml/2006/main">
            <a:r>
              <a:t>圖片2026-09-15取得，未改內容。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頁｜E5 記憶索引及原始論文圖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【50 秒講稿】</a:t>
            </a:r>
          </a:p>
          <a:p xmlns:a="http://schemas.openxmlformats.org/drawingml/2006/main">
            <a:r>
              <a:t>這張圖來自E5原始研究，右半邊顯示問題與段落透過共享編碼器轉為可以比較的向量。左半邊是作者訓練模型時的資料準備，我們不會重跑這段訓練。專案直接使用多語E5-small，把逝者原話和已核可回憶切成片段，保留來源，再存成pgvector索引。提問時用同一模型編碼問題，找出語意相關的片段，供後續語言模型參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【已核對程式】</a:t>
            </a:r>
          </a:p>
          <a:p xmlns:a="http://schemas.openxmlformats.org/drawingml/2006/main">
            <a:r>
              <a:t>backend/src/lib/embedding.ts使用Xenova/multilingual-e5-small，EMBEDDING_DIM=384。文件片段加passage:，問題加query:，採mean pooling和L2 normalization。384維是small版本設定，不應推廣為所有E5。</a:t>
            </a:r>
          </a:p>
          <a:p xmlns:a="http://schemas.openxmlformats.org/drawingml/2006/main">
            <a:r>
              <a:t>backend/src/lib/rag.ts的reindexMemory分別處理chatlog及核可stories。對話紀錄嘗試辨認逝者發話；親友回憶另走piecesFromStory，不能在整合後一律說是本人親口講過。姓名模糊比對或缺少發話者時仍可能有辨識風險，需要家屬校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【圖源界線】</a:t>
            </a:r>
          </a:p>
          <a:p xmlns:a="http://schemas.openxmlformats.org/drawingml/2006/main">
            <a:r>
              <a:t>這是2022年E5原始論文的Figure1，不是2024 Multilingual E5技術報告的圖，也不是專案的上線架構截圖。用它補充雙編碼器與對比學習的研究基礎。多語E5是專案採用的後續模型，另列報告及程式來源。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【例子】</a:t>
            </a:r>
          </a:p>
          <a:p xmlns:a="http://schemas.openxmlformats.org/drawingml/2006/main">
            <a:r>
              <a:t>早餐與虱目魚粥的例子是解說情境，非實測檢索結果。原QA說兩句完全沒有相同字並不正確，因此改成「比較語意找候選片段」。語意相近不等於歷史真實，也不保證排名正確。回覆時必須保留不確定性，避免將親友描述冒充逝者原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【可能追問】</a:t>
            </a:r>
          </a:p>
          <a:p xmlns:a="http://schemas.openxmlformats.org/drawingml/2006/main">
            <a:r>
              <a:t>Q：這算訓練逝者的模型嗎？</a:t>
            </a:r>
          </a:p>
          <a:p xmlns:a="http://schemas.openxmlformats.org/drawingml/2006/main">
            <a:r>
              <a:t>A：不算。使用現成模型將資料建索引，新回憶只需更新相關索引。</a:t>
            </a:r>
          </a:p>
          <a:p xmlns:a="http://schemas.openxmlformats.org/drawingml/2006/main">
            <a:r>
              <a:t>Q：E5會直接回答問題嗎？</a:t>
            </a:r>
          </a:p>
          <a:p xmlns:a="http://schemas.openxmlformats.org/drawingml/2006/main">
            <a:r>
              <a:t>A：不會。E5輸出向量，pgvector找資料，生成回覆是後續語言模型的工作，屬第4頁QA。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Wang et al., Text Embeddings by Weakly-Supervised Contrastive Pre-training, 2022, Figure1。</a:t>
            </a:r>
          </a:p>
          <a:p xmlns:a="http://schemas.openxmlformats.org/drawingml/2006/main">
            <a:r>
              <a:t>https://arxiv.org/abs/2212.03533</a:t>
            </a:r>
          </a:p>
          <a:p xmlns:a="http://schemas.openxmlformats.org/drawingml/2006/main">
            <a:r>
              <a:t>https://arxiv.org/html/2212.03533v1/procedure.png</a:t>
            </a:r>
          </a:p>
          <a:p xmlns:a="http://schemas.openxmlformats.org/drawingml/2006/main">
            <a:r>
              <a:t>Wang et al., Multilingual E5 Text Embeddings: A Technical Report, 2024。</a:t>
            </a:r>
          </a:p>
          <a:p xmlns:a="http://schemas.openxmlformats.org/drawingml/2006/main">
            <a:r>
              <a:t>https://arxiv.org/abs/2402.05672</a:t>
            </a:r>
          </a:p>
          <a:p xmlns:a="http://schemas.openxmlformats.org/drawingml/2006/main">
            <a:r>
              <a:t>backend/src/lib/embedding.ts；backend/src/lib/rag.ts；docs/architecture-qa-4pages.md。</a:t>
            </a:r>
          </a:p>
          <a:p xmlns:a="http://schemas.openxmlformats.org/drawingml/2006/main">
            <a:r>
              <a:t>https://github.com/pgvector/pgvector</a:t>
            </a:r>
          </a:p>
          <a:p xmlns:a="http://schemas.openxmlformats.org/drawingml/2006/main">
            <a:r>
              <a:t>圖於2026-09-15取得。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頁｜Chatterbox Multilingual V3 聲音複製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【45 秒講稿】</a:t>
            </a:r>
          </a:p>
          <a:p xmlns:a="http://schemas.openxmlformats.org/drawingml/2006/main">
            <a:r>
              <a:t>聲音路線以短錄音提供「誰的聲音」的線索，之後把新的回覆文字交給TTS，生成以參考音色說出的聲音。現在評估的替換候選是Chatterbox Multilingual V3。它可以使用參考錄音而不為每個人重新訓練，但聲音像不像本人、中文是否自然，仍要用我們的素材做驗收。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【與原QA的變更】</a:t>
            </a:r>
          </a:p>
          <a:p xmlns:a="http://schemas.openxmlformats.org/drawingml/2006/main">
            <a:r>
              <a:t>原文件寫IndexTTS2，使用者後續提出改評估Chatterbox V3。本頁據此更新展示方向，並保留「評估中」狀態，不表示程式已換完。沒有使用IndexTTS2論文圖冒充Chatterbox架構。此次未找到可確認對應V3的正式架構論文圖，改用Resemble AI官方Multilingual模型宣傳圖，並清楚註記不是論文圖。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【依官方程式理解】</a:t>
            </a:r>
          </a:p>
          <a:p xmlns:a="http://schemas.openxmlformats.org/drawingml/2006/main">
            <a:r>
              <a:t>ChatterboxMultilingualTTS可以透過prepare_conditionals處理參考錄音；新文字與聲音條件經T3生成語音token，再由S3Gen產生波形，最後套用官方水印。若同一角色多句對話，可設計條件快取；多角色須隔離狀態，不能共用錯誤條件。</a:t>
            </a:r>
          </a:p>
          <a:p xmlns:a="http://schemas.openxmlformats.org/drawingml/2006/main">
            <a:r>
              <a:t>截至此次核對，載入V3需明確指定t3_model='v3'，預設可能仍是V2。官方公開generate是一次輸入完成後回傳波形，可沿用逐句生成；不把H100或商用API低延遲數字當成本機5090表現。國語專用微調版可列入比較。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【素材與驗收】</a:t>
            </a:r>
          </a:p>
          <a:p xmlns:a="http://schemas.openxmlformats.org/drawingml/2006/main">
            <a:r>
              <a:t>建議以10–15秒乾淨國語錄音作為第一輪測試素材，這是測試建議而非最低長度保證。需比較發音、人名、台灣用語、長者沙啞／氣音、停頓及跨句音色穩定性。控制exaggeration與cfg_weight並不等於精準指定0.9倍語速。若後處理變速，要先完成音訊變速，再生成表情／頭姿，確保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【來源限制】</a:t>
            </a:r>
          </a:p>
          <a:p xmlns:a="http://schemas.openxmlformats.org/drawingml/2006/main">
            <a:r>
              <a:t>發布者是Resemble AI，但官方程式與致謝涉及S3Tokenizer／CosyVoice。若禁止中國來源的範圍包含上游元件，尚不能認定合格；本頁不宣稱通過來源審查，也不宣稱比IndexTTS2全面更好。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【可能追問】</a:t>
            </a:r>
          </a:p>
          <a:p xmlns:a="http://schemas.openxmlformats.org/drawingml/2006/main">
            <a:r>
              <a:t>Q：每個人都要另外訓練聲音模型嗎？</a:t>
            </a:r>
          </a:p>
          <a:p xmlns:a="http://schemas.openxmlformats.org/drawingml/2006/main">
            <a:r>
              <a:t>A：零樣本流程以本人錄音提供條件，無需為每人微調模型。</a:t>
            </a:r>
          </a:p>
          <a:p xmlns:a="http://schemas.openxmlformats.org/drawingml/2006/main">
            <a:r>
              <a:t>Q：聲音是建立時就全部算好了嗎？</a:t>
            </a:r>
          </a:p>
          <a:p xmlns:a="http://schemas.openxmlformats.org/drawingml/2006/main">
            <a:r>
              <a:t>A：建立時保存錄音與聲音條件，每次新文字仍需合成。</a:t>
            </a:r>
          </a:p>
          <a:p xmlns:a="http://schemas.openxmlformats.org/drawingml/2006/main">
            <a:r>
              <a:t>Q：是否一定比原本更快更像？</a:t>
            </a:r>
          </a:p>
          <a:p xmlns:a="http://schemas.openxmlformats.org/drawingml/2006/main">
            <a:r>
              <a:t>A：目前只有文件與原始碼評估，仍須同機同素材A/B測試。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【來源】</a:t>
            </a:r>
          </a:p>
          <a:p xmlns:a="http://schemas.openxmlformats.org/drawingml/2006/main">
            <a:r>
              <a:t>https://github.com/resemble-ai/chatterbox</a:t>
            </a:r>
          </a:p>
          <a:p xmlns:a="http://schemas.openxmlformats.org/drawingml/2006/main">
            <a:r>
              <a:t>https://raw.githubusercontent.com/resemble-ai/chatterbox/master/Chatterbox-Multilingual.png</a:t>
            </a:r>
          </a:p>
          <a:p xmlns:a="http://schemas.openxmlformats.org/drawingml/2006/main">
            <a:r>
              <a:t>https://github.com/resemble-ai/chatterbox/blob/master/src/chatterbox/mtl_tts.py</a:t>
            </a:r>
          </a:p>
          <a:p xmlns:a="http://schemas.openxmlformats.org/drawingml/2006/main">
            <a:r>
              <a:t>https://www.resemble.ai/resources/chatterbox-multilingual-v3-tts-with-embedded-watermarking-for-25-languages</a:t>
            </a:r>
          </a:p>
          <a:p xmlns:a="http://schemas.openxmlformats.org/drawingml/2006/main">
            <a:r>
              <a:t>https://huggingface.co/ResembleAI/Chatterbox-Multilingual-zh-cmn</a:t>
            </a:r>
          </a:p>
          <a:p xmlns:a="http://schemas.openxmlformats.org/drawingml/2006/main">
            <a:r>
              <a:t>官方圖2026-09-15取得，保留完整內容和比例。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b6d8166644d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a3b8ce54e42c3" /><Relationship Type="http://schemas.openxmlformats.org/officeDocument/2006/relationships/slideLayout" Target="/ppt/slideLayouts/slideLayout1.xml" Id="R333ba66a876b43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3ba66a876b43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86626b1e34ba5" /><Relationship Type="http://schemas.openxmlformats.org/officeDocument/2006/relationships/notesSlide" Target="/ppt/notesSlides/notesSlide1.xml" Id="R37a704b5f478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d7adbd64c41a1" /><Relationship Type="http://schemas.openxmlformats.org/officeDocument/2006/relationships/image" Target="/ppt/media/image.png" Id="Rf40387eb0fe04676" /><Relationship Type="http://schemas.openxmlformats.org/officeDocument/2006/relationships/notesSlide" Target="/ppt/notesSlides/notesSlide2.xml" Id="Rcdc42606eb7146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7a7a43b4e46da" /><Relationship Type="http://schemas.openxmlformats.org/officeDocument/2006/relationships/image" Target="/ppt/media/image2.png" Id="Rd744050111034052" /><Relationship Type="http://schemas.openxmlformats.org/officeDocument/2006/relationships/notesSlide" Target="/ppt/notesSlides/notesSlide3.xml" Id="Rea7fed8a8c8e42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9bf085f6c4126" /><Relationship Type="http://schemas.openxmlformats.org/officeDocument/2006/relationships/image" Target="/ppt/media/image3.png" Id="Rfcef9166e22b4f46" /><Relationship Type="http://schemas.openxmlformats.org/officeDocument/2006/relationships/notesSlide" Target="/ppt/notesSlides/notesSlide4.xml" Id="Rd849399712e046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36a9ebecb41ff" /><Relationship Type="http://schemas.openxmlformats.org/officeDocument/2006/relationships/image" Target="/ppt/media/image4.png" Id="R584107b7cbc24a94" /><Relationship Type="http://schemas.openxmlformats.org/officeDocument/2006/relationships/notesSlide" Target="/ppt/notesSlides/notesSlide5.xml" Id="R57b44bb8238044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">
            <a:extLst xmlns:a="http://schemas.openxmlformats.org/drawingml/2006/main">
              <a:ext uri="{FF2B5EF4-FFF2-40B4-BE49-F238E27FC236}">
                <a16:creationId xmlns:a16="http://schemas.microsoft.com/office/drawing/2014/main" id="{A22573A5-0A08-462C-98E6-4BB50D83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8E2E88B1-A8D6-4AF0-AF62-C499620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508823B-3781-4AC3-8AB7-D62D54B6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建立流程　1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44F356-E41E-4CEF-9EE3-9C67CD4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素材如何變成數位分身？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756350B-A11E-422B-BFDA-3F551F9C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以預訓練模型處理素材，建立可重用的記憶、外觀與聲音條件。</a:t>
            </a:r>
          </a:p>
        </p:txBody>
      </p:sp>
      <p:sp>
        <p:nvSpPr>
          <p:cNvPr id="6" name="route-0">
            <a:extLst xmlns:a="http://schemas.openxmlformats.org/drawingml/2006/main">
              <a:ext uri="{FF2B5EF4-FFF2-40B4-BE49-F238E27FC236}">
                <a16:creationId xmlns:a16="http://schemas.microsoft.com/office/drawing/2014/main" id="{BA8D5045-6B96-4405-ABB7-08366B42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記憶</a:t>
            </a:r>
          </a:p>
        </p:txBody>
      </p:sp>
      <p:sp>
        <p:nvSpPr>
          <p:cNvPr id="7" name="input-label-0">
            <a:extLst xmlns:a="http://schemas.openxmlformats.org/drawingml/2006/main">
              <a:ext uri="{FF2B5EF4-FFF2-40B4-BE49-F238E27FC236}">
                <a16:creationId xmlns:a16="http://schemas.microsoft.com/office/drawing/2014/main" id="{9C833D69-BF2B-4531-A750-A84DC6F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素材</a:t>
            </a:r>
          </a:p>
        </p:txBody>
      </p:sp>
      <p:sp>
        <p:nvSpPr>
          <p:cNvPr id="8" name="input-0">
            <a:extLst xmlns:a="http://schemas.openxmlformats.org/drawingml/2006/main">
              <a:ext uri="{FF2B5EF4-FFF2-40B4-BE49-F238E27FC236}">
                <a16:creationId xmlns:a16="http://schemas.microsoft.com/office/drawing/2014/main" id="{5F852CD2-AF1C-4E6D-A50D-AC73B38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對話紀錄與核可回憶</a:t>
            </a:r>
          </a:p>
        </p:txBody>
      </p:sp>
      <p:sp>
        <p:nvSpPr>
          <p:cNvPr id="9" name="model-0">
            <a:extLst xmlns:a="http://schemas.openxmlformats.org/drawingml/2006/main">
              <a:ext uri="{FF2B5EF4-FFF2-40B4-BE49-F238E27FC236}">
                <a16:creationId xmlns:a16="http://schemas.microsoft.com/office/drawing/2014/main" id="{EA902017-472D-4B7A-8DF9-CEDD056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multilingual-E5-small</a:t>
            </a:r>
          </a:p>
        </p:txBody>
      </p:sp>
      <p:sp>
        <p:nvSpPr>
          <p:cNvPr id="10" name="process-0">
            <a:extLst xmlns:a="http://schemas.openxmlformats.org/drawingml/2006/main">
              <a:ext uri="{FF2B5EF4-FFF2-40B4-BE49-F238E27FC236}">
                <a16:creationId xmlns:a16="http://schemas.microsoft.com/office/drawing/2014/main" id="{6AF6F406-3A1F-4F6C-8427-C8F2E9CD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分辨來源、切片、轉為向量</a:t>
            </a:r>
          </a:p>
        </p:txBody>
      </p:sp>
      <p:sp>
        <p:nvSpPr>
          <p:cNvPr id="11" name="output-0">
            <a:extLst xmlns:a="http://schemas.openxmlformats.org/drawingml/2006/main">
              <a:ext uri="{FF2B5EF4-FFF2-40B4-BE49-F238E27FC236}">
                <a16:creationId xmlns:a16="http://schemas.microsoft.com/office/drawing/2014/main" id="{9609F5D3-0DE2-43A5-A944-C63FE97D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pgvector 記憶索引</a:t>
            </a:r>
          </a:p>
        </p:txBody>
      </p:sp>
      <p:sp>
        <p:nvSpPr>
          <p:cNvPr id="12" name="reuse-0">
            <a:extLst xmlns:a="http://schemas.openxmlformats.org/drawingml/2006/main">
              <a:ext uri="{FF2B5EF4-FFF2-40B4-BE49-F238E27FC236}">
                <a16:creationId xmlns:a16="http://schemas.microsoft.com/office/drawing/2014/main" id="{44EC160C-0A6B-41D1-A47C-DDF0679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419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之後依問題找相關片段</a:t>
            </a:r>
          </a:p>
        </p:txBody>
      </p:sp>
      <p:sp>
        <p:nvSpPr>
          <p:cNvPr id="13" name="route-1">
            <a:extLst xmlns:a="http://schemas.openxmlformats.org/drawingml/2006/main">
              <a:ext uri="{FF2B5EF4-FFF2-40B4-BE49-F238E27FC236}">
                <a16:creationId xmlns:a16="http://schemas.microsoft.com/office/drawing/2014/main" id="{D8767915-9708-4B15-9A09-1F3B3EF0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臉孔</a:t>
            </a:r>
          </a:p>
        </p:txBody>
      </p:sp>
      <p:sp>
        <p:nvSpPr>
          <p:cNvPr id="14" name="input-label-1">
            <a:extLst xmlns:a="http://schemas.openxmlformats.org/drawingml/2006/main">
              <a:ext uri="{FF2B5EF4-FFF2-40B4-BE49-F238E27FC236}">
                <a16:creationId xmlns:a16="http://schemas.microsoft.com/office/drawing/2014/main" id="{45ACB203-1A56-4D81-8CA8-9674F0E3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433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素材</a:t>
            </a:r>
          </a:p>
        </p:txBody>
      </p:sp>
      <p:sp>
        <p:nvSpPr>
          <p:cNvPr id="15" name="input-1">
            <a:extLst xmlns:a="http://schemas.openxmlformats.org/drawingml/2006/main">
              <a:ext uri="{FF2B5EF4-FFF2-40B4-BE49-F238E27FC236}">
                <a16:creationId xmlns:a16="http://schemas.microsoft.com/office/drawing/2014/main" id="{24588B16-26B1-4A27-A292-9FF4C0E9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一張清楚的正面照</a:t>
            </a:r>
          </a:p>
        </p:txBody>
      </p:sp>
      <p:sp>
        <p:nvSpPr>
          <p:cNvPr id="16" name="model-1">
            <a:extLst xmlns:a="http://schemas.openxmlformats.org/drawingml/2006/main">
              <a:ext uri="{FF2B5EF4-FFF2-40B4-BE49-F238E27FC236}">
                <a16:creationId xmlns:a16="http://schemas.microsoft.com/office/drawing/2014/main" id="{5B82A277-7203-46CB-BDC7-8A6D7FB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434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LAM</a:t>
            </a:r>
          </a:p>
        </p:txBody>
      </p:sp>
      <p:sp>
        <p:nvSpPr>
          <p:cNvPr id="17" name="process-1">
            <a:extLst xmlns:a="http://schemas.openxmlformats.org/drawingml/2006/main">
              <a:ext uri="{FF2B5EF4-FFF2-40B4-BE49-F238E27FC236}">
                <a16:creationId xmlns:a16="http://schemas.microsoft.com/office/drawing/2014/main" id="{BE2152FB-2AD0-42A8-A7DD-C18B163B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006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單次推理，重建高斯頭像</a:t>
            </a:r>
          </a:p>
        </p:txBody>
      </p:sp>
      <p:sp>
        <p:nvSpPr>
          <p:cNvPr id="18" name="output-1">
            <a:extLst xmlns:a="http://schemas.openxmlformats.org/drawingml/2006/main">
              <a:ext uri="{FF2B5EF4-FFF2-40B4-BE49-F238E27FC236}">
                <a16:creationId xmlns:a16="http://schemas.microsoft.com/office/drawing/2014/main" id="{7A795624-7217-4288-AAA5-30EA05A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579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可驅動的 3D 頭像</a:t>
            </a:r>
          </a:p>
        </p:txBody>
      </p:sp>
      <p:sp>
        <p:nvSpPr>
          <p:cNvPr id="19" name="reuse-1">
            <a:extLst xmlns:a="http://schemas.openxmlformats.org/drawingml/2006/main">
              <a:ext uri="{FF2B5EF4-FFF2-40B4-BE49-F238E27FC236}">
                <a16:creationId xmlns:a16="http://schemas.microsoft.com/office/drawing/2014/main" id="{ECC8DA27-18C0-4D9F-BE67-7332B3EA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762750"/>
            <a:ext cx="419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之後依表情與姿態參數動作</a:t>
            </a:r>
          </a:p>
        </p:txBody>
      </p:sp>
      <p:sp>
        <p:nvSpPr>
          <p:cNvPr id="20" name="route-2">
            <a:extLst xmlns:a="http://schemas.openxmlformats.org/drawingml/2006/main">
              <a:ext uri="{FF2B5EF4-FFF2-40B4-BE49-F238E27FC236}">
                <a16:creationId xmlns:a16="http://schemas.microsoft.com/office/drawing/2014/main" id="{A5B55660-75C9-416C-B1F1-A31233F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003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聲音</a:t>
            </a:r>
          </a:p>
        </p:txBody>
      </p:sp>
      <p:sp>
        <p:nvSpPr>
          <p:cNvPr id="21" name="input-label-2">
            <a:extLst xmlns:a="http://schemas.openxmlformats.org/drawingml/2006/main">
              <a:ext uri="{FF2B5EF4-FFF2-40B4-BE49-F238E27FC236}">
                <a16:creationId xmlns:a16="http://schemas.microsoft.com/office/drawing/2014/main" id="{329EBEE7-44A3-417C-B93F-158FB6BB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433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素材</a:t>
            </a:r>
          </a:p>
        </p:txBody>
      </p:sp>
      <p:sp>
        <p:nvSpPr>
          <p:cNvPr id="22" name="input-2">
            <a:extLst xmlns:a="http://schemas.openxmlformats.org/drawingml/2006/main">
              <a:ext uri="{FF2B5EF4-FFF2-40B4-BE49-F238E27FC236}">
                <a16:creationId xmlns:a16="http://schemas.microsoft.com/office/drawing/2014/main" id="{9BE68956-53B4-4356-A876-D5A98011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52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一段清楚的本人錄音</a:t>
            </a:r>
          </a:p>
        </p:txBody>
      </p:sp>
      <p:sp>
        <p:nvSpPr>
          <p:cNvPr id="23" name="model-2">
            <a:extLst xmlns:a="http://schemas.openxmlformats.org/drawingml/2006/main">
              <a:ext uri="{FF2B5EF4-FFF2-40B4-BE49-F238E27FC236}">
                <a16:creationId xmlns:a16="http://schemas.microsoft.com/office/drawing/2014/main" id="{F6E55E9C-F73F-41B8-AE09-6E731C3A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434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Chatterbox V3（評估中）</a:t>
            </a:r>
          </a:p>
        </p:txBody>
      </p:sp>
      <p:sp>
        <p:nvSpPr>
          <p:cNvPr id="24" name="process-2">
            <a:extLst xmlns:a="http://schemas.openxmlformats.org/drawingml/2006/main">
              <a:ext uri="{FF2B5EF4-FFF2-40B4-BE49-F238E27FC236}">
                <a16:creationId xmlns:a16="http://schemas.microsoft.com/office/drawing/2014/main" id="{CB81D776-A520-4879-9DAC-33BB628D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4006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提取聲音參考條件</a:t>
            </a:r>
          </a:p>
        </p:txBody>
      </p:sp>
      <p:sp>
        <p:nvSpPr>
          <p:cNvPr id="25" name="output-2">
            <a:extLst xmlns:a="http://schemas.openxmlformats.org/drawingml/2006/main">
              <a:ext uri="{FF2B5EF4-FFF2-40B4-BE49-F238E27FC236}">
                <a16:creationId xmlns:a16="http://schemas.microsoft.com/office/drawing/2014/main" id="{2F514872-D505-4012-8A26-8A76D97A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579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聲音參考／條件資料</a:t>
            </a:r>
          </a:p>
        </p:txBody>
      </p:sp>
      <p:sp>
        <p:nvSpPr>
          <p:cNvPr id="26" name="reuse-2">
            <a:extLst xmlns:a="http://schemas.openxmlformats.org/drawingml/2006/main">
              <a:ext uri="{FF2B5EF4-FFF2-40B4-BE49-F238E27FC236}">
                <a16:creationId xmlns:a16="http://schemas.microsoft.com/office/drawing/2014/main" id="{02C9D87D-CA3A-4D6A-9E48-CA1FB126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62750"/>
            <a:ext cx="419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之後搭配新文字生成聲音</a:t>
            </a:r>
          </a:p>
        </p:txBody>
      </p:sp>
      <p:sp>
        <p:nvSpPr>
          <p:cNvPr id="27" name="takeaway">
            <a:extLst xmlns:a="http://schemas.openxmlformats.org/drawingml/2006/main">
              <a:ext uri="{FF2B5EF4-FFF2-40B4-BE49-F238E27FC236}">
                <a16:creationId xmlns:a16="http://schemas.microsoft.com/office/drawing/2014/main" id="{463705B5-D983-45B1-9A58-E411B6E3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不需為每位逝者重新訓練模型。產物建立後重用，素材更新時再處理。</a:t>
            </a:r>
          </a:p>
        </p:txBody>
      </p:sp>
      <p:sp>
        <p:nvSpPr>
          <p:cNvPr id="28" name="reference">
            <a:extLst xmlns:a="http://schemas.openxmlformats.org/drawingml/2006/main">
              <a:ext uri="{FF2B5EF4-FFF2-40B4-BE49-F238E27FC236}">
                <a16:creationId xmlns:a16="http://schemas.microsoft.com/office/drawing/2014/main" id="{C1CDA5ED-717D-4880-9DD9-02AB720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來源：architecture-qa-4pages.md 第 3 頁；聲音模型依最新討論列為替換候選。</a:t>
            </a:r>
          </a:p>
        </p:txBody>
      </p:sp>
    </p:spTree>
    <p:extLst>
      <p:ext uri="{BB962C8B-B14F-4D97-AF65-F5344CB8AC3E}">
        <p14:creationId xmlns:p14="http://schemas.microsoft.com/office/powerpoint/2010/main" val="170631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4AA2ACC0-2562-4F8E-B7C8-F2E76DE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3661EF9D-836C-48BC-8AC2-1FD7F890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158AD5E-B14B-4FFA-8867-F264C9E3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LAM 成果　2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695665-1A3F-4CF1-A9B3-7B8B3880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一張照片，建立可驅動的頭像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16B5DDB-B457-42B1-ACB1-9D2C0CD9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3D 高斯潑濺以帶顏色、透明度與形狀的柔邊點，疊出可渲染的外觀。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387eb0fe04676"/>
          <a:stretch xmlns:a="http://schemas.openxmlformats.org/drawingml/2006/main"/>
        </p:blipFill>
        <p:spPr>
          <a:xfrm xmlns:a="http://schemas.openxmlformats.org/drawingml/2006/main">
            <a:off x="609600" y="2781495"/>
            <a:ext cx="14020800" cy="3923910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BD4B6FEB-E6B0-439C-BE85-176BB01B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81800"/>
            <a:ext cx="1402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論文 Figure 1 原圖：左側是輸入照片，右側是重建後不同表情與姿態的結果。</a:t>
            </a:r>
          </a:p>
        </p:txBody>
      </p:sp>
      <p:sp>
        <p:nvSpPr>
          <p:cNvPr id="8" name="answer">
            <a:extLst xmlns:a="http://schemas.openxmlformats.org/drawingml/2006/main">
              <a:ext uri="{FF2B5EF4-FFF2-40B4-BE49-F238E27FC236}">
                <a16:creationId xmlns:a16="http://schemas.microsoft.com/office/drawing/2014/main" id="{5E9DB5D4-9AC8-428B-8FE4-37194CA1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評審問：一張照片真的夠嗎？</a:t>
            </a:r>
          </a:p>
        </p:txBody>
      </p:sp>
      <p:sp>
        <p:nvSpPr>
          <p:cNvPr id="9" name="answer-body">
            <a:extLst xmlns:a="http://schemas.openxmlformats.org/drawingml/2006/main">
              <a:ext uri="{FF2B5EF4-FFF2-40B4-BE49-F238E27FC236}">
                <a16:creationId xmlns:a16="http://schemas.microsoft.com/office/drawing/2014/main" id="{DC48CC2E-BC62-420D-A5FC-A6F7369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86675"/>
            <a:ext cx="1402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可產生頭像；照片未呈現的部分由模型推測，仍需家屬驗收。</a:t>
            </a:r>
          </a:p>
        </p:txBody>
      </p:sp>
      <p:sp>
        <p:nvSpPr>
          <p:cNvPr id="10" name="paper">
            <a:extLst xmlns:a="http://schemas.openxmlformats.org/drawingml/2006/main">
              <a:ext uri="{FF2B5EF4-FFF2-40B4-BE49-F238E27FC236}">
                <a16:creationId xmlns:a16="http://schemas.microsoft.com/office/drawing/2014/main" id="{7CDD8C60-C05B-48A7-899B-6FBAABDB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論文圖源：He et al., LAM, 2025, Figure 1（點擊開啟論文）</a:t>
            </a:r>
          </a:p>
        </p:txBody>
      </p:sp>
    </p:spTree>
    <p:extLst>
      <p:ext uri="{BB962C8B-B14F-4D97-AF65-F5344CB8AC3E}">
        <p14:creationId xmlns:p14="http://schemas.microsoft.com/office/powerpoint/2010/main" val="1033827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">
            <a:extLst xmlns:a="http://schemas.openxmlformats.org/drawingml/2006/main">
              <a:ext uri="{FF2B5EF4-FFF2-40B4-BE49-F238E27FC236}">
                <a16:creationId xmlns:a16="http://schemas.microsoft.com/office/drawing/2014/main" id="{86DA3B49-98ED-41A4-BDB6-D286CEF4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04E63F4C-E630-454F-9BC8-E068DBB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D6B0EB6-8A67-44DA-937A-EF5F5E1C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LAM 方法　3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C333E1-B7BC-46C6-AF5A-4B0E382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LAM：外觀重建與表情驅動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F702080-9FA3-4CF2-83FC-3DE8EB6B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左半部從照片估計外觀，右半部用參數驅動同一個頭像。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4050111034052"/>
          <a:stretch xmlns:a="http://schemas.openxmlformats.org/drawingml/2006/main"/>
        </p:blipFill>
        <p:spPr>
          <a:xfrm xmlns:a="http://schemas.openxmlformats.org/drawingml/2006/main">
            <a:off x="609600" y="2821654"/>
            <a:ext cx="9791700" cy="4434142"/>
          </a:xfrm>
          <a:prstGeom xmlns:a="http://schemas.openxmlformats.org/drawingml/2006/main" prst="rect">
            <a:avLst/>
          </a:prstGeom>
        </p:spPr>
      </p:pic>
      <p:sp>
        <p:nvSpPr>
          <p:cNvPr id="7" name="step1">
            <a:extLst xmlns:a="http://schemas.openxmlformats.org/drawingml/2006/main">
              <a:ext uri="{FF2B5EF4-FFF2-40B4-BE49-F238E27FC236}">
                <a16:creationId xmlns:a16="http://schemas.microsoft.com/office/drawing/2014/main" id="{32E3E8EE-881C-4DBB-A6C6-CCEAD2E3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43225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01　標準人頭作為起點</a:t>
            </a:r>
          </a:p>
        </p:txBody>
      </p:sp>
      <p:sp>
        <p:nvSpPr>
          <p:cNvPr id="8" name="step1body">
            <a:extLst xmlns:a="http://schemas.openxmlformats.org/drawingml/2006/main">
              <a:ext uri="{FF2B5EF4-FFF2-40B4-BE49-F238E27FC236}">
                <a16:creationId xmlns:a16="http://schemas.microsoft.com/office/drawing/2014/main" id="{20936A3B-C38E-4BAE-A402-32F91D2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29000"/>
            <a:ext cx="3867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FLAME 頂點細分後，</a:t>
            </a:r>
          </a:p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約 8 萬個點對應高斯點。</a:t>
            </a:r>
          </a:p>
        </p:txBody>
      </p:sp>
      <p:sp>
        <p:nvSpPr>
          <p:cNvPr id="9" name="step2">
            <a:extLst xmlns:a="http://schemas.openxmlformats.org/drawingml/2006/main">
              <a:ext uri="{FF2B5EF4-FFF2-40B4-BE49-F238E27FC236}">
                <a16:creationId xmlns:a16="http://schemas.microsoft.com/office/drawing/2014/main" id="{C30B835D-1B4D-49E0-A5CB-D0A941A3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38650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02　從照片估計外觀</a:t>
            </a:r>
          </a:p>
        </p:txBody>
      </p:sp>
      <p:sp>
        <p:nvSpPr>
          <p:cNvPr id="10" name="step2body">
            <a:extLst xmlns:a="http://schemas.openxmlformats.org/drawingml/2006/main">
              <a:ext uri="{FF2B5EF4-FFF2-40B4-BE49-F238E27FC236}">
                <a16:creationId xmlns:a16="http://schemas.microsoft.com/office/drawing/2014/main" id="{46643E5E-3131-4BAE-88AB-9CD900D9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14900"/>
            <a:ext cx="3867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Transformer 對照影像特徵，</a:t>
            </a:r>
          </a:p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預測顏色、形狀與位移等屬性。</a:t>
            </a:r>
          </a:p>
        </p:txBody>
      </p:sp>
      <p:sp>
        <p:nvSpPr>
          <p:cNvPr id="11" name="step3">
            <a:extLst xmlns:a="http://schemas.openxmlformats.org/drawingml/2006/main">
              <a:ext uri="{FF2B5EF4-FFF2-40B4-BE49-F238E27FC236}">
                <a16:creationId xmlns:a16="http://schemas.microsoft.com/office/drawing/2014/main" id="{B4E225D3-4130-425F-BFCB-8468F9A5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62650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03　依參數變形與渲染</a:t>
            </a:r>
          </a:p>
        </p:txBody>
      </p:sp>
      <p:sp>
        <p:nvSpPr>
          <p:cNvPr id="12" name="step3body">
            <a:extLst xmlns:a="http://schemas.openxmlformats.org/drawingml/2006/main">
              <a:ext uri="{FF2B5EF4-FFF2-40B4-BE49-F238E27FC236}">
                <a16:creationId xmlns:a16="http://schemas.microsoft.com/office/drawing/2014/main" id="{D2AEBB96-8A60-44E2-B07C-D18EE41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3867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輸入表情與姿態參數，</a:t>
            </a:r>
          </a:p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即可驅動已建立的頭像。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4D1BEAA9-AFDB-40DB-A7C2-883AEF74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1402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頭像變形與渲染可不再跑外觀重建網路；語音與表情參數仍由其他模型生成。</a:t>
            </a:r>
          </a:p>
        </p:txBody>
      </p:sp>
      <p:sp>
        <p:nvSpPr>
          <p:cNvPr id="14" name="paper">
            <a:extLst xmlns:a="http://schemas.openxmlformats.org/drawingml/2006/main">
              <a:ext uri="{FF2B5EF4-FFF2-40B4-BE49-F238E27FC236}">
                <a16:creationId xmlns:a16="http://schemas.microsoft.com/office/drawing/2014/main" id="{5B903323-D7D2-4A0E-B000-B84840AD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論文圖源：He et al., LAM, 2025, Figure 2（點擊開啟方法章節）</a:t>
            </a:r>
          </a:p>
        </p:txBody>
      </p:sp>
    </p:spTree>
    <p:extLst>
      <p:ext uri="{BB962C8B-B14F-4D97-AF65-F5344CB8AC3E}">
        <p14:creationId xmlns:p14="http://schemas.microsoft.com/office/powerpoint/2010/main" val="943651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">
            <a:extLst xmlns:a="http://schemas.openxmlformats.org/drawingml/2006/main">
              <a:ext uri="{FF2B5EF4-FFF2-40B4-BE49-F238E27FC236}">
                <a16:creationId xmlns:a16="http://schemas.microsoft.com/office/drawing/2014/main" id="{EBA50CDD-5F39-4F4F-8FB8-6D4C27DA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296CEC23-98AC-4302-8B4D-4A4D8650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4CF7329-2438-4C2C-99AA-702F6F5D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E5 記憶　4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C44710-B4D1-4CAD-BFF2-ACCC534E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記憶：把原話變成可搜尋的向量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BB68961-EB40-4856-8003-6E4AA8F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使用現成的 multilingual-E5-small，保留原文與來源，再建立檢索索引。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f9166e22b4f46"/>
          <a:stretch xmlns:a="http://schemas.openxmlformats.org/drawingml/2006/main"/>
        </p:blipFill>
        <p:spPr>
          <a:xfrm xmlns:a="http://schemas.openxmlformats.org/drawingml/2006/main">
            <a:off x="609600" y="2905311"/>
            <a:ext cx="8896350" cy="2561853"/>
          </a:xfrm>
          <a:prstGeom xmlns:a="http://schemas.openxmlformats.org/drawingml/2006/main" prst="rect">
            <a:avLst/>
          </a:prstGeom>
        </p:spPr>
      </p:pic>
      <p:sp>
        <p:nvSpPr>
          <p:cNvPr id="7" name="fig-caption">
            <a:extLst xmlns:a="http://schemas.openxmlformats.org/drawingml/2006/main">
              <a:ext uri="{FF2B5EF4-FFF2-40B4-BE49-F238E27FC236}">
                <a16:creationId xmlns:a16="http://schemas.microsoft.com/office/drawing/2014/main" id="{D3D6F7F3-A253-4740-8AD7-6964EF2C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89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E5 原始研究 Figure 1：訓練資料與雙編碼器概念。</a:t>
            </a:r>
          </a:p>
        </p:txBody>
      </p:sp>
      <p:sp>
        <p:nvSpPr>
          <p:cNvPr id="8" name="fig-scope">
            <a:extLst xmlns:a="http://schemas.openxmlformats.org/drawingml/2006/main">
              <a:ext uri="{FF2B5EF4-FFF2-40B4-BE49-F238E27FC236}">
                <a16:creationId xmlns:a16="http://schemas.microsoft.com/office/drawing/2014/main" id="{046DCE33-AF71-48CB-9BB2-231DD8FA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本專案使用已訓練的多語版本，不重跑左側訓練流程。</a:t>
            </a:r>
          </a:p>
        </p:txBody>
      </p:sp>
      <p:sp>
        <p:nvSpPr>
          <p:cNvPr id="9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0481B7E8-0F17-4B43-B4D4-E3FAB36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670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本專案如何建立記憶</a:t>
            </a:r>
          </a:p>
        </p:txBody>
      </p:sp>
      <p:sp>
        <p:nvSpPr>
          <p:cNvPr id="10" name="project-1">
            <a:extLst xmlns:a="http://schemas.openxmlformats.org/drawingml/2006/main">
              <a:ext uri="{FF2B5EF4-FFF2-40B4-BE49-F238E27FC236}">
                <a16:creationId xmlns:a16="http://schemas.microsoft.com/office/drawing/2014/main" id="{364C317D-3B3A-49F9-8963-F3B6AF7E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7662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先分清楚本人原話與親友回憶</a:t>
            </a:r>
          </a:p>
        </p:txBody>
      </p:sp>
      <p:sp>
        <p:nvSpPr>
          <p:cNvPr id="11" name="project-2">
            <a:extLst xmlns:a="http://schemas.openxmlformats.org/drawingml/2006/main">
              <a:ext uri="{FF2B5EF4-FFF2-40B4-BE49-F238E27FC236}">
                <a16:creationId xmlns:a16="http://schemas.microsoft.com/office/drawing/2014/main" id="{7C11C674-AAAF-48DF-BCF2-EC159826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6717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切成短片段，保留來源標籤</a:t>
            </a:r>
          </a:p>
        </p:txBody>
      </p:sp>
      <p:sp>
        <p:nvSpPr>
          <p:cNvPr id="12" name="project-3">
            <a:extLst xmlns:a="http://schemas.openxmlformats.org/drawingml/2006/main">
              <a:ext uri="{FF2B5EF4-FFF2-40B4-BE49-F238E27FC236}">
                <a16:creationId xmlns:a16="http://schemas.microsoft.com/office/drawing/2014/main" id="{625B416C-EE8E-4ADF-AB69-A71C4F10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5772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E5-small 編碼為 384 維向量</a:t>
            </a:r>
          </a:p>
        </p:txBody>
      </p:sp>
      <p:sp>
        <p:nvSpPr>
          <p:cNvPr id="13" name="project-4">
            <a:extLst xmlns:a="http://schemas.openxmlformats.org/drawingml/2006/main">
              <a:ext uri="{FF2B5EF4-FFF2-40B4-BE49-F238E27FC236}">
                <a16:creationId xmlns:a16="http://schemas.microsoft.com/office/drawing/2014/main" id="{FC9AB21B-8CA1-496E-A2DE-6270427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4827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存入 pgvector，建立 HNSW 索引</a:t>
            </a:r>
          </a:p>
        </p:txBody>
      </p:sp>
      <p:sp>
        <p:nvSpPr>
          <p:cNvPr id="14" name="example-title">
            <a:extLst xmlns:a="http://schemas.openxmlformats.org/drawingml/2006/main">
              <a:ext uri="{FF2B5EF4-FFF2-40B4-BE49-F238E27FC236}">
                <a16:creationId xmlns:a16="http://schemas.microsoft.com/office/drawing/2014/main" id="{10BC2578-3BED-416B-975F-27B633B9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96075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怎麼找到相關回憶？</a:t>
            </a:r>
          </a:p>
        </p:txBody>
      </p:sp>
      <p:sp>
        <p:nvSpPr>
          <p:cNvPr id="15" name="example">
            <a:extLst xmlns:a="http://schemas.openxmlformats.org/drawingml/2006/main">
              <a:ext uri="{FF2B5EF4-FFF2-40B4-BE49-F238E27FC236}">
                <a16:creationId xmlns:a16="http://schemas.microsoft.com/office/drawing/2014/main" id="{033E3E19-A908-477B-B766-13338F6A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家屬問「奶奶平常愛吃哪種早餐？」　記憶原文「我最愛吃虱目魚粥」。</a:t>
            </a:r>
          </a:p>
        </p:txBody>
      </p:sp>
      <p:sp>
        <p:nvSpPr>
          <p:cNvPr id="16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8D46CE9A-AE27-40E9-BF48-B6C0A331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58100"/>
            <a:ext cx="14020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向量比較語意，找出候選片段；仍需相關性門檻，不能保證每次都找對。</a:t>
            </a:r>
          </a:p>
        </p:txBody>
      </p:sp>
      <p:sp>
        <p:nvSpPr>
          <p:cNvPr id="17" name="paper">
            <a:extLst xmlns:a="http://schemas.openxmlformats.org/drawingml/2006/main">
              <a:ext uri="{FF2B5EF4-FFF2-40B4-BE49-F238E27FC236}">
                <a16:creationId xmlns:a16="http://schemas.microsoft.com/office/drawing/2014/main" id="{B42785CD-95EF-423F-A96A-A56B80DE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圖源：Wang et al., E5, arXiv:2212.03533, Figure 1</a:t>
            </a:r>
          </a:p>
        </p:txBody>
      </p:sp>
      <p:sp>
        <p:nvSpPr>
          <p:cNvPr id="18" name="multilingual">
            <a:extLst xmlns:a="http://schemas.openxmlformats.org/drawingml/2006/main">
              <a:ext uri="{FF2B5EF4-FFF2-40B4-BE49-F238E27FC236}">
                <a16:creationId xmlns:a16="http://schemas.microsoft.com/office/drawing/2014/main" id="{11BE034D-0FE3-4D26-AADD-51CA58F3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105775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多語模型：Multilingual E5 技術報告（2024）</a:t>
            </a:r>
          </a:p>
        </p:txBody>
      </p:sp>
    </p:spTree>
    <p:extLst>
      <p:ext uri="{BB962C8B-B14F-4D97-AF65-F5344CB8AC3E}">
        <p14:creationId xmlns:p14="http://schemas.microsoft.com/office/powerpoint/2010/main" val="1399876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">
            <a:extLst xmlns:a="http://schemas.openxmlformats.org/drawingml/2006/main">
              <a:ext uri="{FF2B5EF4-FFF2-40B4-BE49-F238E27FC236}">
                <a16:creationId xmlns:a16="http://schemas.microsoft.com/office/drawing/2014/main" id="{1296BE51-1B2B-4387-B0AF-3B8DFB9B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brand-sub">
            <a:extLst xmlns:a="http://schemas.openxmlformats.org/drawingml/2006/main">
              <a:ext uri="{FF2B5EF4-FFF2-40B4-BE49-F238E27FC236}">
                <a16:creationId xmlns:a16="http://schemas.microsoft.com/office/drawing/2014/main" id="{48BBCA4F-DDC7-4920-A082-60FCD58A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1AFEFFC-1389-4E08-977E-709135D4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"/>
            <a:ext cx="4429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03　TTS 聲音　5 /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1F69EC-0971-49A1-9E53-BAA8028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4020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聲音：用短錄音提供音色參考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28B2A95-4EFB-4DCC-AB63-5FCCFFCC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Chatterbox Multilingual V3 是目前替換候選，採零樣本聲音複製。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107b7cbc24a94"/>
          <a:stretch xmlns:a="http://schemas.openxmlformats.org/drawingml/2006/main"/>
        </p:blipFill>
        <p:spPr>
          <a:xfrm xmlns:a="http://schemas.openxmlformats.org/drawingml/2006/main">
            <a:off x="609600" y="2895600"/>
            <a:ext cx="6477000" cy="3238500"/>
          </a:xfrm>
          <a:prstGeom xmlns:a="http://schemas.openxmlformats.org/drawingml/2006/main" prst="rect">
            <a:avLst/>
          </a:prstGeom>
        </p:spPr>
      </p:pic>
      <p:sp>
        <p:nvSpPr>
          <p:cNvPr id="7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303DD1B6-AF48-45C8-93C7-45409C9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Resemble AI 官方模型圖（非論文架構圖）</a:t>
            </a:r>
          </a:p>
        </p:txBody>
      </p:sp>
      <p:sp>
        <p:nvSpPr>
          <p:cNvPr id="8" name="step1">
            <a:extLst xmlns:a="http://schemas.openxmlformats.org/drawingml/2006/main">
              <a:ext uri="{FF2B5EF4-FFF2-40B4-BE49-F238E27FC236}">
                <a16:creationId xmlns:a16="http://schemas.microsoft.com/office/drawing/2014/main" id="{F7C74A6A-6947-497F-97CE-47C9AF22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建立時：準備參考聲音</a:t>
            </a:r>
          </a:p>
        </p:txBody>
      </p:sp>
      <p:sp>
        <p:nvSpPr>
          <p:cNvPr id="9" name="body1">
            <a:extLst xmlns:a="http://schemas.openxmlformats.org/drawingml/2006/main">
              <a:ext uri="{FF2B5EF4-FFF2-40B4-BE49-F238E27FC236}">
                <a16:creationId xmlns:a16="http://schemas.microsoft.com/office/drawing/2014/main" id="{1A93978F-A5B5-4308-A09F-0FCC7F1F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681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由清楚的本人錄音提取聲音條件，</a:t>
            </a:r>
          </a:p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不需為每個人重新訓練模型。</a:t>
            </a:r>
          </a:p>
        </p:txBody>
      </p:sp>
      <p:sp>
        <p:nvSpPr>
          <p:cNvPr id="10" name="step2">
            <a:extLst xmlns:a="http://schemas.openxmlformats.org/drawingml/2006/main">
              <a:ext uri="{FF2B5EF4-FFF2-40B4-BE49-F238E27FC236}">
                <a16:creationId xmlns:a16="http://schemas.microsoft.com/office/drawing/2014/main" id="{DCE48D04-6650-461F-961E-52230797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對話時：讓新文字以參考音色說出</a:t>
            </a:r>
          </a:p>
        </p:txBody>
      </p:sp>
      <p:sp>
        <p:nvSpPr>
          <p:cNvPr id="11" name="body2">
            <a:extLst xmlns:a="http://schemas.openxmlformats.org/drawingml/2006/main">
              <a:ext uri="{FF2B5EF4-FFF2-40B4-BE49-F238E27FC236}">
                <a16:creationId xmlns:a16="http://schemas.microsoft.com/office/drawing/2014/main" id="{546B6B82-0AD3-4227-909A-4EC3E7FB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76850"/>
            <a:ext cx="681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T3 生成語音 token，S3Gen 轉為波形，</a:t>
            </a:r>
          </a:p>
          <a:p xmlns:a="http://schemas.openxmlformats.org/drawingml/2006/main">
            <a:pPr>
              <a:def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再將聲音交給表情與頭姿模型。</a:t>
            </a:r>
          </a:p>
        </p:txBody>
      </p:sp>
      <p:sp>
        <p:nvSpPr>
          <p:cNvPr id="12" name="quality">
            <a:extLst xmlns:a="http://schemas.openxmlformats.org/drawingml/2006/main">
              <a:ext uri="{FF2B5EF4-FFF2-40B4-BE49-F238E27FC236}">
                <a16:creationId xmlns:a16="http://schemas.microsoft.com/office/drawing/2014/main" id="{C6CEB44C-B47F-46A9-94BE-179D67E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00875"/>
            <a:ext cx="1402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驗收重點：中文發音、本人音色與自然停頓</a:t>
            </a:r>
          </a:p>
        </p:txBody>
      </p:sp>
      <p:sp>
        <p:nvSpPr>
          <p:cNvPr id="13" name="status">
            <a:extLst xmlns:a="http://schemas.openxmlformats.org/drawingml/2006/main">
              <a:ext uri="{FF2B5EF4-FFF2-40B4-BE49-F238E27FC236}">
                <a16:creationId xmlns:a16="http://schemas.microsoft.com/office/drawing/2014/main" id="{94C34FAA-A291-4B7B-BDB0-07AA8EA9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91425"/>
            <a:ext cx="1402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尚未完成本機替換與效能實測。國語與長者聲線需以相同素材比較驗收。</a:t>
            </a:r>
          </a:p>
        </p:txBody>
      </p:sp>
      <p:sp>
        <p:nvSpPr>
          <p:cNvPr id="14" name="official">
            <a:extLst xmlns:a="http://schemas.openxmlformats.org/drawingml/2006/main">
              <a:ext uri="{FF2B5EF4-FFF2-40B4-BE49-F238E27FC236}">
                <a16:creationId xmlns:a16="http://schemas.microsoft.com/office/drawing/2014/main" id="{5CDD633E-3F62-4B5B-ACB3-87A7BACE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426B79"/>
                </a:solidFill>
                <a:latin typeface="Microsoft JhengHei"/>
                <a:ea typeface="Microsoft JhengHei"/>
                <a:cs typeface="Microsoft JhengHei"/>
              </a:rPr>
              <a:t>來源：Resemble AI 官方 repo、V3 說明與推論程式（點擊開啟）</a:t>
            </a:r>
          </a:p>
        </p:txBody>
      </p:sp>
    </p:spTree>
    <p:extLst>
      <p:ext uri="{BB962C8B-B14F-4D97-AF65-F5344CB8AC3E}">
        <p14:creationId xmlns:p14="http://schemas.microsoft.com/office/powerpoint/2010/main" val="258628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2026-09-15T14:05:15.5760000Z</dcterms:created>
  <dcterms:modified xsi:type="dcterms:W3CDTF">2026-09-15T14:05:15.5760000Z</dcterms:modified>
</coreProperties>
</file>