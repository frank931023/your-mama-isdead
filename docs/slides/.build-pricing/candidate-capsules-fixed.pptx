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803b942a44f10" /><Relationship Type="http://schemas.openxmlformats.org/officeDocument/2006/relationships/extended-properties" Target="/docProps/app.xml" Id="Re66ba87536cf4ca1" /><Relationship Type="http://schemas.openxmlformats.org/officeDocument/2006/relationships/officeDocument" Target="/ppt/presentation.xml" Id="R942806c088f0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904a5a7614200"/>
  </p:sldMasterIdLst>
  <p:notesMasterIdLst>
    <p:notesMasterId xmlns:r="http://schemas.openxmlformats.org/officeDocument/2006/relationships" r:id="R1d78abeeb21e41b1"/>
  </p:notesMasterIdLst>
  <p:sldIdLst>
    <p:sldId xmlns:r="http://schemas.openxmlformats.org/officeDocument/2006/relationships" id="256" r:id="R4d34d3a7fd3e441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e70857e7942be" /><Relationship Type="http://schemas.openxmlformats.org/officeDocument/2006/relationships/slideMaster" Target="/ppt/slideMasters/slideMaster1.xml" Id="R679904a5a7614200" /><Relationship Type="http://schemas.openxmlformats.org/officeDocument/2006/relationships/notesMaster" Target="/ppt/notesMasters/notesMaster1.xml" Id="R1d78abeeb21e41b1" /><Relationship Type="http://schemas.openxmlformats.org/officeDocument/2006/relationships/presProps" Target="/ppt/presProps.xml" Id="R0d1b3e86f90e4a81" /><Relationship Type="http://schemas.openxmlformats.org/officeDocument/2006/relationships/tableStyles" Target="/ppt/tableStyles.xml" Id="Rf5804b75fb984e9c" /><Relationship Type="http://schemas.openxmlformats.org/officeDocument/2006/relationships/slide" Target="/ppt/slides/slide1.xml" Id="R4d34d3a7fd3e44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70c9a777d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6fbbc97a74ccb" /><Relationship Type="http://schemas.openxmlformats.org/officeDocument/2006/relationships/notesMaster" Target="/ppt/notesMasters/notesMaster1.xml" Id="R78684be68485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Aeterlux SaaS 收費提案｜成本與定價模型</a:t>
            </a:r>
          </a:p>
          <a:p xmlns:a="http://schemas.openxmlformats.org/drawingml/2006/main">
            <a:r>
              <a:t>估算日期：2026-09-15（Asia/Taipei）。以下是試營運方案，並非現有產品已上線的價格或付費功能。幣別新臺幣。標價含稅；模型假設用售價／1.05估不含營業稅收入，採保守成本口徑，不計可扣抵進項稅。未扣所得稅，不是完整財務報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一、為什麼這樣收費</a:t>
            </a:r>
          </a:p>
          <a:p xmlns:a="http://schemas.openxmlformats.org/drawingml/2006/main">
            <a:r>
              <a:t>沿用專案原有的免費追思、標準文字 AI、進階聲音與 3D 三層概念。每位逝者算一份訂閱，家屬共用該塔位的額度，親友來訪不另外收人頭費。免費追思降低初次使用門檻；NT$299 負擔 RAG、語言模型與平台管理；NT$899 支付聲音與動作推理及较高客服需求。一次性分身建置費與永久儲存費各自對應一次性工作，不以新客封存費補貼無上限、終身 AI 算力。</a:t>
            </a:r>
          </a:p>
          <a:p xmlns:a="http://schemas.openxmlformats.org/drawingml/2006/main">
            <a:r>
              <a:t>價格屬成本導向的起始假說，尚未經付費意願訪談、轉換率或留存實驗驗證。先以小規模試營運觀察使用，再調整新增合約。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二、方案與計量規則</a:t>
            </a:r>
          </a:p>
          <a:p xmlns:a="http://schemas.openxmlformats.org/drawingml/2006/main">
            <a:r>
              <a:t>1. 公益追思：NT$0；一個公開追思頁、親友留言、生平及基本照片；100 MiB 一般素材空間。不含 AI、NFT 鑄造或 Arweave 永久封存。免費不等於平台零成本。</a:t>
            </a:r>
          </a:p>
          <a:p xmlns:a="http://schemas.openxmlformats.org/drawingml/2006/main">
            <a:r>
              <a:t>2. 記憶對話：NT$299／月／逝者，按月付款；含免費版功能、AI 文字 300 則／月、1 GiB 一般素材空間、邀請碼與回憶審核。免建置費，資料由使用者自行整理上傳。</a:t>
            </a:r>
          </a:p>
          <a:p xmlns:a="http://schemas.openxmlformats.org/drawingml/2006/main">
            <a:r>
              <a:t>3. 聲影陪伴：NT$899／月／逝者，按月付款；含標準版管理功能，AI 文字額度提高至600則／月，5 GiB 一般素材空間，本人聲音與3D頭像互動，AI生成音訊60分鐘／月。首次建置NT$1,990／逝者，含一張正面照建頭像、一段合格錄音登記、一次驗收和一次重試。此費不含永久封存。進階版可規劃3D靈堂體驗，但不承諾專人主持、無限多人影音房或 LiveKit 媒體費。</a:t>
            </a:r>
          </a:p>
          <a:p xmlns:a="http://schemas.openxmlformats.org/drawingml/2006/main">
            <a:r>
              <a:t>4. 一則指一次成功生成的AI回覆，重試失敗不扣額度；每則上限300個輸出token、總上下文上限8K token，作為成本模型假設。語音回覆也計入600則文字額度。60分鐘按成功生成的音訊秒數累加，非使用者觀看時長；同份音訊重播不重扣，重新生成算新的使用量。單段最多60秒。每月額度重置、不累積。每塔位同時一個AI會話，伺服器壅塞時排隊。</a:t>
            </a:r>
          </a:p>
          <a:p xmlns:a="http://schemas.openxmlformats.org/drawingml/2006/main">
            <a:r>
              <a:t>5. 使用者輸入語音辨識另含60分鐘／月，避免輸入極長錄音形成不受控成本。加購30分鐘包NT$199，同時追加30分鐘音訊生成、30分鐘輸入辨識與最多300則回覆額度；限同一結算月用完。達上限先提示選購，不自動超額扣款。</a:t>
            </a:r>
          </a:p>
          <a:p xmlns:a="http://schemas.openxmlformats.org/drawingml/2006/main">
            <a:r>
              <a:t>6. 一般素材空間是平台運作期間的可更新儲存，不是每月可新增相同量的永久儲存。月費取消後AI停用，已付費永久封存的資料仍依儲存協議存在，NFT不因欠月費而被撤回；免費追思頁依平台營運政策提供，不把鏈上保存與平台網站終身可用混為一談。免費版降級可先提供30天匯出窗口，超額一般素材的保存期限須在正式條款明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三、本地設備購入成本（資本支出）</a:t>
            </a:r>
          </a:p>
          <a:p xmlns:a="http://schemas.openxmlformats.org/drawingml/2006/main">
            <a:r>
              <a:t>本repo部署文件指定RTX5090 32GB；這裡用目前可查到的同級整機價格估重置成本，不宣稱是團隊原始購買發票。</a:t>
            </a:r>
          </a:p>
          <a:p xmlns:a="http://schemas.openxmlformats.org/drawingml/2006/main">
            <a:r>
              <a:t>可查通路標价：欣亞 MSI MEG Vision X AI 2NVZ9-016TW，Core Ultra 9-285K／RTX5090 32GB／DDR5 64GB／2TB SSD／1200W電源／Windows 11 Pro，頁面NT$249,800。頁面顯示貨到通知，價格可作參考但不代表現貨。整機已含CPU、RAM、SSD、機殼、散熱與電源，不再重複加計顯卡。</a:t>
            </a:r>
          </a:p>
          <a:p xmlns:a="http://schemas.openxmlformats.org/drawingml/2006/main">
            <a:r>
              <a:t>設備預算：整機249,800＋UPS 10,000＋外接備份碟6,000＋網路設備4,000＝NT$269,800。後三項是規劃預算，不是廠商報價。不含辦公室、第二台容錯機、額外冷氣裝機。</a:t>
            </a:r>
          </a:p>
          <a:p xmlns:a="http://schemas.openxmlformats.org/drawingml/2006/main">
            <a:r>
              <a:t>直線攤提假設36個月、殘值0：269,800／36＝NT$7,494.44／月。帳上採此折舊時，不再把同筆購入款全額列每月成本；啟動現金仍需先準備269,800。若设备已经买好，现金增支较低，但更换准备金不应视为0。</a:t>
            </a:r>
          </a:p>
          <a:p xmlns:a="http://schemas.openxmlformats.org/drawingml/2006/main">
            <a:r>
              <a:t>來源：https://www.sinya.com.tw/prod/214584</a:t>
            </a:r>
          </a:p>
          <a:p xmlns:a="http://schemas.openxmlformats.org/drawingml/2006/main">
            <a:r>
              <a:t>規格交叉參考：https://www.nvidia.com/zh-tw/geforce/graphics-cards/50-series/rtx-5090/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四、電費與每分鐘推理成本</a:t>
            </a:r>
          </a:p>
          <a:p xmlns:a="http://schemas.openxmlformats.org/drawingml/2006/main">
            <a:r>
              <a:t>所有功耗為待電表量測的假設，不把1200W電源額定功率當耗電量。模型假設整機待機0.15kW、推理滿載0.90kW，每月730小時，冷卻與供電額外20%，規劃電價NT$5／kWh。台電實際按用戶別、用量和季節分級，5元只是預算單價，不是宣稱適用固定費率。</a:t>
            </a:r>
          </a:p>
          <a:p xmlns:a="http://schemas.openxmlformats.org/drawingml/2006/main">
            <a:r>
              <a:t>基礎待機電費＝0.15×730×5×1.2＝NT$657.00／月。</a:t>
            </a:r>
          </a:p>
          <a:p xmlns:a="http://schemas.openxmlformats.org/drawingml/2006/main">
            <a:r>
              <a:t>增量忙碌電費＝(0.90−0.15)×5×1.2＝NT$4.50／GPU忙碌小時。待機已列固定成本，變動成本只加功耗差，避免重複。</a:t>
            </a:r>
          </a:p>
          <a:p xmlns:a="http://schemas.openxmlformats.org/drawingml/2006/main">
            <a:r>
              <a:t>若整月满载，電費上限情境＝0.90×730×5×1.2＝NT$3,942。每度7元時，同式為5,518.80，實際依電表及帳單。</a:t>
            </a:r>
          </a:p>
          <a:p xmlns:a="http://schemas.openxmlformats.org/drawingml/2006/main">
            <a:r>
              <a:t>本地 SERVER.md 記載 IndexTTS2 RTF約2.7，LAM單照建置約100秒，並提醒模型同時載入時顯存接近滿載。這是專案文件數據，本次未重測。為算容量，語音＋動作合成採3.5 GPU分鐘／1分鐘生成音訊，另加每次LLM文字回覆2秒忙碌時間。2秒是假設，不能由首token100ms直接推成完整回覆耗時。</a:t>
            </a:r>
          </a:p>
          <a:p xmlns:a="http://schemas.openxmlformats.org/drawingml/2006/main">
            <a:r>
              <a:t>標準版滿額GPU時間＝300×2／3600＝0.17小時／月；增量電費NT$0.75。</a:t>
            </a:r>
          </a:p>
          <a:p xmlns:a="http://schemas.openxmlformats.org/drawingml/2006/main">
            <a:r>
              <a:t>進階版滿額GPU時間＝600×2／3600＋60×3.5／60＝3.83小時／月；增量電費NT$17.25。</a:t>
            </a:r>
          </a:p>
          <a:p xmlns:a="http://schemas.openxmlformats.org/drawingml/2006/main">
            <a:r>
              <a:t>語音辨識预算NT$0.50／輸入分鐘，60分鐘＝30元／進階戶／月。這是包含網路、供應商費率波動的預留，不是OpenAI報價；目前程式可能走外部轉錄API，不能視為自架所以全免費。若改本地轉錄，應移除API預留並補入GPU時數。</a:t>
            </a:r>
          </a:p>
          <a:p xmlns:a="http://schemas.openxmlformats.org/drawingml/2006/main">
            <a:r>
              <a:t>電價參考：https://www.taipower.com.tw/media/05klpxyd/1140930_114%E5%B9%B410%E6%9C%88%E9%9B%BB%E5%83%B9%E5%85%AC%E5%91%8A.pdf?mediaDL=true</a:t>
            </a:r>
          </a:p>
          <a:p xmlns:a="http://schemas.openxmlformats.org/drawingml/2006/main">
            <a:r>
              <a:t>本地資料：docs/server/SERVER.md 第11、12節；backend/src/cloud-persona.ts 的轉錄流程。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五、Arweave 永久儲存成本與定價</a:t>
            </a:r>
          </a:p>
          <a:p xmlns:a="http://schemas.openxmlformats.org/drawingml/2006/main">
            <a:r>
              <a:t>使用repo已存在的ArDrive Turbo連接Arweave作計價基準，未採未實作的Irys driver報價。1 GiB＝1,073,741,824 bytes；1 MiB＝1,048,576 bytes，不與十進位GB混用。</a:t>
            </a:r>
          </a:p>
          <a:p xmlns:a="http://schemas.openxmlformats.org/drawingml/2006/main">
            <a:r>
              <a:t>報價擷取：2026-09-15T08:55:00.5492604+08:00。GET https://payment.ardrive.io/v1/rates 得每GiB WINC=13973874534303，fiat.usd=60.62511721036；GET https://payment.ardrive.io/v1/price/bytes/1073741824 得1GiB單一data item WINC=13973881626502。</a:t>
            </a:r>
          </a:p>
          <a:p xmlns:a="http://schemas.openxmlformats.org/drawingml/2006/main">
            <a:r>
              <a:t>依官方SDK公式：USD成本＝bytes報價WINC／每GiB WINC×每GiB USD。代入為US$60.625148，依SDK向上取兩位小數約US$60.63／GiB。這裡是美元，不是美分；/price/usd/金額這另一種端點才以美分輸入，不能混用。</a:t>
            </a:r>
          </a:p>
          <a:p xmlns:a="http://schemas.openxmlformats.org/drawingml/2006/main">
            <a:r>
              <a:t>規劃匯率USD/TWD＝32。台銀查詢頁當時可見即期賣出31.765，採32作估算，不宣稱實際扣款匯率。NT$1,940.00／GiB原始成本。</a:t>
            </a:r>
          </a:p>
          <a:p xmlns:a="http://schemas.openxmlformats.org/drawingml/2006/main">
            <a:r>
              <a:t>每個data item有額外小額處理成本，/rates 也回傳perDataItemFeeWinc=7092199。上面單檔quote已含一項，不能重複加計；為一千個小檔以內的封存包再預留NT$5管理差額。含20%價格／匯率／重試緩衝：ceil[(1,940.00＋5)×1.20]＝NT$2335／GiB。實際大量檔案要依加密後每個檔案的簽名封裝大小逐檔查價，而非只看原檔大小。</a:t>
            </a:r>
          </a:p>
          <a:p xmlns:a="http://schemas.openxmlformats.org/drawingml/2006/main">
            <a:r>
              <a:t>不將小檔免費補貼當永久商業前提；官方免費層有大小及累計額度限制。更新的照片或新版本都會新增上傳成本，已封存的額度不是可以刪除後回收再用的硬碟空間。</a:t>
            </a:r>
          </a:p>
          <a:p xmlns:a="http://schemas.openxmlformats.org/drawingml/2006/main">
            <a:r>
              <a:t>本次單價偏高，因此不沿用舊文件的US$5或US$20範例值；購買時重新查詢、在確認付款前鎖定該筆報價，若成本超過這份假設20%以上就暫停原價新單、更新報價。既有已成功封存資料不因新價格變動補收月租。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https://docs.ar.io/sdks/turbo-sdk/turbounauthenticatedclient/</a:t>
            </a:r>
          </a:p>
          <a:p xmlns:a="http://schemas.openxmlformats.org/drawingml/2006/main">
            <a:r>
              <a:t>https://raw.githubusercontent.com/ardriveapp/turbo-sdk/main/packages/turbo-sdk/src/common/payment.ts</a:t>
            </a:r>
          </a:p>
          <a:p xmlns:a="http://schemas.openxmlformats.org/drawingml/2006/main">
            <a:r>
              <a:t>https://docs.ar.io/build/upload/turbo-credits</a:t>
            </a:r>
          </a:p>
          <a:p xmlns:a="http://schemas.openxmlformats.org/drawingml/2006/main">
            <a:r>
              <a:t>https://payment.ardrive.io/v1/rates</a:t>
            </a:r>
          </a:p>
          <a:p xmlns:a="http://schemas.openxmlformats.org/drawingml/2006/main">
            <a:r>
              <a:t>https://payment.ardrive.io/v1/price/bytes/1073741824</a:t>
            </a:r>
          </a:p>
          <a:p xmlns:a="http://schemas.openxmlformats.org/drawingml/2006/main">
            <a:r>
              <a:t>https://rate.bot.com.tw/xrt?Lang=zh-TW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六、一次性收入的成本拆解</a:t>
            </a:r>
          </a:p>
          <a:p xmlns:a="http://schemas.openxmlformats.org/drawingml/2006/main">
            <a:r>
              <a:t>A. 永久封存包 NT$4,990／逝者／首1GiB：包括素材封存、驗證、索引清單、NFT建立協助與交付取回說明，不包含聲音與3D建置（另計1,990）。依加密後實際上傳總量計配額。</a:t>
            </a:r>
          </a:p>
          <a:p xmlns:a="http://schemas.openxmlformats.org/drawingml/2006/main">
            <a:r>
              <a:t>保守成本＝Arweave預留2335＋人工整理1.5小時×400元=600＋鏈上交易預算150＋校驗交付100＋金流150.70＋重做／售後預備200＝NT$3,535.70。</a:t>
            </a:r>
          </a:p>
          <a:p xmlns:a="http://schemas.openxmlformats.org/drawingml/2006/main">
            <a:r>
              <a:t>4990／1.05−3,535.70＝NT$1,216.68／單，為上述假設下的貢獻餘額，尚須支撐開發、獲客等費用。網路備份費與持續索引成本另在月費模型，不能說4990全是Arweave成本。</a:t>
            </a:r>
          </a:p>
          <a:p xmlns:a="http://schemas.openxmlformats.org/drawingml/2006/main">
            <a:r>
              <a:t>鏈上150元只是假設的測試營運預留，Sepolia測試幣不代表商用免費。正式部署的鏈、gas及交易筆數須另查，不足時在付款前報價。Lit並未接入主流程，商用前需補實作及實際供應商費用；此模型以每月RPC／金鑰服務預留承接，不聲稱平台已能保證只有家屬解密。</a:t>
            </a:r>
          </a:p>
          <a:p xmlns:a="http://schemas.openxmlformats.org/drawingml/2006/main">
            <a:r>
              <a:t>B. 追加封存 NT$3,490／GiB，按實際新增量向上到0.1GiB計費，單次最低0.1GiB，版本重傳算新增量。每GiB成本2335＋操作協助100＋校驗50＋金流105.70＝NT$2,590.70，不含稅收入扣此成本餘額NT$733.11。多GiB订单合併一次金流會略省手續費，本估計未計折扣。</a:t>
            </a:r>
          </a:p>
          <a:p xmlns:a="http://schemas.openxmlformats.org/drawingml/2006/main">
            <a:r>
              <a:t>C. 進階分身建置 NT$1,990：人工素材檢查／調整／驗收1.5小時×400＝600；建置及重試預留10分鐘GPU增量電費0.75；臨時輸出50；金流60.70；修正預備200，合計NT$911.45。不含稅收入扣此成本餘額NT$983.79。GPU設備折舊已在月固定成本，不在此重复算。需要人工修復老照片、多人去噪或重做新面容，另外評估；不承諾每種素材都能達同品質，無法驗收時按事前約定重試或退費。</a:t>
            </a:r>
          </a:p>
          <a:p xmlns:a="http://schemas.openxmlformats.org/drawingml/2006/main">
            <a:r>
              <a:t>D. 加購30分鐘 NT$199：保守另配300則回覆，GPU時間=(30×3.5／60＋300×2／3600)=1.9167小時，增量電费8.625；輸入辨識30×0.5=15；處理預留10；金流6.97，合計40.595。199／1.05−40.595＝NT$148.93／包，但還會占用可出售容量，不能因電费低便無限出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七、每月固定與變動成本</a:t>
            </a:r>
          </a:p>
          <a:p xmlns:a="http://schemas.openxmlformats.org/drawingml/2006/main">
            <a:r>
              <a:t>月固定：設備折舊7,494.44＋待機電费657.00＋網路1,200＋主站／DB／備份／CDN1,800＋RPC／Lit金鑰服務預留1,000＋維修預備2,000＋免費版營運預算1,500＝NT$15,651.44。</a:t>
            </a:r>
          </a:p>
          <a:p xmlns:a="http://schemas.openxmlformats.org/drawingml/2006/main">
            <a:r>
              <a:t>除設備報價與電費公式外，其餘均為預算假設，未取得雲端、RPC、Lit等正式合約報價。免費池假設500戶，每戶平均3元／月，僅支應低流量文字照片追思；非無限影音。免費流量成長時提高此預算或以公益贊助支付。</a:t>
            </a:r>
          </a:p>
          <a:p xmlns:a="http://schemas.openxmlformats.org/drawingml/2006/main">
            <a:r>
              <a:t>金流查核：綠界一般賣家國內卡費率2.75%未稅，加5%手續費稅與每筆1元處理費。模型以售價×3%＋1向上預留，299→9.97、899→27.97。小額交易要注意最低5元規則；本模型各單價均高於門檻。正式定期扣款資格或特約年費需另外談合約，沒有藏在此假設裡。</a:t>
            </a:r>
          </a:p>
          <a:p xmlns:a="http://schemas.openxmlformats.org/drawingml/2006/main">
            <a:r>
              <a:t>標準戶每月變動成本：GPU增量電費0.75＋客服／通知／資料處理20＋金流9.97＝NT$30.72。每戶貢獻＝299／1.05−30.72＝254.04。</a:t>
            </a:r>
          </a:p>
          <a:p xmlns:a="http://schemas.openxmlformats.org/drawingml/2006/main">
            <a:r>
              <a:t>進階戶每月變動成本：GPU增量電費17.25＋輸入辨識30＋客服／資料處理40＋金流27.97＝NT$115.22。每戶貢獻＝899／1.05−115.22＝740.97。</a:t>
            </a:r>
          </a:p>
          <a:p xmlns:a="http://schemas.openxmlformats.org/drawingml/2006/main">
            <a:r>
              <a:t>金流來源：https://www.ecpay.com.tw/Business/payment_fees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八、100個付費塔位的損益與容量示例</a:t>
            </a:r>
          </a:p>
          <a:p xmlns:a="http://schemas.openxmlformats.org/drawingml/2006/main">
            <a:r>
              <a:t>假設標準60戶、進階40戶，500免費戶，全部用滿額度。月含稅收款＝60×299＋40×899＝53,900。不含稅收入＝51,333.33；變動成本＝60×30.72＋40×115.22＝6,452.00；固定成本15,651.44；扣除後餘額NT$29,229.89。這不是淨利，尚未扣人事、研发、獲客、辦公室租金、法務與所得稅，也未把一次性收入當固定經常收入。</a:t>
            </a:r>
          </a:p>
          <a:p xmlns:a="http://schemas.openxmlformats.org/drawingml/2006/main">
            <a:r>
              <a:t>在60/40組合下，單戶平均贡献=448.81；基礎維運損益兩平＝ceil(15,651.44／448.81)＝35個付費塔位。這只代表可覆蓋本表成本，不代表公司養得起團隊。</a:t>
            </a:r>
          </a:p>
          <a:p xmlns:a="http://schemas.openxmlformats.org/drawingml/2006/main">
            <a:r>
              <a:t>若再加每月人事／開發／行銷預算100,000，單機紙上需258戶；但滿額GPU需求會超過下述保守容量，不能把紙上數字直接當可實現獲利。</a:t>
            </a:r>
          </a:p>
          <a:p xmlns:a="http://schemas.openxmlformats.org/drawingml/2006/main">
            <a:r>
              <a:t>容量：標準60×0.17＋進階40×3.83＝163.33 GPU忙碌小時／月。單機規劃730×40%=292可出售小時，其他時間留尖峰、維護、空閒與新分身建置，使用率不是保證併發能力。100戶在月總量上容納得下，但需要限流與排隊驗證尖峰。原架構TTS RTF2.7意味着生成比播放慢，不能宣稱低延遲無限即時對話。</a:t>
            </a:r>
          </a:p>
          <a:p xmlns:a="http://schemas.openxmlformats.org/drawingml/2006/main">
            <a:r>
              <a:t>若仍是60/40且全部用滿，一台只規劃約floor[292／(0.6×0.17＋0.4×3.83)]=178戶，建置工作另占容量，因此實務門檻更低。</a:t>
            </a:r>
          </a:p>
          <a:p xmlns:a="http://schemas.openxmlformats.org/drawingml/2006/main">
            <a:r>
              <a:t>擴為兩台，每月多計第二台同級設備折舊7,494.44＋待機657.00＋維修預備1,000＝9,151.44。加100,000元人事後損益兩平＝ceil[(15,651.44＋9,151.44＋100,000)／448.81]＝279付費塔位。兩台保守容量584小時，該戶數約455.70小時；仍須實测併發、排程、備援與雲端流量。這個例子說明擴客同時需要擴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九、敏感度與正式營運前要補的成本</a:t>
            </a:r>
          </a:p>
          <a:p xmlns:a="http://schemas.openxmlformats.org/drawingml/2006/main">
            <a:r>
              <a:t>Arweave漲50%：成本由1,940.00增至2,910.01／GiB，會吃掉封存加購利潤，需動態報價，不能鎖死終身新增空間。</a:t>
            </a:r>
          </a:p>
          <a:p xmlns:a="http://schemas.openxmlformats.org/drawingml/2006/main">
            <a:r>
              <a:t>僅20付費戶且仍維持500免費戶：20×448.81−15,651.44＝NT$-6,675.18／月，需要啟動資金。設備269,800加三個月固定營運現金（扣非現金折舊）約NT$294,271.00；不含生活薪資、正式安全實作與開發支出。</a:t>
            </a:r>
          </a:p>
          <a:p xmlns:a="http://schemas.openxmlformats.org/drawingml/2006/main">
            <a:r>
              <a:t>若GPU語音效率由3.5變成7分钟／輸出分鐘，語音容量约減半，須縮減銷售量或加機，不能只加幾元電費就算解決。</a:t>
            </a:r>
          </a:p>
          <a:p xmlns:a="http://schemas.openxmlformats.org/drawingml/2006/main">
            <a:r>
              <a:t>未報價項：模型和FLAME等素材商業授權、正式Lit網路费用、MPC登入、主網gas、大量影片流量、LiveKit多人影音、資安測試、備援主機、支付合約費、客服超量及正式部署工時。這些必須在商用前確認，不因模型開源或設備自有就記為零。月費是試營運提案，正式發布需用上述結果重算。</a:t>
            </a:r>
          </a:p>
          <a:p xmlns:a="http://schemas.openxmlformats.org/drawingml/2006/main">
            <a:r>
              <a:t>本頁價格透明列額度，無自動超額收費；以可持續運作支撐免費追思，避免以情緒壓力促銷。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b50b71b8548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1b5b38b6a479c" /><Relationship Type="http://schemas.openxmlformats.org/officeDocument/2006/relationships/slideLayout" Target="/ppt/slideLayouts/slideLayout1.xml" Id="R90dc1b875f7247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dc1b875f7247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c867e6e3c4167" /><Relationship Type="http://schemas.openxmlformats.org/officeDocument/2006/relationships/notesSlide" Target="/ppt/notesSlides/notesSlide1.xml" Id="Radd5df68e63a45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roposal">
            <a:extLst xmlns:a="http://schemas.openxmlformats.org/drawingml/2006/main">
              <a:ext uri="{FF2B5EF4-FFF2-40B4-BE49-F238E27FC236}">
                <a16:creationId xmlns:a16="http://schemas.microsoft.com/office/drawing/2014/main" id="{F5995CCB-D47B-47E0-A300-078EA7F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SaaS 收費提案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A6A7B-8361-484F-9E92-86A671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4020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免費追思，依需求開啟 AI 陪伴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E1B1ECC-FCBF-4417-9070-F114ECCD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400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月費支付持續互動與維運，分身建置及永久封存採一次性收費。</a:t>
            </a:r>
          </a:p>
        </p:txBody>
      </p:sp>
      <p:sp>
        <p:nvSpPr>
          <p:cNvPr id="5" name="plan-0">
            <a:extLst xmlns:a="http://schemas.openxmlformats.org/drawingml/2006/main">
              <a:ext uri="{FF2B5EF4-FFF2-40B4-BE49-F238E27FC236}">
                <a16:creationId xmlns:a16="http://schemas.microsoft.com/office/drawing/2014/main" id="{8E073DD5-3B90-4CE6-ACE0-60FA297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公益追思</a:t>
            </a:r>
          </a:p>
        </p:txBody>
      </p:sp>
      <p:sp>
        <p:nvSpPr>
          <p:cNvPr id="6" name="plan-1">
            <a:extLst xmlns:a="http://schemas.openxmlformats.org/drawingml/2006/main">
              <a:ext uri="{FF2B5EF4-FFF2-40B4-BE49-F238E27FC236}">
                <a16:creationId xmlns:a16="http://schemas.microsoft.com/office/drawing/2014/main" id="{691C6373-A806-481E-8707-7CCBBD7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記憶對話</a:t>
            </a:r>
          </a:p>
        </p:txBody>
      </p:sp>
      <p:sp>
        <p:nvSpPr>
          <p:cNvPr id="7" name="plan-2">
            <a:extLst xmlns:a="http://schemas.openxmlformats.org/drawingml/2006/main">
              <a:ext uri="{FF2B5EF4-FFF2-40B4-BE49-F238E27FC236}">
                <a16:creationId xmlns:a16="http://schemas.microsoft.com/office/drawing/2014/main" id="{0A8E2467-259E-42EF-8E8C-04B4C783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314575"/>
            <a:ext cx="3619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聲影陪伴</a:t>
            </a:r>
          </a:p>
        </p:txBody>
      </p:sp>
      <p:sp>
        <p:nvSpPr>
          <p:cNvPr id="8" name="price-0">
            <a:extLst xmlns:a="http://schemas.openxmlformats.org/drawingml/2006/main">
              <a:ext uri="{FF2B5EF4-FFF2-40B4-BE49-F238E27FC236}">
                <a16:creationId xmlns:a16="http://schemas.microsoft.com/office/drawing/2014/main" id="{3050D1F7-E096-4B86-AF54-4CC4575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NT$0</a:t>
            </a:r>
          </a:p>
        </p:txBody>
      </p:sp>
      <p:sp>
        <p:nvSpPr>
          <p:cNvPr id="9" name="price-1">
            <a:extLst xmlns:a="http://schemas.openxmlformats.org/drawingml/2006/main">
              <a:ext uri="{FF2B5EF4-FFF2-40B4-BE49-F238E27FC236}">
                <a16:creationId xmlns:a16="http://schemas.microsoft.com/office/drawing/2014/main" id="{98C5CC21-625B-46C1-8967-0543C31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NT$299</a:t>
            </a:r>
          </a:p>
        </p:txBody>
      </p:sp>
      <p:sp>
        <p:nvSpPr>
          <p:cNvPr id="10" name="price-2">
            <a:extLst xmlns:a="http://schemas.openxmlformats.org/drawingml/2006/main">
              <a:ext uri="{FF2B5EF4-FFF2-40B4-BE49-F238E27FC236}">
                <a16:creationId xmlns:a16="http://schemas.microsoft.com/office/drawing/2014/main" id="{D364AD66-593E-4ABF-A2F2-EED1F67C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00350"/>
            <a:ext cx="361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0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NT$899</a:t>
            </a:r>
          </a:p>
        </p:txBody>
      </p:sp>
      <p:sp>
        <p:nvSpPr>
          <p:cNvPr id="11" name="billing-0">
            <a:extLst xmlns:a="http://schemas.openxmlformats.org/drawingml/2006/main">
              <a:ext uri="{FF2B5EF4-FFF2-40B4-BE49-F238E27FC236}">
                <a16:creationId xmlns:a16="http://schemas.microsoft.com/office/drawing/2014/main" id="{3F8A6136-CC42-4BD7-BC7F-D1EF6A4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免費使用</a:t>
            </a:r>
          </a:p>
        </p:txBody>
      </p:sp>
      <p:sp>
        <p:nvSpPr>
          <p:cNvPr id="12" name="billing-1">
            <a:extLst xmlns:a="http://schemas.openxmlformats.org/drawingml/2006/main">
              <a:ext uri="{FF2B5EF4-FFF2-40B4-BE49-F238E27FC236}">
                <a16:creationId xmlns:a16="http://schemas.microsoft.com/office/drawing/2014/main" id="{A23C94DE-78AC-4864-B723-4BAFABA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3" name="billing-2">
            <a:extLst xmlns:a="http://schemas.openxmlformats.org/drawingml/2006/main">
              <a:ext uri="{FF2B5EF4-FFF2-40B4-BE49-F238E27FC236}">
                <a16:creationId xmlns:a16="http://schemas.microsoft.com/office/drawing/2014/main" id="{9D42496E-BD82-4A79-B669-34F229B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29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每月／每位逝者</a:t>
            </a:r>
          </a:p>
        </p:txBody>
      </p:sp>
      <p:sp>
        <p:nvSpPr>
          <p:cNvPr id="15" name="setup-0">
            <a:extLst xmlns:a="http://schemas.openxmlformats.org/drawingml/2006/main">
              <a:ext uri="{FF2B5EF4-FFF2-40B4-BE49-F238E27FC236}">
                <a16:creationId xmlns:a16="http://schemas.microsoft.com/office/drawing/2014/main" id="{EE6131F8-61EB-4888-A452-A74EBC08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6" name="setup-1">
            <a:extLst xmlns:a="http://schemas.openxmlformats.org/drawingml/2006/main">
              <a:ext uri="{FF2B5EF4-FFF2-40B4-BE49-F238E27FC236}">
                <a16:creationId xmlns:a16="http://schemas.microsoft.com/office/drawing/2014/main" id="{60B7CE29-7F08-4C24-A3B7-E01AD79E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免建置費</a:t>
            </a:r>
          </a:p>
        </p:txBody>
      </p:sp>
      <p:sp>
        <p:nvSpPr>
          <p:cNvPr id="17" name="setup-2">
            <a:extLst xmlns:a="http://schemas.openxmlformats.org/drawingml/2006/main">
              <a:ext uri="{FF2B5EF4-FFF2-40B4-BE49-F238E27FC236}">
                <a16:creationId xmlns:a16="http://schemas.microsoft.com/office/drawing/2014/main" id="{B172FF1D-DBB5-42E8-A0BD-DD361B0F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6292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首次分身建置 NT$1,990</a:t>
            </a:r>
          </a:p>
        </p:txBody>
      </p:sp>
      <p:sp>
        <p:nvSpPr>
          <p:cNvPr id="18" name="archive">
            <a:extLst xmlns:a="http://schemas.openxmlformats.org/drawingml/2006/main">
              <a:ext uri="{FF2B5EF4-FFF2-40B4-BE49-F238E27FC236}">
                <a16:creationId xmlns:a16="http://schemas.microsoft.com/office/drawing/2014/main" id="{ED1C554E-0BD5-4AF6-8DEA-996E9A8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02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永久封存選購　NT$4,990／首 1 GiB；追加 NT$3,490／GiB</a:t>
            </a:r>
          </a:p>
        </p:txBody>
      </p:sp>
      <p:sp>
        <p:nvSpPr>
          <p:cNvPr id="19" name="extra">
            <a:extLst xmlns:a="http://schemas.openxmlformats.org/drawingml/2006/main">
              <a:ext uri="{FF2B5EF4-FFF2-40B4-BE49-F238E27FC236}">
                <a16:creationId xmlns:a16="http://schemas.microsoft.com/office/drawing/2014/main" id="{9DA27AAE-330A-4B91-A0EB-50FE27F0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語音加購 NT$199／30 分鐘　　月費取消後，已完成的永久封存仍保留。</a:t>
            </a:r>
          </a:p>
        </p:txBody>
      </p:sp>
      <p:sp>
        <p:nvSpPr>
          <p:cNvPr id="20" name="terms">
            <a:extLst xmlns:a="http://schemas.openxmlformats.org/drawingml/2006/main">
              <a:ext uri="{FF2B5EF4-FFF2-40B4-BE49-F238E27FC236}">
                <a16:creationId xmlns:a16="http://schemas.microsoft.com/office/drawing/2014/main" id="{07C2D904-6A15-412A-A355-99DA7C4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1402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試營運建議價，均為新臺幣含稅。素材空間為一般儲存；語音按成功生成音訊計量。成本假設與來源詳見備註。</a:t>
            </a:r>
          </a:p>
        </p:txBody>
      </p:sp>
      <p:sp>
        <p:nvSpPr>
          <p:cNvPr id="23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144694CD-C4A5-4569-9D9A-0FAAD13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14020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＊成本費用（估算）</a:t>
            </a:r>
          </a:p>
        </p:txBody>
      </p:sp>
      <p:sp>
        <p:nvSpPr>
          <p:cNvPr id="24" name="cost-local">
            <a:extLst xmlns:a="http://schemas.openxmlformats.org/drawingml/2006/main">
              <a:ext uri="{FF2B5EF4-FFF2-40B4-BE49-F238E27FC236}">
                <a16:creationId xmlns:a16="http://schemas.microsoft.com/office/drawing/2014/main" id="{BC175532-4377-478C-8F3D-0EDA2E3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本地建置約 NT$27 萬（RTX 5090 整機、UPS 與備援），36 個月攤提約 NT$7,494／月。</a:t>
            </a:r>
          </a:p>
        </p:txBody>
      </p:sp>
      <p:sp>
        <p:nvSpPr>
          <p:cNvPr id="25" name="cost-arweave">
            <a:extLst xmlns:a="http://schemas.openxmlformats.org/drawingml/2006/main">
              <a:ext uri="{FF2B5EF4-FFF2-40B4-BE49-F238E27FC236}">
                <a16:creationId xmlns:a16="http://schemas.microsoft.com/office/drawing/2014/main" id="{132BC5EB-C3DD-46B6-8213-07CFB8F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152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約 NT$1,940／GiB，含緩衝預算約 NT$2,335／GiB（一次性，2026/09/15 查價）。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5F1F320-FCF8-4203-8B26-3EC1C6E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101CABF6-0885-4693-982C-D9B1B3C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7B7B45DF-3A13-4EE9-A030-4289D354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52650"/>
            <a:ext cx="4191000" cy="4095750"/>
          </a:xfrm>
          <a:prstGeom xmlns:a="http://schemas.openxmlformats.org/drawingml/2006/main" prst="roundRect">
            <a:avLst>
              <a:gd name="adj" fmla="val 41860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feature-0-0">
            <a:extLst xmlns:a="http://schemas.openxmlformats.org/drawingml/2006/main">
              <a:ext uri="{FF2B5EF4-FFF2-40B4-BE49-F238E27FC236}">
                <a16:creationId xmlns:a16="http://schemas.microsoft.com/office/drawing/2014/main" id="{291DEC81-807A-46E6-BB56-54AFDD66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公開追思頁、親友留言</a:t>
            </a:r>
          </a:p>
        </p:txBody>
      </p:sp>
      <p:sp>
        <p:nvSpPr>
          <p:cNvPr id="30" name="feature-0-1">
            <a:extLst xmlns:a="http://schemas.openxmlformats.org/drawingml/2006/main">
              <a:ext uri="{FF2B5EF4-FFF2-40B4-BE49-F238E27FC236}">
                <a16:creationId xmlns:a16="http://schemas.microsoft.com/office/drawing/2014/main" id="{4D5D8201-79E6-4C0A-9CD9-326D2A9A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100 MiB 素材空間</a:t>
            </a:r>
          </a:p>
        </p:txBody>
      </p:sp>
      <p:sp>
        <p:nvSpPr>
          <p:cNvPr id="31" name="feature-0-2">
            <a:extLst xmlns:a="http://schemas.openxmlformats.org/drawingml/2006/main">
              <a:ext uri="{FF2B5EF4-FFF2-40B4-BE49-F238E27FC236}">
                <a16:creationId xmlns:a16="http://schemas.microsoft.com/office/drawing/2014/main" id="{8B8EB813-3AEA-4381-8CE3-071E967C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基本照片與生平</a:t>
            </a:r>
          </a:p>
        </p:txBody>
      </p:sp>
      <p:sp>
        <p:nvSpPr>
          <p:cNvPr id="32" name="feature-0-3">
            <a:extLst xmlns:a="http://schemas.openxmlformats.org/drawingml/2006/main">
              <a:ext uri="{FF2B5EF4-FFF2-40B4-BE49-F238E27FC236}">
                <a16:creationId xmlns:a16="http://schemas.microsoft.com/office/drawing/2014/main" id="{21EA0E0F-595A-442C-9519-3109EB9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不含 AI 對話</a:t>
            </a:r>
          </a:p>
        </p:txBody>
      </p:sp>
      <p:sp>
        <p:nvSpPr>
          <p:cNvPr id="33" name="feature-1-0">
            <a:extLst xmlns:a="http://schemas.openxmlformats.org/drawingml/2006/main">
              <a:ext uri="{FF2B5EF4-FFF2-40B4-BE49-F238E27FC236}">
                <a16:creationId xmlns:a16="http://schemas.microsoft.com/office/drawing/2014/main" id="{9729F996-0354-4CC0-9EB8-4E030D2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含免費版追思功能</a:t>
            </a:r>
          </a:p>
        </p:txBody>
      </p:sp>
      <p:sp>
        <p:nvSpPr>
          <p:cNvPr id="34" name="feature-1-1">
            <a:extLst xmlns:a="http://schemas.openxmlformats.org/drawingml/2006/main">
              <a:ext uri="{FF2B5EF4-FFF2-40B4-BE49-F238E27FC236}">
                <a16:creationId xmlns:a16="http://schemas.microsoft.com/office/drawing/2014/main" id="{F9D4B079-E9BD-4B0B-8CDB-6E46BC0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300 則／月</a:t>
            </a:r>
          </a:p>
        </p:txBody>
      </p:sp>
      <p:sp>
        <p:nvSpPr>
          <p:cNvPr id="35" name="feature-1-2">
            <a:extLst xmlns:a="http://schemas.openxmlformats.org/drawingml/2006/main">
              <a:ext uri="{FF2B5EF4-FFF2-40B4-BE49-F238E27FC236}">
                <a16:creationId xmlns:a16="http://schemas.microsoft.com/office/drawing/2014/main" id="{2A881A93-4D39-4168-95AE-FB19F890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1 GiB 素材空間</a:t>
            </a:r>
          </a:p>
        </p:txBody>
      </p:sp>
      <p:sp>
        <p:nvSpPr>
          <p:cNvPr id="36" name="feature-1-3">
            <a:extLst xmlns:a="http://schemas.openxmlformats.org/drawingml/2006/main">
              <a:ext uri="{FF2B5EF4-FFF2-40B4-BE49-F238E27FC236}">
                <a16:creationId xmlns:a16="http://schemas.microsoft.com/office/drawing/2014/main" id="{004D8C8B-2E53-4485-A288-AA906D0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邀請碼、回憶審核</a:t>
            </a:r>
          </a:p>
        </p:txBody>
      </p:sp>
      <p:sp>
        <p:nvSpPr>
          <p:cNvPr id="37" name="feature-2-0">
            <a:extLst xmlns:a="http://schemas.openxmlformats.org/drawingml/2006/main">
              <a:ext uri="{FF2B5EF4-FFF2-40B4-BE49-F238E27FC236}">
                <a16:creationId xmlns:a16="http://schemas.microsoft.com/office/drawing/2014/main" id="{EF01EEC9-8E80-4887-B9DC-04800435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86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含標準版管理功能</a:t>
            </a:r>
          </a:p>
        </p:txBody>
      </p:sp>
      <p:sp>
        <p:nvSpPr>
          <p:cNvPr id="38" name="feature-2-1">
            <a:extLst xmlns:a="http://schemas.openxmlformats.org/drawingml/2006/main">
              <a:ext uri="{FF2B5EF4-FFF2-40B4-BE49-F238E27FC236}">
                <a16:creationId xmlns:a16="http://schemas.microsoft.com/office/drawing/2014/main" id="{A488E177-6AED-4C80-AB18-362E31B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386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文字 600 則／月</a:t>
            </a:r>
          </a:p>
        </p:txBody>
      </p:sp>
      <p:sp>
        <p:nvSpPr>
          <p:cNvPr id="39" name="feature-2-2">
            <a:extLst xmlns:a="http://schemas.openxmlformats.org/drawingml/2006/main">
              <a:ext uri="{FF2B5EF4-FFF2-40B4-BE49-F238E27FC236}">
                <a16:creationId xmlns:a16="http://schemas.microsoft.com/office/drawing/2014/main" id="{B1826C67-8180-4319-965D-D9705DB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791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本人聲音＋3D 頭像</a:t>
            </a:r>
          </a:p>
        </p:txBody>
      </p:sp>
      <p:sp>
        <p:nvSpPr>
          <p:cNvPr id="40" name="feature-2-3">
            <a:extLst xmlns:a="http://schemas.openxmlformats.org/drawingml/2006/main">
              <a:ext uri="{FF2B5EF4-FFF2-40B4-BE49-F238E27FC236}">
                <a16:creationId xmlns:a16="http://schemas.microsoft.com/office/drawing/2014/main" id="{43B1C3F8-AADE-4588-9DC3-6259D7A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語音 60 分／月、5 GiB 空間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2026-09-15T01:15:15.0880000Z</dcterms:created>
  <dcterms:modified xsi:type="dcterms:W3CDTF">2026-09-15T01:15:15.0880000Z</dcterms:modified>
</coreProperties>
</file>