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6cabb413354b79" /><Relationship Type="http://schemas.openxmlformats.org/officeDocument/2006/relationships/extended-properties" Target="/docProps/app.xml" Id="R3b8b6b667c2f4ce8" /><Relationship Type="http://schemas.openxmlformats.org/officeDocument/2006/relationships/officeDocument" Target="/ppt/presentation.xml" Id="R289ac895c4954b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24918ba0204601"/>
  </p:sldMasterIdLst>
  <p:notesMasterIdLst>
    <p:notesMasterId xmlns:r="http://schemas.openxmlformats.org/officeDocument/2006/relationships" r:id="R5170a5732ed34a1c"/>
  </p:notesMasterIdLst>
  <p:sldIdLst>
    <p:sldId xmlns:r="http://schemas.openxmlformats.org/officeDocument/2006/relationships" id="256" r:id="Rd5c8999ad9c14476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a7c03a54aa4e65" /><Relationship Type="http://schemas.openxmlformats.org/officeDocument/2006/relationships/slideMaster" Target="/ppt/slideMasters/slideMaster1.xml" Id="R9224918ba0204601" /><Relationship Type="http://schemas.openxmlformats.org/officeDocument/2006/relationships/notesMaster" Target="/ppt/notesMasters/notesMaster1.xml" Id="R5170a5732ed34a1c" /><Relationship Type="http://schemas.openxmlformats.org/officeDocument/2006/relationships/presProps" Target="/ppt/presProps.xml" Id="R87f3c68cc5da4ccf" /><Relationship Type="http://schemas.openxmlformats.org/officeDocument/2006/relationships/tableStyles" Target="/ppt/tableStyles.xml" Id="Rbd802b80ce0a4d34" /><Relationship Type="http://schemas.openxmlformats.org/officeDocument/2006/relationships/slide" Target="/ppt/slides/slide1.xml" Id="Rd5c8999ad9c144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7a4ffca19747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c172949251459b" /><Relationship Type="http://schemas.openxmlformats.org/officeDocument/2006/relationships/notesMaster" Target="/ppt/notesMasters/notesMaster1.xml" Id="R636e3846b0a740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QA 01：Arweave 版本，DigitalTablet 合約如何連到公開與私密資料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【30 秒講稿】</a:t>
            </a:r>
          </a:p>
          <a:p xmlns:a="http://schemas.openxmlformats.org/drawingml/2006/main">
            <a:r>
              <a:t>每位逝者對應一顆塔位 NFT。合約記錄持有者、家族關係，以及兩條互相獨立的地址。tokenURI 指向 Arweave 上的公開 metadata，包含家屬同意公開的姓名、生卒、簡介和大頭照連結；artifactURI 指向索引清單，記錄加密素材的位置及解密條件。照片、聲音、對話和分身檔案不塞進 EVM 合約，私密檔案在上傳前就要加密。兩個地址任何人都看得到，保密的是密文內容。正式版規劃用 Lit 檢查目前 NFT 持有者，通過後才協助解密。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【本頁依據與實作邊界】</a:t>
            </a:r>
          </a:p>
          <a:p xmlns:a="http://schemas.openxmlformats.org/drawingml/2006/main">
            <a:r>
              <a:t>這是 Arweave 正式版目標架構，沿用現有 DigitalTablet.sol 的真實介面，不是宣稱目前所有上傳已走 Arweave 或 Lit 已上線。現有合約只接受 URI 字串，不檢查 URI 是否為 ar://、不驗證檔案已上傳成功、不檢查內容是否加密，也不驗證生平真實性。原始合約註解將 artifactURI 定義為 AI 產物 manifest；此頁依 architecture-qa.md Q5 與 frank_docs 的目標設計，讓 manifest 同時索引私密原始素材與分身產物，需在應用層落實格式及流程。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【1. 合約究竟存什麼】</a:t>
            </a:r>
          </a:p>
          <a:p xmlns:a="http://schemas.openxmlformats.org/drawingml/2006/main">
            <a:r>
              <a:t>contracts/src/DigitalTablet.sol:31–35：</a:t>
            </a:r>
          </a:p>
          <a:p xmlns:a="http://schemas.openxmlformats.org/drawingml/2006/main">
            <a:r>
              <a:t>mapping(uint256 =&gt; string) private _tokenURIs;</a:t>
            </a:r>
          </a:p>
          <a:p xmlns:a="http://schemas.openxmlformats.org/drawingml/2006/main">
            <a:r>
              <a:t>mapping(uint256 =&gt; string) private _artifactURI;</a:t>
            </a:r>
          </a:p>
          <a:p xmlns:a="http://schemas.openxmlformats.org/drawingml/2006/main">
            <a:r>
              <a:t>兩個 mapping 用 tokenId 對應 URI 字串。tokenURI(42) 及 artifactURI(42) 是查詢函式，不是直接存檔的欄位。示意 ar://&lt;metadata-TXID&gt;、ar://&lt;manifest-TXID&gt; 為佔位符，非實際交易。</a:t>
            </a:r>
          </a:p>
          <a:p xmlns:a="http://schemas.openxmlformats.org/drawingml/2006/main">
            <a:r>
              <a:t>合約另以 ERC-721 ownerOf 表示持有者，以 parentOf、childrenOf 表示家族關係；不能把「只存地址」講成整份合約只有兩個欄位。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【2. 如何写入及更新】</a:t>
            </a:r>
          </a:p>
          <a:p xmlns:a="http://schemas.openxmlformats.org/drawingml/2006/main">
            <a:r>
              <a:t>mintRoot(address to, string tokenURI_)：只有 MINTER_ROLE 可鑄造根塔位，鑄造時設定 tokenURI。</a:t>
            </a:r>
          </a:p>
          <a:p xmlns:a="http://schemas.openxmlformats.org/drawingml/2006/main">
            <a:r>
              <a:t>safeMintWithParent(address to, uint256 parentId, string tokenURI_)：父 NFT 持有者或 MINTER_ROLE 可鑄造子塔位，並記錄父子關係。</a:t>
            </a:r>
          </a:p>
          <a:p xmlns:a="http://schemas.openxmlformats.org/drawingml/2006/main">
            <a:r>
              <a:t>artifactURI 初始為空字串，封存或建置流程準備好 manifest 後，再呼叫 setArtifactURI(tokenId, uri)。</a:t>
            </a:r>
          </a:p>
          <a:p xmlns:a="http://schemas.openxmlformats.org/drawingml/2006/main">
            <a:r>
              <a:t>setArtifactURI()（106–113 行）與 setTokenURI()（117–124 行）都先確認 token 存在，再檢查 msg.sender 等於 token 擁有者，或具有 MINTER_ROLE。兩者可分開更新，各自發出 ArtifactURIUpdated／TokenURIUpdated 事件。</a:t>
            </a:r>
          </a:p>
          <a:p xmlns:a="http://schemas.openxmlformats.org/drawingml/2006/main">
            <a:r>
              <a:t>不能說「只有家屬才能改地址」：MINTER_ROLE 也能修改。部署者在建構時取得 DEFAULT_ADMIN_ROLE 與 MINTER_ROLE；角色持有者需按實際部署確認。修改 URI 的權限與 Lit 解密權是不同機制，MINTER_ROLE 本身不等於有解密權。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【3. 公開路徑】</a:t>
            </a:r>
          </a:p>
          <a:p xmlns:a="http://schemas.openxmlformats.org/drawingml/2006/main">
            <a:r>
              <a:t>先將同意公開的照片上傳 Arweave，得到圖片 TXID；組成 metadata JSON，其 image 欄位指向該圖片；上傳 metadata 得到另一個 TXID，最後將 ar://&lt;metadata-TXID&gt; 寫入 tokenURI。</a:t>
            </a:r>
          </a:p>
          <a:p xmlns:a="http://schemas.openxmlformats.org/drawingml/2006/main">
            <a:r>
              <a:t>閱讀者查 tokenURI，透過 gateway 取得 JSON，再讀 image 取得照片。metadata 只放家屬同意公開的介紹，不可因欄位叫 metadata 就放入私密原文。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【4. 私密路徑】</a:t>
            </a:r>
          </a:p>
          <a:p xmlns:a="http://schemas.openxmlformats.org/drawingml/2006/main">
            <a:r>
              <a:t>本頁採 architecture-qa.md Q5 的非敏感 manifest 設計。原始素材及分身產物先在授權端加密，上傳 Arweave 後，各自取得密文 TXID。manifest 只列密文位置、必要格式資訊和解密條件，再上傳 Arweave，將 manifest 的 URI 寫入 artifactURI。manifest 本身可公開讀取，但不得含私密原文、可識別敏感檔名或明文解密金鑰。若未來索引需要敏感資訊，應加密索引，另外設計可取得的解密引導資訊。</a:t>
            </a:r>
          </a:p>
          <a:p xmlns:a="http://schemas.openxmlformats.org/drawingml/2006/main">
            <a:r>
              <a:t>公開、私密兩條路都可取得地址及儲存的位元組。私密路徑拿到的是密文，解密能力必須由密碼學和金鑰服務控制。</a:t>
            </a:r>
          </a:p>
          <a:p xmlns:a="http://schemas.openxmlformats.org/drawingml/2006/main">
            <a:r>
              <a:t>正式版規劃以 Lit 的存取條件驗證已簽名的請求者是否等於 ownerOf(tokenId)。此檢查不是 DigitalTablet 的 getter 內建功能。本次未主張 Lit 節點會交出網路主金鑰，也未主張合約直接加解密。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【5. 評審可能追問】</a:t>
            </a:r>
          </a:p>
          <a:p xmlns:a="http://schemas.openxmlformats.org/drawingml/2006/main">
            <a:r>
              <a:t>Q：Solidity 已經寫 private，不就保密了？</a:t>
            </a:r>
          </a:p>
          <a:p xmlns:a="http://schemas.openxmlformats.org/drawingml/2006/main">
            <a:r>
              <a:t>A：private 只是 Solidity 的程式存取範圍，鏈上儲存仍可被觀察。合約的兩個 getter 也都不限制讀取身分，所以私密素材要在上傳前加密。</a:t>
            </a:r>
          </a:p>
          <a:p xmlns:a="http://schemas.openxmlformats.org/drawingml/2006/main">
            <a:r>
              <a:t>Q：MINTER_ROLE 能改指標，平台就能解密嗎？</a:t>
            </a:r>
          </a:p>
          <a:p xmlns:a="http://schemas.openxmlformats.org/drawingml/2006/main">
            <a:r>
              <a:t>A：修改 URI 和解密是兩件事。現有合約給 minter 修改指標的權限；若 Lit 條件只授予 NFT 持有者，minter 身分本身不授予解密能力。這不能推論平台後端處理明文時也完全無法接觸內容，需以實際資料處理流程界定。</a:t>
            </a:r>
          </a:p>
          <a:p xmlns:a="http://schemas.openxmlformats.org/drawingml/2006/main">
            <a:r>
              <a:t>Q：資料更新怎麼辦？</a:t>
            </a:r>
          </a:p>
          <a:p xmlns:a="http://schemas.openxmlformats.org/drawingml/2006/main">
            <a:r>
              <a:t>A：新版本重新封存取得新 TXID，由有權者更新對應 URI。合約指標可改，已上傳的舊內容不因改指標消失。</a:t>
            </a:r>
          </a:p>
          <a:p xmlns:a="http://schemas.openxmlformats.org/drawingml/2006/main">
            <a:r>
              <a:t>Q：轉讓 NFT 後舊持有人還能看嗎？</a:t>
            </a:r>
          </a:p>
          <a:p xmlns:a="http://schemas.openxmlformats.org/drawingml/2006/main">
            <a:r>
              <a:t>A：若解密条件綁定當前 ownerOf，新持有人可獲得後續授權；但無法收回舊持有人先前已下載的明文或解密材料，不應承諾轉讓即可抹除既有副本。</a:t>
            </a:r>
          </a:p>
          <a:p xmlns:a="http://schemas.openxmlformats.org/drawingml/2006/main">
            <a:r>
              <a:t>Q：目前是否已完整上 Arweave？</a:t>
            </a:r>
          </a:p>
          <a:p xmlns:a="http://schemas.openxmlformats.org/drawingml/2006/main">
            <a:r>
              <a:t>A：backend/src/lib/arweave.ts 已有 ArDrive Turbo 上傳程式，uploads.ts 支援 IPFS 與 Arweave 雙寫，stories.ts 支援 Arweave 封存；目前 IPFS 仍是主要服務層，Turbo 未設定時停用，失敗不阻擋流程。storage/src/providers/irys.ts 仍是 stub。實作過程可採 Turbo，但這不等於原規劃的 Irys + Lit 全流程已完成。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【來源】</a:t>
            </a:r>
          </a:p>
          <a:p xmlns:a="http://schemas.openxmlformats.org/drawingml/2006/main">
            <a:r>
              <a:t>contracts/src/DigitalTablet.sol：16–35、59–124、149–157 行。</a:t>
            </a:r>
          </a:p>
          <a:p xmlns:a="http://schemas.openxmlformats.org/drawingml/2006/main">
            <a:r>
              <a:t>docs/contracts.md：Roles、Functions、Storage Layout。</a:t>
            </a:r>
          </a:p>
          <a:p xmlns:a="http://schemas.openxmlformats.org/drawingml/2006/main">
            <a:r>
              <a:t>docs/architecture-qa-4pages.md：第 1 頁。</a:t>
            </a:r>
          </a:p>
          <a:p xmlns:a="http://schemas.openxmlformats.org/drawingml/2006/main">
            <a:r>
              <a:t>docs/architecture-qa.md：Q2–Q5，特別是 Q5 非敏感 manifest 與 ownerOf 解密條件示意。</a:t>
            </a:r>
          </a:p>
          <a:p xmlns:a="http://schemas.openxmlformats.org/drawingml/2006/main">
            <a:r>
              <a:t>docs/frank_docs/02_系統架構.md：第 197–228 行，Arweave 正式儲存流程。</a:t>
            </a:r>
          </a:p>
          <a:p xmlns:a="http://schemas.openxmlformats.org/drawingml/2006/main">
            <a:r>
              <a:t>backend/src/lib/arweave.ts；backend/src/routes/uploads.ts:223；backend/src/routes/stories.ts:183；storage/src/providers/irys.ts。</a:t>
            </a:r>
          </a:p>
          <a:p xmlns:a="http://schemas.openxmlformats.org/drawingml/2006/main">
            <a:r>
              <a:t>Solidity 官方文件 Visibility and Getters：https://docs.soliditylang.org/en/latest/contracts.html#visibility-and-getters（2026-09-15 查閱），private/internal 不使鏈上資料保密。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a98e9dde5d4e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ed737a83f5429f" /><Relationship Type="http://schemas.openxmlformats.org/officeDocument/2006/relationships/slideLayout" Target="/ppt/slideLayouts/slideLayout1.xml" Id="R6e31863965364f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31863965364f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de9eba3d5f4374" /><Relationship Type="http://schemas.openxmlformats.org/officeDocument/2006/relationships/notesSlide" Target="/ppt/notesSlides/notesSlide1.xml" Id="R85eaf134396a48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brand">
            <a:extLst xmlns:a="http://schemas.openxmlformats.org/drawingml/2006/main">
              <a:ext uri="{FF2B5EF4-FFF2-40B4-BE49-F238E27FC236}">
                <a16:creationId xmlns:a16="http://schemas.microsoft.com/office/drawing/2014/main" id="{AD87AAA6-63D8-45A3-86D6-1D87CA80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AETERLUX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6B67D079-0456-4B4F-8B9C-6C29D2D5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rPr>
              <a:t>QA 01　Arweave 正式版設計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6C3378-C7EE-431E-855C-0568BBC5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2025"/>
            <a:ext cx="14020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合約怎麼連到公開與私密資料？</a:t>
            </a:r>
          </a:p>
        </p:txBody>
      </p:sp>
      <p:sp>
        <p:nvSpPr>
          <p:cNvPr id="4" name="summary">
            <a:extLst xmlns:a="http://schemas.openxmlformats.org/drawingml/2006/main">
              <a:ext uri="{FF2B5EF4-FFF2-40B4-BE49-F238E27FC236}">
                <a16:creationId xmlns:a16="http://schemas.microsoft.com/office/drawing/2014/main" id="{23FE4A0A-9E89-4BF4-8E05-78DE4A58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4001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兩個 URI 指向 Arweave：公開介紹存明文，私密素材先加密再封存。</a:t>
            </a:r>
          </a:p>
        </p:txBody>
      </p:sp>
      <p:sp>
        <p:nvSpPr>
          <p:cNvPr id="5" name="chain-heading">
            <a:extLst xmlns:a="http://schemas.openxmlformats.org/drawingml/2006/main">
              <a:ext uri="{FF2B5EF4-FFF2-40B4-BE49-F238E27FC236}">
                <a16:creationId xmlns:a16="http://schemas.microsoft.com/office/drawing/2014/main" id="{82C1B44B-CA67-442E-9885-B7AA28A5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鏈上：DigitalTablet.sol</a:t>
            </a:r>
          </a:p>
        </p:txBody>
      </p:sp>
      <p:sp>
        <p:nvSpPr>
          <p:cNvPr id="6" name="storage-heading">
            <a:extLst xmlns:a="http://schemas.openxmlformats.org/drawingml/2006/main">
              <a:ext uri="{FF2B5EF4-FFF2-40B4-BE49-F238E27FC236}">
                <a16:creationId xmlns:a16="http://schemas.microsoft.com/office/drawing/2014/main" id="{E73297E9-3274-4251-80A0-7C3E9691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28900"/>
            <a:ext cx="7448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Arweave：檔案本體與索引</a:t>
            </a:r>
          </a:p>
        </p:txBody>
      </p:sp>
      <p:sp>
        <p:nvSpPr>
          <p:cNvPr id="7" name="contract">
            <a:extLst xmlns:a="http://schemas.openxmlformats.org/drawingml/2006/main">
              <a:ext uri="{FF2B5EF4-FFF2-40B4-BE49-F238E27FC236}">
                <a16:creationId xmlns:a16="http://schemas.microsoft.com/office/drawing/2014/main" id="{B78A6EC9-DBEE-4F4C-9036-9315B3A2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4914900" cy="3343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2EB"/>
          </a:solidFill>
          <a:ln xmlns:a="http://schemas.openxmlformats.org/drawingml/2006/main" w="14288">
            <a:solidFill>
              <a:srgbClr val="D4D2C8"/>
            </a:solidFill>
          </a:ln>
        </p:spPr>
      </p:sp>
      <p:sp>
        <p:nvSpPr>
          <p:cNvPr id="8" name="token">
            <a:extLst xmlns:a="http://schemas.openxmlformats.org/drawingml/2006/main">
              <a:ext uri="{FF2B5EF4-FFF2-40B4-BE49-F238E27FC236}">
                <a16:creationId xmlns:a16="http://schemas.microsoft.com/office/drawing/2014/main" id="{EBDDC3FC-D045-4012-8ED7-E18EFEF6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塔位 NFT　tokenId 42</a:t>
            </a:r>
          </a:p>
        </p:txBody>
      </p:sp>
      <p:sp>
        <p:nvSpPr>
          <p:cNvPr id="9" name="public-pointer">
            <a:extLst xmlns:a="http://schemas.openxmlformats.org/drawingml/2006/main">
              <a:ext uri="{FF2B5EF4-FFF2-40B4-BE49-F238E27FC236}">
                <a16:creationId xmlns:a16="http://schemas.microsoft.com/office/drawing/2014/main" id="{1F6EFC21-DEB3-42C0-A7B6-248F4744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62375"/>
            <a:ext cx="4381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BDD"/>
          </a:solidFill>
          <a:ln xmlns:a="http://schemas.openxmlformats.org/drawingml/2006/main" w="0">
            <a:noFill/>
          </a:ln>
        </p:spPr>
      </p:sp>
      <p:sp>
        <p:nvSpPr>
          <p:cNvPr id="10" name="private-pointer">
            <a:extLst xmlns:a="http://schemas.openxmlformats.org/drawingml/2006/main">
              <a:ext uri="{FF2B5EF4-FFF2-40B4-BE49-F238E27FC236}">
                <a16:creationId xmlns:a16="http://schemas.microsoft.com/office/drawing/2014/main" id="{91E6FD90-1D51-43F2-875A-A168FEFF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4381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5D8"/>
          </a:solidFill>
          <a:ln xmlns:a="http://schemas.openxmlformats.org/drawingml/2006/main" w="0">
            <a:noFill/>
          </a:ln>
        </p:spPr>
      </p:sp>
      <p:sp>
        <p:nvSpPr>
          <p:cNvPr id="11" name="public-files">
            <a:extLst xmlns:a="http://schemas.openxmlformats.org/drawingml/2006/main">
              <a:ext uri="{FF2B5EF4-FFF2-40B4-BE49-F238E27FC236}">
                <a16:creationId xmlns:a16="http://schemas.microsoft.com/office/drawing/2014/main" id="{943E8F16-4246-4796-B094-5085988F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24250"/>
            <a:ext cx="74485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BDD"/>
          </a:solidFill>
          <a:ln xmlns:a="http://schemas.openxmlformats.org/drawingml/2006/main" w="0">
            <a:noFill/>
          </a:ln>
        </p:spPr>
      </p:sp>
      <p:sp>
        <p:nvSpPr>
          <p:cNvPr id="12" name="private-files">
            <a:extLst xmlns:a="http://schemas.openxmlformats.org/drawingml/2006/main">
              <a:ext uri="{FF2B5EF4-FFF2-40B4-BE49-F238E27FC236}">
                <a16:creationId xmlns:a16="http://schemas.microsoft.com/office/drawing/2014/main" id="{659CF9C4-44E9-4B06-A8CF-9770ED8A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953000"/>
            <a:ext cx="74485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5D8"/>
          </a:solidFill>
          <a:ln xmlns:a="http://schemas.openxmlformats.org/drawingml/2006/main" w="0">
            <a:noFill/>
          </a:ln>
        </p:spPr>
      </p:sp>
      <p:cxnSp>
        <p:nvCxnSpPr>
          <p:cNvPr id="47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238750" y="4191000"/>
            <a:ext cx="1943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26147"/>
            </a:solidFill>
            <a:tailEnd type="triangle" w="med" len="med"/>
          </a:ln>
        </p:spPr>
      </p:cxnSp>
      <p:cxnSp>
        <p:nvCxnSpPr>
          <p:cNvPr id="48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238750" y="5667375"/>
            <a:ext cx="1943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12D2A"/>
            </a:solidFill>
            <a:tailEnd type="triangle" w="med" len="med"/>
          </a:ln>
        </p:spPr>
      </p:cxnSp>
      <p:sp>
        <p:nvSpPr>
          <p:cNvPr id="15" name="pub-getter">
            <a:extLst xmlns:a="http://schemas.openxmlformats.org/drawingml/2006/main">
              <a:ext uri="{FF2B5EF4-FFF2-40B4-BE49-F238E27FC236}">
                <a16:creationId xmlns:a16="http://schemas.microsoft.com/office/drawing/2014/main" id="{A86D958D-947C-432A-A97C-73381A4E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9525"/>
            <a:ext cx="401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tokenURI(42)</a:t>
            </a:r>
          </a:p>
        </p:txBody>
      </p:sp>
      <p:sp>
        <p:nvSpPr>
          <p:cNvPr id="16" name="pub-uri">
            <a:extLst xmlns:a="http://schemas.openxmlformats.org/drawingml/2006/main">
              <a:ext uri="{FF2B5EF4-FFF2-40B4-BE49-F238E27FC236}">
                <a16:creationId xmlns:a16="http://schemas.microsoft.com/office/drawing/2014/main" id="{D0DD3347-C2A2-4722-AAB4-92514088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29100"/>
            <a:ext cx="4019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ar://&lt;metadata-TXID&gt;</a:t>
            </a:r>
          </a:p>
        </p:txBody>
      </p:sp>
      <p:sp>
        <p:nvSpPr>
          <p:cNvPr id="17" name="priv-getter">
            <a:extLst xmlns:a="http://schemas.openxmlformats.org/drawingml/2006/main">
              <a:ext uri="{FF2B5EF4-FFF2-40B4-BE49-F238E27FC236}">
                <a16:creationId xmlns:a16="http://schemas.microsoft.com/office/drawing/2014/main" id="{84C0A3C4-8D70-4C45-8519-91AB7F53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86375"/>
            <a:ext cx="401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artifactURI(42)</a:t>
            </a:r>
          </a:p>
        </p:txBody>
      </p:sp>
      <p:sp>
        <p:nvSpPr>
          <p:cNvPr id="18" name="priv-uri">
            <a:extLst xmlns:a="http://schemas.openxmlformats.org/drawingml/2006/main">
              <a:ext uri="{FF2B5EF4-FFF2-40B4-BE49-F238E27FC236}">
                <a16:creationId xmlns:a16="http://schemas.microsoft.com/office/drawing/2014/main" id="{61C626DD-B5C4-4173-8DE8-F267A4D3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95950"/>
            <a:ext cx="4019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ar://&lt;manifest-TXID&gt;</a:t>
            </a:r>
          </a:p>
        </p:txBody>
      </p:sp>
      <p:sp>
        <p:nvSpPr>
          <p:cNvPr id="19" name="public-route-label">
            <a:extLst xmlns:a="http://schemas.openxmlformats.org/drawingml/2006/main">
              <a:ext uri="{FF2B5EF4-FFF2-40B4-BE49-F238E27FC236}">
                <a16:creationId xmlns:a16="http://schemas.microsoft.com/office/drawing/2014/main" id="{F3C7DAF1-3A2B-4E42-929B-DCFB42BD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733800"/>
            <a:ext cx="1314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公開路徑</a:t>
            </a:r>
          </a:p>
        </p:txBody>
      </p:sp>
      <p:sp>
        <p:nvSpPr>
          <p:cNvPr id="20" name="private-route-label">
            <a:extLst xmlns:a="http://schemas.openxmlformats.org/drawingml/2006/main">
              <a:ext uri="{FF2B5EF4-FFF2-40B4-BE49-F238E27FC236}">
                <a16:creationId xmlns:a16="http://schemas.microsoft.com/office/drawing/2014/main" id="{2FC7373B-E9D5-498C-9336-B6B8B4C3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210175"/>
            <a:ext cx="1314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私密路徑</a:t>
            </a:r>
          </a:p>
        </p:txBody>
      </p:sp>
      <p:sp>
        <p:nvSpPr>
          <p:cNvPr id="21" name="owner-foot">
            <a:extLst xmlns:a="http://schemas.openxmlformats.org/drawingml/2006/main">
              <a:ext uri="{FF2B5EF4-FFF2-40B4-BE49-F238E27FC236}">
                <a16:creationId xmlns:a16="http://schemas.microsoft.com/office/drawing/2014/main" id="{9BEF5A38-F959-4551-B8EC-8CE614F9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rPr>
              <a:t>另記錄 ownerOf 與 parentOf／childrenOf</a:t>
            </a:r>
          </a:p>
        </p:txBody>
      </p:sp>
      <p:sp>
        <p:nvSpPr>
          <p:cNvPr id="22" name="public-title">
            <a:extLst xmlns:a="http://schemas.openxmlformats.org/drawingml/2006/main">
              <a:ext uri="{FF2B5EF4-FFF2-40B4-BE49-F238E27FC236}">
                <a16:creationId xmlns:a16="http://schemas.microsoft.com/office/drawing/2014/main" id="{0A8ACC89-AA9C-457E-B230-B2F27D95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29025"/>
            <a:ext cx="6858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公開 metadata.json</a:t>
            </a:r>
          </a:p>
        </p:txBody>
      </p:sp>
      <p:sp>
        <p:nvSpPr>
          <p:cNvPr id="23" name="public-content">
            <a:extLst xmlns:a="http://schemas.openxmlformats.org/drawingml/2006/main">
              <a:ext uri="{FF2B5EF4-FFF2-40B4-BE49-F238E27FC236}">
                <a16:creationId xmlns:a16="http://schemas.microsoft.com/office/drawing/2014/main" id="{2E6411CB-4820-4AC0-8989-70472926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67175"/>
            <a:ext cx="6858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姓名、生卒、籍貫、簡介與公開大頭照連結</a:t>
            </a:r>
          </a:p>
        </p:txBody>
      </p:sp>
      <p:sp>
        <p:nvSpPr>
          <p:cNvPr id="24" name="public-read">
            <a:extLst xmlns:a="http://schemas.openxmlformats.org/drawingml/2006/main">
              <a:ext uri="{FF2B5EF4-FFF2-40B4-BE49-F238E27FC236}">
                <a16:creationId xmlns:a16="http://schemas.microsoft.com/office/drawing/2014/main" id="{3D30C320-58EF-488C-9E06-1BEE6566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6722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任何人可讀，image 欄位再指向 Arweave 上的照片</a:t>
            </a:r>
          </a:p>
        </p:txBody>
      </p:sp>
      <p:sp>
        <p:nvSpPr>
          <p:cNvPr id="25" name="private-title">
            <a:extLst xmlns:a="http://schemas.openxmlformats.org/drawingml/2006/main">
              <a:ext uri="{FF2B5EF4-FFF2-40B4-BE49-F238E27FC236}">
                <a16:creationId xmlns:a16="http://schemas.microsoft.com/office/drawing/2014/main" id="{014B2855-89EA-4DB4-B0D4-7395F22B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67300"/>
            <a:ext cx="6858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manifest.json 索引與加密素材</a:t>
            </a:r>
          </a:p>
        </p:txBody>
      </p:sp>
      <p:sp>
        <p:nvSpPr>
          <p:cNvPr id="26" name="private-content">
            <a:extLst xmlns:a="http://schemas.openxmlformats.org/drawingml/2006/main">
              <a:ext uri="{FF2B5EF4-FFF2-40B4-BE49-F238E27FC236}">
                <a16:creationId xmlns:a16="http://schemas.microsoft.com/office/drawing/2014/main" id="{836400E3-49A9-4ABC-87A4-E020B959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5054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索引列密文 TXID 與解密條件，不放私密原文或金鑰</a:t>
            </a:r>
          </a:p>
        </p:txBody>
      </p:sp>
      <p:sp>
        <p:nvSpPr>
          <p:cNvPr id="27" name="private-types">
            <a:extLst xmlns:a="http://schemas.openxmlformats.org/drawingml/2006/main">
              <a:ext uri="{FF2B5EF4-FFF2-40B4-BE49-F238E27FC236}">
                <a16:creationId xmlns:a16="http://schemas.microsoft.com/office/drawing/2014/main" id="{1376A961-C525-4746-B3E1-85927EDD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915025"/>
            <a:ext cx="685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相簿、錄音、對話紀錄、3D 頭像皆先加密再上傳</a:t>
            </a:r>
          </a:p>
        </p:txBody>
      </p:sp>
      <p:sp>
        <p:nvSpPr>
          <p:cNvPr id="28" name="edit-label">
            <a:extLst xmlns:a="http://schemas.openxmlformats.org/drawingml/2006/main">
              <a:ext uri="{FF2B5EF4-FFF2-40B4-BE49-F238E27FC236}">
                <a16:creationId xmlns:a16="http://schemas.microsoft.com/office/drawing/2014/main" id="{F1FAD090-F290-4701-918D-90ABC49A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675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誰能更新地址？</a:t>
            </a:r>
          </a:p>
        </p:txBody>
      </p:sp>
      <p:sp>
        <p:nvSpPr>
          <p:cNvPr id="29" name="edit-rule">
            <a:extLst xmlns:a="http://schemas.openxmlformats.org/drawingml/2006/main">
              <a:ext uri="{FF2B5EF4-FFF2-40B4-BE49-F238E27FC236}">
                <a16:creationId xmlns:a16="http://schemas.microsoft.com/office/drawing/2014/main" id="{7E10F7CD-B14B-45E2-8A18-1D219765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77100"/>
            <a:ext cx="628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NFT 持有者或 MINTER_ROLE</a:t>
            </a:r>
          </a:p>
        </p:txBody>
      </p:sp>
      <p:sp>
        <p:nvSpPr>
          <p:cNvPr id="30" name="edit-functions">
            <a:extLst xmlns:a="http://schemas.openxmlformats.org/drawingml/2006/main">
              <a:ext uri="{FF2B5EF4-FFF2-40B4-BE49-F238E27FC236}">
                <a16:creationId xmlns:a16="http://schemas.microsoft.com/office/drawing/2014/main" id="{D28E6ACB-4E32-4FEE-8F53-2A3F22CC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67625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rPr>
              <a:t>setTokenURI()／setArtifactURI() 分開更新</a:t>
            </a:r>
          </a:p>
        </p:txBody>
      </p:sp>
      <p:sp>
        <p:nvSpPr>
          <p:cNvPr id="31" name="privacy-label">
            <a:extLst xmlns:a="http://schemas.openxmlformats.org/drawingml/2006/main">
              <a:ext uri="{FF2B5EF4-FFF2-40B4-BE49-F238E27FC236}">
                <a16:creationId xmlns:a16="http://schemas.microsoft.com/office/drawing/2014/main" id="{D3B4C6AA-5EF3-4355-95FD-9BAAEDB1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867525"/>
            <a:ext cx="7448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地址公開，內容怎麼保密？</a:t>
            </a:r>
          </a:p>
        </p:txBody>
      </p:sp>
      <p:sp>
        <p:nvSpPr>
          <p:cNvPr id="32" name="privacy-rule">
            <a:extLst xmlns:a="http://schemas.openxmlformats.org/drawingml/2006/main">
              <a:ext uri="{FF2B5EF4-FFF2-40B4-BE49-F238E27FC236}">
                <a16:creationId xmlns:a16="http://schemas.microsoft.com/office/drawing/2014/main" id="{CDC5B9C3-829B-4384-B378-423CCE97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7277100"/>
            <a:ext cx="7448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規劃由 Lit 驗證 ownerOf(42)＝請求者後解密</a:t>
            </a:r>
          </a:p>
        </p:txBody>
      </p:sp>
      <p:sp>
        <p:nvSpPr>
          <p:cNvPr id="33" name="privacy-detail">
            <a:extLst xmlns:a="http://schemas.openxmlformats.org/drawingml/2006/main">
              <a:ext uri="{FF2B5EF4-FFF2-40B4-BE49-F238E27FC236}">
                <a16:creationId xmlns:a16="http://schemas.microsoft.com/office/drawing/2014/main" id="{D1C058B9-4605-4653-B593-EFB24EFF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7667625"/>
            <a:ext cx="7448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rPr>
              <a:t>合約只存地址與權限，private 宣告本身不會加密資料</a:t>
            </a:r>
          </a:p>
        </p:txBody>
      </p:sp>
      <p:sp>
        <p:nvSpPr>
          <p:cNvPr id="34" name="status">
            <a:extLst xmlns:a="http://schemas.openxmlformats.org/drawingml/2006/main">
              <a:ext uri="{FF2B5EF4-FFF2-40B4-BE49-F238E27FC236}">
                <a16:creationId xmlns:a16="http://schemas.microsoft.com/office/drawing/2014/main" id="{70CCA866-E782-4C4C-A5B5-597E782D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72450"/>
            <a:ext cx="1402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rPr>
              <a:t>依現有合約與 QA 規劃製作。雙 URI 與更新權限已實作，Lit 解密流程待整合。來源與講稿詳見備註。</a:t>
            </a:r>
          </a:p>
        </p:txBody>
      </p:sp>
    </p:spTree>
    <p:extLst>
      <p:ext uri="{BB962C8B-B14F-4D97-AF65-F5344CB8AC3E}">
        <p14:creationId xmlns:p14="http://schemas.microsoft.com/office/powerpoint/2010/main" val="16709994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2026-09-15T03:23:43.1550000Z</dcterms:created>
  <dcterms:modified xsi:type="dcterms:W3CDTF">2026-09-15T03:23:43.1550000Z</dcterms:modified>
</coreProperties>
</file>