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8a1435d7a4306" /><Relationship Type="http://schemas.openxmlformats.org/officeDocument/2006/relationships/extended-properties" Target="/docProps/app.xml" Id="R48ed9ed1a0f04c6f" /><Relationship Type="http://schemas.openxmlformats.org/officeDocument/2006/relationships/officeDocument" Target="/ppt/presentation.xml" Id="Rf6d68c568e5e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bc357f6004fe6"/>
  </p:sldMasterIdLst>
  <p:notesMasterIdLst>
    <p:notesMasterId xmlns:r="http://schemas.openxmlformats.org/officeDocument/2006/relationships" r:id="Re10eb1c321bd44fc"/>
  </p:notesMasterIdLst>
  <p:sldIdLst>
    <p:sldId xmlns:r="http://schemas.openxmlformats.org/officeDocument/2006/relationships" id="256" r:id="R33dcfd8e037544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afc064f289412c" /><Relationship Type="http://schemas.openxmlformats.org/officeDocument/2006/relationships/slideMaster" Target="/ppt/slideMasters/slideMaster1.xml" Id="R5bebc357f6004fe6" /><Relationship Type="http://schemas.openxmlformats.org/officeDocument/2006/relationships/notesMaster" Target="/ppt/notesMasters/notesMaster1.xml" Id="Re10eb1c321bd44fc" /><Relationship Type="http://schemas.openxmlformats.org/officeDocument/2006/relationships/presProps" Target="/ppt/presProps.xml" Id="Re1d6737dbb7c473b" /><Relationship Type="http://schemas.openxmlformats.org/officeDocument/2006/relationships/tableStyles" Target="/ppt/tableStyles.xml" Id="R325b996b758d465a" /><Relationship Type="http://schemas.openxmlformats.org/officeDocument/2006/relationships/slide" Target="/ppt/slides/slide1.xml" Id="R33dcfd8e0375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78f31ee95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d6dca0eae66348ee"/><Relationship Type="http://schemas.openxmlformats.org/officeDocument/2006/relationships/notesMaster" Target="/ppt/notesMasters/notesMaster1.xml" Id="R8a83f1bca4dd4904"/><Relationship Id="rIdCost1" Type="http://schemas.openxmlformats.org/officeDocument/2006/relationships/hyperlink" Target="https://www.sinya.com.tw/prod/214584" TargetMode="External"/><Relationship Id="rIdCost2" Type="http://schemas.openxmlformats.org/officeDocument/2006/relationships/hyperlink" Target="https://payment.ardrive.io/v1/rates" TargetMode="External"/><Relationship Id="rIdCost3" Type="http://schemas.openxmlformats.org/officeDocument/2006/relationships/hyperlink" Target="https://payment.ardrive.io/v1/price/bytes/1073741824" TargetMode="External"/><Relationship Id="rIdCost4" Type="http://schemas.openxmlformats.org/officeDocument/2006/relationships/hyperlink" Target="https://docs.ar.io/sdks/turbo-sdk/turbounauthenticatedclient" TargetMode="External"/><Relationship Id="rIdCost5" Type="http://schemas.openxmlformats.org/officeDocument/2006/relationships/hyperlink" Target="https://hc1.taipower.com.tw/2289/2558/49405/49408/67252/" TargetMode="External"/><Relationship Id="rIdCost6" Type="http://schemas.openxmlformats.org/officeDocument/2006/relationships/hyperlink" Target="https://www.ecpay.com.tw/Business/payment_fees" TargetMode="External"/><Relationship Id="rIdCost7" Type="http://schemas.openxmlformats.org/officeDocument/2006/relationships/hyperlink" Target="../../server/SERVER.md" TargetMode="External"/><Relationship Id="rIdCost8" Type="http://schemas.openxmlformats.org/officeDocument/2006/relationships/hyperlink" Target="https://raw.githubusercontent.com/ardriveapp/turbo-sdk/main/packages/turbo-sdk/src/common/payment.ts" TargetMode="External"/><Relationship Id="rIdCost9" Type="http://schemas.openxmlformats.org/officeDocument/2006/relationships/hyperlink" Target="https://docs.ar.io/build/upload/turbo-credits" TargetMode="External"/><Relationship Id="rIdCost10" Type="http://schemas.openxmlformats.org/officeDocument/2006/relationships/hyperlink" Target="https://github.com/resemble-ai/chatterbox" TargetMode="Externa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Aeterlux 收費模式與成本來源｜講稿及計算備註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更新日期：2026-09-15。幣別均為新臺幣，GiB 為二進位容量單位。這是試營運商業模式提案，非已上線的付費功能或確定售價。頁面區間是預算情境，非廠商保價。以下精確數字用來說明推算方法，仍包含待驗證假設。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數字的來源口徑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本地設備：以</a:t>
            </a:r>
            <a:r>
              <a:rPr u="sng">
                <a:hlinkClick xmlns:ns0="http://schemas.openxmlformats.org/officeDocument/2006/relationships" ns0:id="rIdCost1"/>
              </a:rPr>
              <a:t>欣亞整機售價</a:t>
            </a:r>
            <a:r>
              <a:t>為查價依據，加上自訂周邊預算。25–30萬元不是通路直接報出的套裝區間。</a:t>
            </a:r>
          </a:p>
          <a:p xmlns:a="http://schemas.openxmlformats.org/drawingml/2006/main">
            <a:r>
              <a:t>[2] Arweave：使用</a:t>
            </a:r>
            <a:r>
              <a:rPr u="sng">
                <a:hlinkClick xmlns:ns0="http://schemas.openxmlformats.org/officeDocument/2006/relationships" ns0:id="rIdCost2"/>
              </a:rPr>
              <a:t>Turbo 即時費率 API</a:t>
            </a:r>
            <a:r>
              <a:t>和</a:t>
            </a:r>
            <a:r>
              <a:rPr u="sng">
                <a:hlinkClick xmlns:ns0="http://schemas.openxmlformats.org/officeDocument/2006/relationships" ns0:id="rIdCost3"/>
              </a:rPr>
              <a:t>單 GiB 上傳報價</a:t>
            </a:r>
            <a:r>
              <a:t>換算，依</a:t>
            </a:r>
            <a:r>
              <a:rPr u="sng">
                <a:hlinkClick xmlns:ns0="http://schemas.openxmlformats.org/officeDocument/2006/relationships" ns0:id="rIdCost4"/>
              </a:rPr>
              <a:t>官方 SDK 說明</a:t>
            </a:r>
            <a:r>
              <a:t>核對單位。本文採2026-09-15 20:57的快照；點開API會看到當下的新數字，可能不同。</a:t>
            </a:r>
          </a:p>
          <a:p xmlns:a="http://schemas.openxmlformats.org/drawingml/2006/main">
            <a:r>
              <a:t>[3] 電費：參考</a:t>
            </a:r>
            <a:r>
              <a:rPr u="sng">
                <a:hlinkClick xmlns:ns0="http://schemas.openxmlformats.org/officeDocument/2006/relationships" ns0:id="rIdCost5"/>
              </a:rPr>
              <a:t>台電115年上半年電價費率</a:t>
            </a:r>
            <a:r>
              <a:t>的官方制度資料；5–7元／度及機器功耗是本專案預算情境，不是台電保證費率。</a:t>
            </a:r>
          </a:p>
          <a:p xmlns:a="http://schemas.openxmlformats.org/drawingml/2006/main">
            <a:r>
              <a:t>[4] 平台維運：內部編列，尚無正式合約報價。拆解見第七節，不以其他公司的定價頁代替本專案的假設。</a:t>
            </a:r>
          </a:p>
          <a:p xmlns:a="http://schemas.openxmlformats.org/drawingml/2006/main">
            <a:r>
              <a:t>具體對客售價、credits數量、人工時薪、緩衝比例與試營運戶數，均是內部提案，非外部查價結果。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一、台上講稿（約 90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我們把收費拆成持續服務、實際用量，以及永久封存。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持續服務採 SaaS 訂閱，以每位逝者的塔位為單位，家屬共用服務與額度，提供 AI 記憶對話、邀請與回憶管理。基本公開追思功能保留免費入口，讓家屬先使用，再依需求開啟付費服務。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的實際使用以 credits 記錄。文字依成功回覆計量，語音依成功生成的秒數計量。訂閱包含基本額度，用完後可以主動加購。播放同一份聲音不重複扣點，生成失敗也不扣點，避免使用者難以掌握支出。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儲存則採一次性收費。素材加密後上傳 Arweave，按實際新增的封存量報價。已封存的資料不重複收儲存月租。即使停止訂閱，先前完成的永久封存仍依儲存協議保留。新增素材或上傳新版本，才產生新的封存費用。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成本主要有本地 GPU 電腦、Arweave 上傳、電費與散熱，以及平台維運。本地設備先投入，再逐月攤提。Arweave 隨新增封存量發生一次成本。電費和維運則持續發生。因此，訂閱支應平台持續運作，credits 反映運算使用量，封存費對應一次性儲存成本。定價會依實際測得的負載和服務成本調整。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二、收費模式與計量規則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三個膠囊表示可搭配使用的收費機制，並非三個互斥的會員等級。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SaaS 訂閱：每位逝者／塔位一份訂閱，家屬共享，按月提供管理功能與基本 AI 額度。訂閱含的 credits 先扣，用完才由使用者選擇加購，不再對同一筆用量收第二次費用。</a:t>
            </a:r>
          </a:p>
          <a:p xmlns:a="http://schemas.openxmlformats.org/drawingml/2006/main">
            <a:r>
              <a:t>2. Credits 計量：採兩種獨立餘額，避免文字與聲音算力不同卻混用同一點值。一次成功文字回覆扣 1 文字 credit；成功生成音訊的秒數扣語音 credits，1 秒等於 1 語音 credit。語音回答會同時消耗其文字生成額度及音訊額度，使用前清楚顯示。文字與語音 credits 不任意互換。輸入語音辨識另記秒数，不以觀看或開著頁面的時長計費。</a:t>
            </a:r>
          </a:p>
          <a:p xmlns:a="http://schemas.openxmlformats.org/drawingml/2006/main">
            <a:r>
              <a:t>3. 失敗請求不扣點，同一 request ID 重送不重複扣點，重播既有音訊不扣生成點數，使用者主動重新生成則屬新工作。後端需實作去重、用量帳本與失敗返還。</a:t>
            </a:r>
          </a:p>
          <a:p xmlns:a="http://schemas.openxmlformats.org/drawingml/2006/main">
            <a:r>
              <a:t>4. 每則回覆上限 300 個輸出 token、總上下文上限 8K token，單段生成音訊上限 60 秒，這些是預算模型的限制條件。每塔位同時一個 AI 工作，尖峰排隊。</a:t>
            </a:r>
          </a:p>
          <a:p xmlns:a="http://schemas.openxmlformats.org/drawingml/2006/main">
            <a:r>
              <a:t>5. 訂閱附贈額度每月重置。另購 credits 的到期、退費與餘額保留規則須在商用條款確認，本計算不靠未用完或到期沒收來創造收益，按用滿估成本。</a:t>
            </a:r>
          </a:p>
          <a:p xmlns:a="http://schemas.openxmlformats.org/drawingml/2006/main">
            <a:r>
              <a:t>6. 永久封存：以加密、封裝後實際新增 bytes 計量，包含索引清單與新版本。取消月費不撤回已完成封存或 NFT。讀取 gateway、網站、索引與 AI 運作仍是持續服务，不將永久保存說成所有前端與算力終身免費。</a:t>
            </a:r>
          </a:p>
          <a:p xmlns:a="http://schemas.openxmlformats.org/drawingml/2006/main">
            <a:r>
              <a:t>7. 首次分身建立可另收一次性處理費，對應照片、錄音檢查和頭像建立及驗收，與永久儲存費分開。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三、內部定價假設（不展示於投影片）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以下沿用先前方案作比較基準，加入 credits 計量說明，未經付費意願或正式營運驗證：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基本追思：NT$0，提供公開生平、基本照片展示、親友留言，永久封存與 AI 另購。</a:t>
            </a:r>
          </a:p>
          <a:p xmlns:a="http://schemas.openxmlformats.org/drawingml/2006/main">
            <a:r>
              <a:t>文字訂閱：NT$299／月／塔位，含 300 文字 credits、邀請及回憶審核。</a:t>
            </a:r>
          </a:p>
          <a:p xmlns:a="http://schemas.openxmlformats.org/drawingml/2006/main">
            <a:r>
              <a:t>聲影訂閱：NT$899／月／塔位，含 600 文字 credits、3,600 語音 credits（60 分鐘輸出）、3,600 秒輸入語音辨識額度與頭像互動。</a:t>
            </a:r>
          </a:p>
          <a:p xmlns:a="http://schemas.openxmlformats.org/drawingml/2006/main">
            <a:r>
              <a:t>用量加購示例：NT$199，增加 1,800 語音 credits（30 分鐘）、300 文字 credits，以及 1,800 秒輸入辨識額度。僅主動購買，不自動超額扣款。</a:t>
            </a:r>
          </a:p>
          <a:p xmlns:a="http://schemas.openxmlformats.org/drawingml/2006/main">
            <a:r>
              <a:t>首次分身建立：NT$1,990，含一張合格正面照、一段合格錄音、一次驗收與一次重試，額外修復另報價。</a:t>
            </a:r>
          </a:p>
          <a:p xmlns:a="http://schemas.openxmlformats.org/drawingml/2006/main">
            <a:r>
              <a:t>永久封存服務：首 1 GiB 暫以 NT$4,990，包含整理、校驗與交付協助；新增量暫以 NT$3,490／GiB，按 0.1 GiB 向上計算。這是服務售價，不是 Arweave 原始成本。付款前依最新上傳成本確認報價，未封存容量不視為可循環使用的磁碟。</a:t>
            </a:r>
          </a:p>
          <a:p xmlns:a="http://schemas.openxmlformats.org/drawingml/2006/main">
            <a:r>
              <a:t>金流來源：</a:t>
            </a:r>
            <a:r>
              <a:rPr u="sng">
                <a:hlinkClick xmlns:ns0="http://schemas.openxmlformats.org/officeDocument/2006/relationships" ns0:id="rIdCost6"/>
              </a:rPr>
              <a:t>綠界一般賣家服務費率</a:t>
            </a:r>
            <a:r>
              <a:t>，國內信用卡2.75%未稅、手續費另加5%稅及每筆1元處理費；本模型採3%＋1元作預留。正式定期扣款與特約費仍依合約，不能套用一般賣家頁面當完整訂閱金流報價。</a:t>
            </a:r>
          </a:p>
          <a:p xmlns:a="http://schemas.openxmlformats.org/drawingml/2006/main">
            <a:r>
              <a:t>稅與金流試算：售價為含稅假設，不含稅收入以售價／1.05估算；金流預算以售價×3%＋1計算。這是規劃口徑，非正式支付合約或稅務認定。不計進項扣抵，不扣所得稅。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四、本地設備：頁面約 NT$25–30 萬／套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基準採 RTX 5090 32 GB 整機一套，含 UPS、備份與網路設備。以同級新機重置預算估算，不宣稱為團隊實際購買發票。</a:t>
            </a:r>
          </a:p>
          <a:p xmlns:a="http://schemas.openxmlformats.org/drawingml/2006/main">
            <a:r>
              <a:t>欣亞 MSI MEG Vision X AI 2NVZ9-016TW，Ultra 9-285K／RTX5090 32G／DDR5 64G／2TB SSD，查價 </a:t>
            </a:r>
            <a:r>
              <a:rPr u="sng">
                <a:hlinkClick xmlns:ns0="http://schemas.openxmlformats.org/officeDocument/2006/relationships" ns0:id="rIdCost1"/>
              </a:rPr>
              <a:t>NT$249,800（欣亞商品頁）</a:t>
            </a:r>
            <a:r>
              <a:t>，頁面為貨到通知。</a:t>
            </a:r>
          </a:p>
          <a:p xmlns:a="http://schemas.openxmlformats.org/drawingml/2006/main">
            <a:r>
              <a:t>查價數字來自</a:t>
            </a:r>
            <a:r>
              <a:rPr u="sng">
                <a:hlinkClick xmlns:ns0="http://schemas.openxmlformats.org/officeDocument/2006/relationships" ns0:id="rIdCost1"/>
              </a:rPr>
              <a:t>整機商品頁</a:t>
            </a:r>
            <a:r>
              <a:t>；UPS、備份碟與網路設備金額是內部採購預算，未取得報價。</a:t>
            </a:r>
          </a:p>
          <a:p xmlns:a="http://schemas.openxmlformats.org/drawingml/2006/main">
            <a:r>
              <a:t>整機249,800＋UPS預留10,000＋備份碟6,000＋網路設備4,000＝NT$269,800。整機已含 GPU、CPU、RAM、電源和散熱，不再重複加購顯卡成本。</a:t>
            </a:r>
          </a:p>
          <a:p xmlns:a="http://schemas.openxmlformats.org/drawingml/2006/main">
            <a:r>
              <a:t>頁面區間25–30萬元是採購預算帶，中心值269,800。36個月直線攤提、殘值0：269,800／36＝NT$7,494.44／月。對應區間250,000／36至300,000／36＝6,944.44–8,333.33／月。</a:t>
            </a:r>
          </a:p>
          <a:p xmlns:a="http://schemas.openxmlformats.org/drawingml/2006/main">
            <a:r>
              <a:t>購入款為一次現金支出；採折舊估每月成本時不再將整筆購入款當月費成本。未含第二台備援、辦公室及冷氣裝機。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五、電費與散熱：頁面約 NT$1,500–6,000／月／台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制度參考：</a:t>
            </a:r>
            <a:r>
              <a:rPr u="sng">
                <a:hlinkClick xmlns:ns0="http://schemas.openxmlformats.org/officeDocument/2006/relationships" ns0:id="rIdCost5"/>
              </a:rPr>
              <a:t>台電電價費率及說明</a:t>
            </a:r>
            <a:r>
              <a:t>。以下功耗、運作時數、忙碌占比及冷卻係數均為內部估算，需電表及帳單確認。</a:t>
            </a:r>
          </a:p>
          <a:p xmlns:a="http://schemas.openxmlformats.org/drawingml/2006/main">
            <a:r>
              <a:t>假設整機待機0.15 kW，推理忙碌0.90 kW，每月730小時，冷卻及供電損耗係數1.20。功耗須日後以電表量測，1200W電源供應器額定值不等於持續耗電。</a:t>
            </a:r>
          </a:p>
          <a:p xmlns:a="http://schemas.openxmlformats.org/drawingml/2006/main">
            <a:r>
              <a:t>月電費＝[0.15＋(0.90−0.15)×忙碌占比]×730×每度電預算×1.20。</a:t>
            </a:r>
          </a:p>
          <a:p xmlns:a="http://schemas.openxmlformats.org/drawingml/2006/main">
            <a:r>
              <a:t>區間低情境：忙碌30%、每度5元，電費＝0.375×730×5×1.20＝NT$1,642.50。</a:t>
            </a:r>
          </a:p>
          <a:p xmlns:a="http://schemas.openxmlformats.org/drawingml/2006/main">
            <a:r>
              <a:t>區間高情境：忙碌100%、每度7元，電費＝0.90×730×7×1.20＝NT$5,518.80。</a:t>
            </a:r>
          </a:p>
          <a:p xmlns:a="http://schemas.openxmlformats.org/drawingml/2006/main">
            <a:r>
              <a:t>頁面向外取整為1,500–6,000元。這是情境範圍，非保證上下限，停機或較低使用時可更低。5–7元是預算單價，不是台電統一費率，實際取決於用戶別、用量與季節。</a:t>
            </a:r>
          </a:p>
          <a:p xmlns:a="http://schemas.openxmlformats.org/drawingml/2006/main">
            <a:r>
              <a:t>固定／變動拆分採每度5元：待機0.15×730×5×1.20＝NT$657／月；額外忙碌成本(0.90−0.15)×5×1.20＝NT$4.50／GPU忙碌小時。採此拆分後不再疊加整月電費，避免重複計入。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六、Arweave：頁面約 NT$1,800–2,600／GiB，一次性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以專案已有的 ArDrive Turbo 上傳路徑作預算基準，這是 Turbo 接入 Arweave 的成本，不是直傳 Arweave 或 Irys 的通用固定單價。</a:t>
            </a:r>
          </a:p>
          <a:p xmlns:a="http://schemas.openxmlformats.org/drawingml/2006/main">
            <a:r>
              <a:t>本次API報價時間：2026-09-15T20:57:04.7959249+08:00。</a:t>
            </a:r>
          </a:p>
          <a:p xmlns:a="http://schemas.openxmlformats.org/drawingml/2006/main">
            <a:r>
              <a:t>1 GiB＝1,073,741,824 bytes。</a:t>
            </a:r>
          </a:p>
          <a:p xmlns:a="http://schemas.openxmlformats.org/drawingml/2006/main">
            <a:r>
              <a:rPr u="sng">
                <a:hlinkClick xmlns:ns0="http://schemas.openxmlformats.org/officeDocument/2006/relationships" ns0:id="rIdCost2"/>
              </a:rPr>
              <a:t>GET /v1/rates 即時費率</a:t>
            </a:r>
            <a:r>
              <a:t>：每GiB WINC=13980480526047、USD=57.857680946256、perDataItemFeeWinc=7434945。</a:t>
            </a:r>
          </a:p>
          <a:p xmlns:a="http://schemas.openxmlformats.org/drawingml/2006/main">
            <a:r>
              <a:rPr u="sng">
                <a:hlinkClick xmlns:ns0="http://schemas.openxmlformats.org/officeDocument/2006/relationships" ns0:id="rIdCost3"/>
              </a:rPr>
              <a:t>GET /v1/price/bytes/1073741824 單 GiB 報價</a:t>
            </a:r>
            <a:r>
              <a:t>：WINC=13980487960992。</a:t>
            </a:r>
          </a:p>
          <a:p xmlns:a="http://schemas.openxmlformats.org/drawingml/2006/main">
            <a:r>
              <a:t>換算依據：</a:t>
            </a:r>
            <a:r>
              <a:rPr u="sng">
                <a:hlinkClick xmlns:ns0="http://schemas.openxmlformats.org/officeDocument/2006/relationships" ns0:id="rIdCost4"/>
              </a:rPr>
              <a:t>Turbo SDK getFiatRates／getFiatEstimateForBytes</a:t>
            </a:r>
            <a:r>
              <a:t>。32元匯率、5元差額、20%緩衝與30–35元匯率情境是規劃假設，非API報價。</a:t>
            </a:r>
          </a:p>
          <a:p xmlns:a="http://schemas.openxmlformats.org/drawingml/2006/main">
            <a:r>
              <a:t>美元成本＝bytes報價WINC／rates.winc×rates.fiat.usd＝US$57.85771172／GiB。WINC以整數精度處理為正式實作要求，本估算此級距仍在JavaScript安全整數範圍。</a:t>
            </a:r>
          </a:p>
          <a:p xmlns:a="http://schemas.openxmlformats.org/drawingml/2006/main">
            <a:r>
              <a:t>規劃匯率32元／美元，原始成本＝57.85771172×32＝NT$1,851.45／GiB。</a:t>
            </a:r>
          </a:p>
          <a:p xmlns:a="http://schemas.openxmlformats.org/drawingml/2006/main">
            <a:r>
              <a:t>另預留每GiB 5元小檔管理差額，價格／匯率／重試緩衝20%：ceil[(1,851.45＋5)×1.20]＝NT$2228／GiB。</a:t>
            </a:r>
          </a:p>
          <a:p xmlns:a="http://schemas.openxmlformats.org/drawingml/2006/main">
            <a:r>
              <a:t>單檔bytes報價已含該data item費用，不重複加計。正式訂單需按加密與封裝後各data item逐筆估價，分片及大量小檔可能改變結果。</a:t>
            </a:r>
          </a:p>
          <a:p xmlns:a="http://schemas.openxmlformats.org/drawingml/2006/main">
            <a:r>
              <a:t>頁面區間以本次美元報價、匯率30–35及最多20%緩衝作情境：原始成本約1,735.73–2,025.02元；高情境(美元成本×35＋5)×1.20約2,436.02元，取概略展示帶1,800–2,600元。它不是報價承諾或價格統計信賴區間。</a:t>
            </a:r>
          </a:p>
          <a:p xmlns:a="http://schemas.openxmlformats.org/drawingml/2006/main">
            <a:r>
              <a:t>舊版08:55快照為US$60.625148／GiB，舊基準成本1,940元、含緩衝2,335元。本次已改用20:57報價，不將兩個時間點混算。</a:t>
            </a:r>
          </a:p>
          <a:p xmlns:a="http://schemas.openxmlformats.org/drawingml/2006/main">
            <a:r>
              <a:t>更新檔案是新增不可覆寫的上傳，會再產生成本；既有成功封存不因新價格上漲而補收月租。小檔免費補貼不作長期商業前提。每筆付款前重新取價並確認，成本超出預算帶則更新新單報價。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&lt;a id="maintenance"&gt;&lt;/a&gt;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七、平台維運：頁面約 NT$5,000–10,000／月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【內部預算，非外部報價】本節每一項金額均由團隊先行編列，目前沒有可以證明這些金額的廠商報價連結。正式簽約後應以實際方案頁／報價單替換。</a:t>
            </a:r>
          </a:p>
          <a:p xmlns:a="http://schemas.openxmlformats.org/drawingml/2006/main">
            <a:r>
              <a:t>以單機、小規模試營運、低流量免費追思頁的假設編列：網路1,200＋主站／DB／備份／CDN1,800＋RPC／金鑰服務預留1,000＋維修準備2,000＋公益免費池1,500＝NT$7,500／月。</a:t>
            </a:r>
          </a:p>
          <a:p xmlns:a="http://schemas.openxmlformats.org/drawingml/2006/main">
            <a:r>
              <a:t>這個區間是預算，不是已簽供應商報價。涵蓋RAG索引、快取、備份和傳輸等持續工作，不重複購買已封存的Arweave容量。</a:t>
            </a:r>
          </a:p>
          <a:p xmlns:a="http://schemas.openxmlformats.org/drawingml/2006/main">
            <a:r>
              <a:t>不含設備折舊、電費、全職人事、研發、行銷、租金、大量影音流量或正式模型商業授權。RPC／金鑰服務僅為预留，Lit是否正式使用及費率仍待確認。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八、AI用量、credits與單位成本的精算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本節依據：</a:t>
            </a:r>
            <a:r>
              <a:rPr u="sng">
                <a:hlinkClick xmlns:ns0="http://schemas.openxmlformats.org/officeDocument/2006/relationships" ns0:id="rIdCost7"/>
              </a:rPr>
              <a:t>專案本機部署與效能紀錄</a:t>
            </a:r>
            <a:r>
              <a:t>，IndexTTS2既有RTF約2.7。3.5 GPU分鐘／音訊分鐘、每次回覆2秒與辨識預算0.50元／分鐘為內部假設。</a:t>
            </a:r>
          </a:p>
          <a:p xmlns:a="http://schemas.openxmlformats.org/drawingml/2006/main">
            <a:r>
              <a:t>Chatterbox Multilingual V3目前仍在評估，未於本地5090實測。本講稿不使用H100宣傳速度推算本機收益，也不把更换模型的效能改善預先列為已實現節省。</a:t>
            </a:r>
          </a:p>
          <a:p xmlns:a="http://schemas.openxmlformats.org/drawingml/2006/main">
            <a:r>
              <a:t>暫沿用原方案保守預算：每1分鐘生成音訊含表情／頭姿共用3.5 GPU忙碌分鐘；每次文字回覆2秒。前者是原IndexTTS2文件RTF2.7之上的規劃餘裕，後者也是假設。更換TTS後須重測完整工作、暖機、併發、顯存與P95延遲，再修改此係數。</a:t>
            </a:r>
          </a:p>
          <a:p xmlns:a="http://schemas.openxmlformats.org/drawingml/2006/main">
            <a:r>
              <a:t>每文字credit增量電費＝2／3600×4.50＝NT$0.0025。</a:t>
            </a:r>
          </a:p>
          <a:p xmlns:a="http://schemas.openxmlformats.org/drawingml/2006/main">
            <a:r>
              <a:t>每語音credit代表1秒音訊，增量GPU時間3.5秒，增量電費＝3.5／3600×4.50＝NT$0.004375。這只是增量電費，不是完整服務成本。</a:t>
            </a:r>
          </a:p>
          <a:p xmlns:a="http://schemas.openxmlformats.org/drawingml/2006/main">
            <a:r>
              <a:t>文字訂閱滿額GPU時間＝300×2／3600＝0.17小時；電費0.75元。</a:t>
            </a:r>
          </a:p>
          <a:p xmlns:a="http://schemas.openxmlformats.org/drawingml/2006/main">
            <a:r>
              <a:t>聲影訂閱滿額GPU時間＝600×2／3600＋60×3.5／60＝3.83小時；電費17.25元。</a:t>
            </a:r>
          </a:p>
          <a:p xmlns:a="http://schemas.openxmlformats.org/drawingml/2006/main">
            <a:r>
              <a:t>輸入語音辨識另留每分鐘0.50元，60分鐘為30元，這是預算非指定供應商報價。若改本地辨識，移除此API預留並加回GPU時間。</a:t>
            </a:r>
          </a:p>
          <a:p xmlns:a="http://schemas.openxmlformats.org/drawingml/2006/main">
            <a:r>
              <a:t>文字戶每月變動成本：電費0.75＋客服／處理20＋金流9.97＝NT$30.72。不含稅收入扣變動成本＝299／1.05−30.72＝NT$254.04。</a:t>
            </a:r>
          </a:p>
          <a:p xmlns:a="http://schemas.openxmlformats.org/drawingml/2006/main">
            <a:r>
              <a:t>聲影戶每月變動成本：電費17.25＋辨識30＋客服／處理40＋金流27.97＝NT$115.22。貢獻餘額＝899／1.05−115.22＝NT$740.97。</a:t>
            </a:r>
          </a:p>
          <a:p xmlns:a="http://schemas.openxmlformats.org/drawingml/2006/main">
            <a:r>
              <a:t>加購199元示例：GPU時間＝30×3.5／60＋300×2／3600＝1.916667小時；增量電費8.625＋辨識15＋處理10＋金流6.97＝40.595元。貢獻餘額199／1.05−40.595＝148.93元。仍需負擔固定成本與容量，不等於利潤。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九、一次性服務售價為何高於原始儲存費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本節Arweave成本承接第六節</a:t>
            </a:r>
            <a:r>
              <a:rPr u="sng">
                <a:hlinkClick xmlns:ns0="http://schemas.openxmlformats.org/officeDocument/2006/relationships" ns0:id="rIdCost2"/>
              </a:rPr>
              <a:t>Turbo API</a:t>
            </a:r>
            <a:r>
              <a:t>快照計算，金流參考</a:t>
            </a:r>
            <a:r>
              <a:rPr u="sng">
                <a:hlinkClick xmlns:ns0="http://schemas.openxmlformats.org/officeDocument/2006/relationships" ns0:id="rIdCost6"/>
              </a:rPr>
              <a:t>綠界費率</a:t>
            </a:r>
            <a:r>
              <a:t>並保守預留；其他人工、gas、校驗及售後金額都是預算。售價由內部提案設定。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首1GiB服務售價4,990元：Arweave成本預算2228＋人工整理1.5小時×400＝600＋鏈上交易預留150＋校驗交付100＋金流150.70＋重做／售後準備200＝NT$3,428.70。貢獻餘額＝4990／1.05−3,428.70＝NT$1,323.68。</a:t>
            </a:r>
          </a:p>
          <a:p xmlns:a="http://schemas.openxmlformats.org/drawingml/2006/main">
            <a:r>
              <a:t>新增1GiB售價3,490元：2228＋處理100＋校驗50＋金流105.70＝NT$2,483.70，貢獻餘額＝3490／1.05−2,483.70＝NT$840.11。</a:t>
            </a:r>
          </a:p>
          <a:p xmlns:a="http://schemas.openxmlformats.org/drawingml/2006/main">
            <a:r>
              <a:t>分身建置售價1,990元：人工600＋10分鐘GPU增量電費0.75＋臨時輸出50＋金流60.70＋修正預留200＝911.45元，貢獻餘額1990／1.05−911.45＝983.79元。折舊已列月固定成本，不重複攤入此式。</a:t>
            </a:r>
          </a:p>
          <a:p xmlns:a="http://schemas.openxmlformats.org/drawingml/2006/main">
            <a:r>
              <a:t>人工400元／小時、鏈上150元、重做準備均為假設。主網gas、正式部署鏈與模型授權需另查，測試網免費不代表商用零成本。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十、固定成本、損益與容量示例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本節是第四至九節的加總與情境試算，並非外部市調或已實現營收。戶數、組合、40%可出售GPU時數与100,000元人事開發預算均為假設。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月固定成本＝設備折舊7,494.44＋待機電費657＋平台維運7,500＝NT$15,651.44。</a:t>
            </a:r>
          </a:p>
          <a:p xmlns:a="http://schemas.openxmlformats.org/drawingml/2006/main">
            <a:r>
              <a:t>假設100個付費塔位，文字60戶、聲影40戶，全部用滿：含稅月收60×299＋40×899＝53,900；不含稅收入51,333.33；變動成本60×30.72＋40×115.22＝6,452.00；扣固定後餘額＝NT$29,229.89。</a:t>
            </a:r>
          </a:p>
          <a:p xmlns:a="http://schemas.openxmlformats.org/drawingml/2006/main">
            <a:r>
              <a:t>此餘額未扣全職人事、研發、獲客、租金及所得稅，不是淨利，也未把一次性封存收入當訂閱收入。</a:t>
            </a:r>
          </a:p>
          <a:p xmlns:a="http://schemas.openxmlformats.org/drawingml/2006/main">
            <a:r>
              <a:t>60／40組合平均單戶貢獻＝NT$448.81，覆蓋本表基本成本約需ceil(15,651.44／448.81)＝35戶。加入每月100,000元人事開發預算，紙上需258戶，但尚受單機容量限制。</a:t>
            </a:r>
          </a:p>
          <a:p xmlns:a="http://schemas.openxmlformats.org/drawingml/2006/main">
            <a:r>
              <a:t>100戶GPU月忙碌時數＝60×0.166667＋40×3.833333＝163.33小時。規劃可出售容量730×40%＝292小時，預留尖峰、維護與建立分身。此時同組合滿額理論約178戶，不能推成可同時在線數或延遲保證。更換TTS後必須重新估算。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十一、評審追問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問：儲存一次付費，為什麼還收訂閱？</a:t>
            </a:r>
          </a:p>
          <a:p xmlns:a="http://schemas.openxmlformats.org/drawingml/2006/main">
            <a:r>
              <a:t>答：訂閱支付AI推論、檢索、管理及網站維運。既有Arweave封存不收儲存月租，新增封存才再按量付費。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問：訂閱和credits會不會重複收？</a:t>
            </a:r>
          </a:p>
          <a:p xmlns:a="http://schemas.openxmlformats.org/drawingml/2006/main">
            <a:r>
              <a:t>答：訂閱含基本額度，先用內含點數；額度不足時才自願加購。不同服務的計量和扣點明列，失敗和重播不扣生成點數。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問：有自己的電腦，不就只剩電費？</a:t>
            </a:r>
          </a:p>
          <a:p xmlns:a="http://schemas.openxmlformats.org/drawingml/2006/main">
            <a:r>
              <a:t>答：仍有設備折舊、維修、網路、資料庫與備份、人力，以及尖峰容量成本。credits不能只依幾元電費定價。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問：為什麼現在不報確定價格？</a:t>
            </a:r>
          </a:p>
          <a:p xmlns:a="http://schemas.openxmlformats.org/drawingml/2006/main">
            <a:r>
              <a:t>答：本頁先說明收入如何對應成本。備註中的試算用於檢查可持續性，正式售價仍需用本機效能、供應商報價及付費意願驗證。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十二、來源與查核口徑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Arweave/Turbo原始API，2026-09-15 20:57取得：</a:t>
            </a:r>
            <a:r>
              <a:rPr u="sng">
                <a:hlinkClick xmlns:ns0="http://schemas.openxmlformats.org/officeDocument/2006/relationships" ns0:id="rIdCost2"/>
              </a:rPr>
              <a:t>https://payment.ardrive.io/v1/rates</a:t>
            </a:r>
          </a:p>
          <a:p xmlns:a="http://schemas.openxmlformats.org/drawingml/2006/main">
            <a:r>
              <a:t>單GiB報價：</a:t>
            </a:r>
            <a:r>
              <a:rPr u="sng">
                <a:hlinkClick xmlns:ns0="http://schemas.openxmlformats.org/officeDocument/2006/relationships" ns0:id="rIdCost3"/>
              </a:rPr>
              <a:t>https://payment.ardrive.io/v1/price/bytes/1073741824</a:t>
            </a:r>
          </a:p>
          <a:p xmlns:a="http://schemas.openxmlformats.org/drawingml/2006/main">
            <a:r>
              <a:t>換算公式與SDK：</a:t>
            </a:r>
            <a:r>
              <a:rPr u="sng">
                <a:hlinkClick xmlns:ns0="http://schemas.openxmlformats.org/officeDocument/2006/relationships" ns0:id="rIdCost8"/>
              </a:rP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Turbo credits說明：</a:t>
            </a:r>
            <a:r>
              <a:rPr u="sng">
                <a:hlinkClick xmlns:ns0="http://schemas.openxmlformats.org/officeDocument/2006/relationships" ns0:id="rIdCost9"/>
              </a:rPr>
              <a:t>https://docs.ar.io/build/upload/turbo-credits</a:t>
            </a:r>
          </a:p>
          <a:p xmlns:a="http://schemas.openxmlformats.org/drawingml/2006/main">
            <a:r>
              <a:t>RTX5090整機參考，2026-09-15頁面249,800元：</a:t>
            </a:r>
            <a:r>
              <a:rPr u="sng">
                <a:hlinkClick xmlns:ns0="http://schemas.openxmlformats.org/officeDocument/2006/relationships" ns0:id="rIdCost1"/>
              </a:rPr>
              <a:t>https://www.sinya.com.tw/prod/214584</a:t>
            </a:r>
          </a:p>
          <a:p xmlns:a="http://schemas.openxmlformats.org/drawingml/2006/main">
            <a:r>
              <a:t>電價制度參考：</a:t>
            </a:r>
            <a:r>
              <a:rPr u="sng">
                <a:hlinkClick xmlns:ns0="http://schemas.openxmlformats.org/officeDocument/2006/relationships" ns0:id="rIdCost5"/>
              </a:rPr>
              <a:t>台電官方費率及說明</a:t>
            </a:r>
            <a:r>
              <a:t>（正式估價依實際用戶帳單，本計算5–7元是預算）</a:t>
            </a:r>
          </a:p>
          <a:p xmlns:a="http://schemas.openxmlformats.org/drawingml/2006/main">
            <a:r>
              <a:t>本機部署與IndexTTS2既有記錄：docs/server/SERVER.md，第11、12節。</a:t>
            </a:r>
          </a:p>
          <a:p xmlns:a="http://schemas.openxmlformats.org/drawingml/2006/main">
            <a:r>
              <a:t>Chatterbox V3目前仍待本機測試：</a:t>
            </a:r>
            <a:r>
              <a:rPr u="sng">
                <a:hlinkClick xmlns:ns0="http://schemas.openxmlformats.org/officeDocument/2006/relationships" ns0:id="rIdCost10"/>
              </a:rPr>
              <a:t>https://github.com/resemble-ai/chatterbox</a:t>
            </a:r>
          </a:p>
          <a:p xmlns:a="http://schemas.openxmlformats.org/drawingml/2006/main">
            <a:r>
              <a:t>金流公開費率已核對：</a:t>
            </a:r>
            <a:r>
              <a:rPr u="sng">
                <a:hlinkClick xmlns:ns0="http://schemas.openxmlformats.org/officeDocument/2006/relationships" ns0:id="rIdCost6"/>
              </a:rPr>
              <a:t>綠界服務費率表</a:t>
            </a:r>
            <a:r>
              <a:t>，但仍未取得專案正式支付合約；RPC、Lit與雲端費用亦未取得正式合約，相關數字仍為預留。</a:t>
            </a:r>
          </a:p>
          <a:p xmlns:a="http://schemas.openxmlformats.org/drawingml/2006/main">
            <a:r>
              <a:t>未列入主頁區間：全職人事與研發、模型及FLAME等素材商業授權、主網gas、正式金鑰服務、資安稽核、第二台備援、大量LiveKit媒體傳輸。這些不得因開源或自架就視為零，正式商用需另編。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1ebb86309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a139e9a9d439d" /><Relationship Type="http://schemas.openxmlformats.org/officeDocument/2006/relationships/slideLayout" Target="/ppt/slideLayouts/slideLayout1.xml" Id="R528ee07f900c42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ee07f900c42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ecc619ab98a4245"/><Relationship Type="http://schemas.openxmlformats.org/officeDocument/2006/relationships/notesSlide" Target="/ppt/notesSlides/notesSlide1.xml" Id="R42d1939eb2c24eb9"/><Relationship Type="http://schemas.openxmlformats.org/officeDocument/2006/relationships/hyperlink" Target="https://www.sinya.com.tw/prod/214584" TargetMode="External" Id="Rbefd1d56c1d14019"/><Relationship Type="http://schemas.openxmlformats.org/officeDocument/2006/relationships/hyperlink" Target="https://payment.ardrive.io/v1/rates" TargetMode="External" Id="R6d2f93f4eabe4a3e"/><Relationship Type="http://schemas.openxmlformats.org/officeDocument/2006/relationships/hyperlink" Target="https://hc1.taipower.com.tw/2289/2558/49405/49408/67252/" TargetMode="External" Id="Re304560e6cfd4fe8"/><Relationship Type="http://schemas.openxmlformats.org/officeDocument/2006/relationships/hyperlink" Target="Aeterlux-Billing-Model-Speaker-Notes-Sources.md#maintenance" TargetMode="External" Id="R0c442e4bf62d4a9e"/><Relationship Type="http://schemas.openxmlformats.org/officeDocument/2006/relationships/hyperlink" Target="https://www.sinya.com.tw/prod/214584" TargetMode="External" Id="Rfb35c72e99ed45b6"/><Relationship Type="http://schemas.openxmlformats.org/officeDocument/2006/relationships/hyperlink" Target="https://www.sinya.com.tw/prod/214584" TargetMode="External" Id="R33a7693043074b0d"/><Relationship Type="http://schemas.openxmlformats.org/officeDocument/2006/relationships/hyperlink" Target="https://payment.ardrive.io/v1/rates" TargetMode="External" Id="Rc620bd5b852c4a56"/><Relationship Type="http://schemas.openxmlformats.org/officeDocument/2006/relationships/hyperlink" Target="https://hc1.taipower.com.tw/2289/2558/49405/49408/67252/" TargetMode="External" Id="R8e39cb06b50c4ef6"/><Relationship Type="http://schemas.openxmlformats.org/officeDocument/2006/relationships/hyperlink" Target="Aeterlux-Billing-Model-Speaker-Notes-Sources.md#maintenance" TargetMode="External" Id="R67b72e77ff704469"/><Relationship Type="http://schemas.openxmlformats.org/officeDocument/2006/relationships/hyperlink" Target="https://payment.ardrive.io/v1/rates" TargetMode="External" Id="R856190ab2f434441"/><Relationship Type="http://schemas.openxmlformats.org/officeDocument/2006/relationships/hyperlink" Target="https://payment.ardrive.io/v1/rates" TargetMode="External" Id="R7e70162a299d4628"/><Relationship Type="http://schemas.openxmlformats.org/officeDocument/2006/relationships/hyperlink" Target="https://hc1.taipower.com.tw/2289/2558/49405/49408/67252/" TargetMode="External" Id="Rf760fe33edb6428d"/><Relationship Type="http://schemas.openxmlformats.org/officeDocument/2006/relationships/hyperlink" Target="https://www.sinya.com.tw/prod/214584" TargetMode="External" Id="R049b1fca1cc44022"/><Relationship Id="rIdCostTable1" Type="http://schemas.openxmlformats.org/officeDocument/2006/relationships/hyperlink" Target="https://www.sinya.com.tw/prod/214584" TargetMode="External"/><Relationship Id="rIdCostTable2" Type="http://schemas.openxmlformats.org/officeDocument/2006/relationships/hyperlink" Target="https://payment.ardrive.io/v1/rates" TargetMode="External"/><Relationship Id="rIdCostTable3" Type="http://schemas.openxmlformats.org/officeDocument/2006/relationships/hyperlink" Target="https://hc1.taipower.com.tw/2289/2558/49405/49408/67252/" TargetMode="External"/><Relationship Id="rIdCostTable4" Type="http://schemas.openxmlformats.org/officeDocument/2006/relationships/hyperlink" Target="Aeterlux-Billing-Model-Speaker-Notes-Sources.md#maintenance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AF6A5BA5-CEE9-4BDA-850F-CCB2744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E3FA80B6-276D-4E10-93D9-F253A9E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收費模式與成本來源</a:t>
            </a:r>
          </a:p>
        </p:txBody>
      </p:sp>
      <p:sp>
        <p:nvSpPr>
          <p:cNvPr id="31" name="proposal">
            <a:extLst xmlns:a="http://schemas.openxmlformats.org/drawingml/2006/main">
              <a:ext uri="{FF2B5EF4-FFF2-40B4-BE49-F238E27FC236}">
                <a16:creationId xmlns:a16="http://schemas.microsoft.com/office/drawing/2014/main" id="{E6D2D2E8-A571-4C8D-882F-3CA4341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商業模式提案</a:t>
            </a:r>
          </a:p>
        </p:txBody>
      </p:sp>
      <p:sp>
        <p:nvSpPr>
          <p:cNvPr id="32" name="billing-heading">
            <a:extLst xmlns:a="http://schemas.openxmlformats.org/drawingml/2006/main">
              <a:ext uri="{FF2B5EF4-FFF2-40B4-BE49-F238E27FC236}">
                <a16:creationId xmlns:a16="http://schemas.microsoft.com/office/drawing/2014/main" id="{13EFD992-0221-4A90-BF6F-7CA945D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</a:t>
            </a:r>
          </a:p>
        </p:txBody>
      </p:sp>
      <p:sp>
        <p:nvSpPr>
          <p:cNvPr id="33" name="mode-0">
            <a:extLst xmlns:a="http://schemas.openxmlformats.org/drawingml/2006/main">
              <a:ext uri="{FF2B5EF4-FFF2-40B4-BE49-F238E27FC236}">
                <a16:creationId xmlns:a16="http://schemas.microsoft.com/office/drawing/2014/main" id="{2C0FB3BC-AC6C-4AF3-9ED4-F96B8F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SaaS 訂閱</a:t>
            </a:r>
          </a:p>
        </p:txBody>
      </p:sp>
      <p:sp>
        <p:nvSpPr>
          <p:cNvPr id="34" name="model-0">
            <a:extLst xmlns:a="http://schemas.openxmlformats.org/drawingml/2006/main">
              <a:ext uri="{FF2B5EF4-FFF2-40B4-BE49-F238E27FC236}">
                <a16:creationId xmlns:a16="http://schemas.microsoft.com/office/drawing/2014/main" id="{14367EEE-85E7-4A15-B920-E3A41A8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持續服務</a:t>
            </a:r>
          </a:p>
        </p:txBody>
      </p:sp>
      <p:sp>
        <p:nvSpPr>
          <p:cNvPr id="3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EE3432E-8716-4E39-8329-47AA7E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記憶對話與管理功能</a:t>
            </a:r>
          </a:p>
        </p:txBody>
      </p:sp>
      <p:sp>
        <p:nvSpPr>
          <p:cNvPr id="36" name="meter-0">
            <a:extLst xmlns:a="http://schemas.openxmlformats.org/drawingml/2006/main">
              <a:ext uri="{FF2B5EF4-FFF2-40B4-BE49-F238E27FC236}">
                <a16:creationId xmlns:a16="http://schemas.microsoft.com/office/drawing/2014/main" id="{A7DE60E7-CCDC-49A9-B234-37C8C10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每個塔位訂閱，家屬共用</a:t>
            </a:r>
          </a:p>
        </p:txBody>
      </p:sp>
      <p:sp>
        <p:nvSpPr>
          <p:cNvPr id="37" name="rule-0">
            <a:extLst xmlns:a="http://schemas.openxmlformats.org/drawingml/2006/main">
              <a:ext uri="{FF2B5EF4-FFF2-40B4-BE49-F238E27FC236}">
                <a16:creationId xmlns:a16="http://schemas.microsoft.com/office/drawing/2014/main" id="{0B05C033-6053-4D0F-BB3F-A618B33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內含基本使用額度</a:t>
            </a:r>
          </a:p>
        </p:txBody>
      </p:sp>
      <p:sp>
        <p:nvSpPr>
          <p:cNvPr id="38" name="mode-1">
            <a:extLst xmlns:a="http://schemas.openxmlformats.org/drawingml/2006/main">
              <a:ext uri="{FF2B5EF4-FFF2-40B4-BE49-F238E27FC236}">
                <a16:creationId xmlns:a16="http://schemas.microsoft.com/office/drawing/2014/main" id="{B5CBAB77-FE7B-4BBA-9630-A086AD8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Credits 計量</a:t>
            </a:r>
          </a:p>
        </p:txBody>
      </p:sp>
      <p:sp>
        <p:nvSpPr>
          <p:cNvPr id="39" name="model-1">
            <a:extLst xmlns:a="http://schemas.openxmlformats.org/drawingml/2006/main">
              <a:ext uri="{FF2B5EF4-FFF2-40B4-BE49-F238E27FC236}">
                <a16:creationId xmlns:a16="http://schemas.microsoft.com/office/drawing/2014/main" id="{849C0C8B-ED3A-4CA1-B5F9-BD3D62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依用量扣點</a:t>
            </a:r>
          </a:p>
        </p:txBody>
      </p:sp>
      <p:sp>
        <p:nvSpPr>
          <p:cNvPr id="40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6D0CDEB-6B4F-4574-B16F-45F77C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文字按回覆，語音按生成秒數</a:t>
            </a:r>
          </a:p>
        </p:txBody>
      </p:sp>
      <p:sp>
        <p:nvSpPr>
          <p:cNvPr id="41" name="meter-1">
            <a:extLst xmlns:a="http://schemas.openxmlformats.org/drawingml/2006/main">
              <a:ext uri="{FF2B5EF4-FFF2-40B4-BE49-F238E27FC236}">
                <a16:creationId xmlns:a16="http://schemas.microsoft.com/office/drawing/2014/main" id="{96DA538F-D3CA-4CE1-B824-A38B213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額度用完，可主動加購</a:t>
            </a:r>
          </a:p>
        </p:txBody>
      </p:sp>
      <p:sp>
        <p:nvSpPr>
          <p:cNvPr id="42" name="rule-1">
            <a:extLst xmlns:a="http://schemas.openxmlformats.org/drawingml/2006/main">
              <a:ext uri="{FF2B5EF4-FFF2-40B4-BE49-F238E27FC236}">
                <a16:creationId xmlns:a16="http://schemas.microsoft.com/office/drawing/2014/main" id="{EAF61FBF-83A3-4AD2-9446-EB36E4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失敗與重播不扣生成點數</a:t>
            </a:r>
          </a:p>
        </p:txBody>
      </p:sp>
      <p:sp>
        <p:nvSpPr>
          <p:cNvPr id="43" name="mode-2">
            <a:extLst xmlns:a="http://schemas.openxmlformats.org/drawingml/2006/main">
              <a:ext uri="{FF2B5EF4-FFF2-40B4-BE49-F238E27FC236}">
                <a16:creationId xmlns:a16="http://schemas.microsoft.com/office/drawing/2014/main" id="{B88F38CF-0EF7-49C5-AD82-55F45BC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</a:t>
            </a:r>
          </a:p>
        </p:txBody>
      </p:sp>
      <p:sp>
        <p:nvSpPr>
          <p:cNvPr id="44" name="model-2">
            <a:extLst xmlns:a="http://schemas.openxmlformats.org/drawingml/2006/main">
              <a:ext uri="{FF2B5EF4-FFF2-40B4-BE49-F238E27FC236}">
                <a16:creationId xmlns:a16="http://schemas.microsoft.com/office/drawing/2014/main" id="{14190E6C-718F-4D32-AB7F-DB5A72E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一次性收費</a:t>
            </a:r>
          </a:p>
        </p:txBody>
      </p:sp>
      <p:sp>
        <p:nvSpPr>
          <p:cNvPr id="45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C7AFBDD9-7C5F-4111-A093-B056C2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照片、錄音與分身素材</a:t>
            </a:r>
          </a:p>
        </p:txBody>
      </p:sp>
      <p:sp>
        <p:nvSpPr>
          <p:cNvPr id="46" name="meter-2">
            <a:extLst xmlns:a="http://schemas.openxmlformats.org/drawingml/2006/main">
              <a:ext uri="{FF2B5EF4-FFF2-40B4-BE49-F238E27FC236}">
                <a16:creationId xmlns:a16="http://schemas.microsoft.com/office/drawing/2014/main" id="{7997AA01-17AD-447C-B1B8-5C7C34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依新增封存量上傳 Arweave</a:t>
            </a:r>
          </a:p>
        </p:txBody>
      </p:sp>
      <p:sp>
        <p:nvSpPr>
          <p:cNvPr id="47" name="rule-2">
            <a:extLst xmlns:a="http://schemas.openxmlformats.org/drawingml/2006/main">
              <a:ext uri="{FF2B5EF4-FFF2-40B4-BE49-F238E27FC236}">
                <a16:creationId xmlns:a16="http://schemas.microsoft.com/office/drawing/2014/main" id="{53D5EC15-47AD-44B3-A805-F711A52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已封存資料不收儲存月租</a:t>
            </a:r>
          </a:p>
        </p:txBody>
      </p:sp>
      <p:sp>
        <p:nvSpPr>
          <p:cNvPr id="48" name="storage-policy">
            <a:extLst xmlns:a="http://schemas.openxmlformats.org/drawingml/2006/main">
              <a:ext uri="{FF2B5EF4-FFF2-40B4-BE49-F238E27FC236}">
                <a16:creationId xmlns:a16="http://schemas.microsoft.com/office/drawing/2014/main" id="{0994EF21-F079-43A0-BA19-64DADE4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停止訂閱後，已完成的永久封存仍保留。新增素材或版本另按量封存。</a:t>
            </a:r>
          </a:p>
        </p:txBody>
      </p:sp>
      <p:sp>
        <p:nvSpPr>
          <p:cNvPr id="49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BADF175F-02B7-47CD-9A0B-12D6F5C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成本來源（概估）</a:t>
            </a:r>
          </a:p>
        </p:txBody>
      </p:sp>
      <p:sp>
        <p:nvSpPr>
          <p:cNvPr id="66" name="footnote">
            <a:extLst xmlns:a="http://schemas.openxmlformats.org/drawingml/2006/main">
              <a:ext uri="{FF2B5EF4-FFF2-40B4-BE49-F238E27FC236}">
                <a16:creationId xmlns:a16="http://schemas.microsoft.com/office/drawing/2014/main" id="{566D77E5-04A8-49BF-9E52-3FA3D4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34375"/>
            <a:ext cx="1402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2026/09/15 概估。連結提供查價或制度依據，功耗、維運與售價屬預算假設。詳細推算見備註。</a:t>
            </a:r>
          </a:p>
        </p:txBody>
      </p:sp>
      <p:graphicFrame>
        <p:nvGraphicFramePr>
          <p:cNvPr id="94" name=""/>
          <p:cNvGraphicFramePr/>
          <p:nvPr/>
        </p:nvGraphicFramePr>
        <p:xfrm>
          <a:off xmlns:a="http://schemas.openxmlformats.org/drawingml/2006/main" x="609600" y="6257925"/>
          <a:ext xmlns:a="http://schemas.openxmlformats.org/drawingml/2006/main" cx="14020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1524000"/>
                <a:gridCol w="4667250"/>
                <a:gridCol w="3352800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成本項目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概估區間（NT$）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支出方式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涵蓋內容／估算口徑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核對來源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本地設備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0="http://schemas.openxmlformats.org/officeDocument/2006/relationships" ns0:id="rIdCostTable1"/>
                        </a:rPr>
                        <a:t>25–30 萬／套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一次投入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GPU 電腦、UPS 與備份，逐月攤提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 u="sng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1="http://schemas.openxmlformats.org/officeDocument/2006/relationships" ns1:id="rIdCostTable1"/>
                        </a:rPr>
                        <a:t>[1] 欣亞整機＋周邊預算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Arweave 封存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2="http://schemas.openxmlformats.org/officeDocument/2006/relationships" ns2:id="rIdCostTable2"/>
                        </a:rPr>
                        <a:t>1,800–2,600／GiB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一次性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按新增封存量，依即時報價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 u="sng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3="http://schemas.openxmlformats.org/officeDocument/2006/relationships" ns3:id="rIdCostTable2"/>
                        </a:rPr>
                        <a:t>[2] Turbo 報價 API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電費與散熱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4="http://schemas.openxmlformats.org/officeDocument/2006/relationships" ns4:id="rIdCostTable3"/>
                        </a:rPr>
                        <a:t>1,500–6,000／月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每月支出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單台電腦，依負載與電價估算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 u="sng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5="http://schemas.openxmlformats.org/officeDocument/2006/relationships" ns5:id="rIdCostTable3"/>
                        </a:rPr>
                        <a:t>[3] 台電制度＋功耗假設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平台維運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6="http://schemas.openxmlformats.org/officeDocument/2006/relationships" ns6:id="rIdCostTable4"/>
                        </a:rPr>
                        <a:t>5,000–10,000／月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每月支出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網路、資料庫、備份等，不含人事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 u="sng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xmlns:ns7="http://schemas.openxmlformats.org/officeDocument/2006/relationships" ns7:id="rIdCostTable4"/>
                        </a:rPr>
                        <a:t>[4] 內部預算拆解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2026-09-15T13:43:26.9230000Z</dcterms:created>
  <dcterms:modified xsi:type="dcterms:W3CDTF">2026-09-15T13:43:26.9230000Z</dcterms:modified>
</coreProperties>
</file>