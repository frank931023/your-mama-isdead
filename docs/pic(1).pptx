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8" r:id="rId2"/>
    <p:sldId id="259" r:id="rId3"/>
    <p:sldId id="256" r:id="rId4"/>
    <p:sldId id="265" r:id="rId5"/>
    <p:sldId id="266" r:id="rId6"/>
    <p:sldId id="270" r:id="rId7"/>
    <p:sldId id="268" r:id="rId8"/>
    <p:sldId id="267" r:id="rId9"/>
    <p:sldId id="269" r:id="rId10"/>
    <p:sldId id="257" r:id="rId11"/>
    <p:sldId id="260" r:id="rId12"/>
    <p:sldId id="261" r:id="rId13"/>
    <p:sldId id="262" r:id="rId14"/>
    <p:sldId id="271" r:id="rId15"/>
    <p:sldId id="272" r:id="rId16"/>
    <p:sldId id="263" r:id="rId17"/>
    <p:sldId id="264" r:id="rId1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4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8A4565-6036-46B7-8A18-591F8BD9903F}" type="datetimeFigureOut">
              <a:rPr lang="zh-TW" altLang="en-US" smtClean="0"/>
              <a:t>2026/6/13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1AED23-E114-4E85-A245-99AA1342FC7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6528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1AED23-E114-4E85-A245-99AA1342FC76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4975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89CBD9-5558-C5A4-91E3-E05DC5653F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83E3645-7C89-C90E-0E2F-A1E77E9ED4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8A5BF32-7221-6123-66B2-D3006EA6D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4E190-BAF9-483F-9A5C-A4405E3D5EA4}" type="datetimeFigureOut">
              <a:rPr lang="zh-TW" altLang="en-US" smtClean="0"/>
              <a:t>2026/6/13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51BDF89-7D8D-8735-F8C2-1821C48A0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53365D1-6B87-5106-6D41-CA41D55BF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1B26E-0011-416A-9CC8-CC452E198E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4322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C83328-9CA8-4031-086C-6F38ED819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174A9E4-D21A-B3C0-370F-861F8A439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8E4AA9A-99D2-95CD-DFF5-FA2237CD4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4E190-BAF9-483F-9A5C-A4405E3D5EA4}" type="datetimeFigureOut">
              <a:rPr lang="zh-TW" altLang="en-US" smtClean="0"/>
              <a:t>2026/6/13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410F4F-F725-2879-7CD6-E680A7333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7DCDB7E-D63B-3EC1-BC51-8DB08594E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1B26E-0011-416A-9CC8-CC452E198E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3013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47FA67-24C9-8D42-BA8C-8AF30491E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A0E66EB-48B1-F200-DAF2-C80A4DAD7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4524C42-4EE8-6583-D033-D7C697E4C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4E190-BAF9-483F-9A5C-A4405E3D5EA4}" type="datetimeFigureOut">
              <a:rPr lang="zh-TW" altLang="en-US" smtClean="0"/>
              <a:t>2026/6/13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99EE811-59CC-87CB-3AB0-B3909F29F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2FE00C1-C4C8-362C-7BC1-1A945BE93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1B26E-0011-416A-9CC8-CC452E198E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8034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82B76-0515-B8F2-3069-E53D9A6B5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B13CE7E-C8BB-663C-BAD7-2C30C12CC6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EBD8B88-EEEA-7D95-5AF4-E32F00BA07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9920B11-55FD-CCD2-44FE-91CB8EE74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4E190-BAF9-483F-9A5C-A4405E3D5EA4}" type="datetimeFigureOut">
              <a:rPr lang="zh-TW" altLang="en-US" smtClean="0"/>
              <a:t>2026/6/13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B38909B-5C80-AF4C-5168-6FA318CA1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4483FFF-9C96-2A9A-6AEB-0CC15346D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1B26E-0011-416A-9CC8-CC452E198E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7989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B562E4-2E5C-C240-488A-2514D727B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0BBF465-7BF7-A6F7-C479-8C9374592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441C5B8-8DF6-6AE6-0F4A-94619D1705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4A8B640-4C87-38C5-1118-6532487140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EF9E0E7-E4CF-7E05-07A3-0CFD8424E2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C613297-728C-465A-90C7-6DB02D163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4E190-BAF9-483F-9A5C-A4405E3D5EA4}" type="datetimeFigureOut">
              <a:rPr lang="zh-TW" altLang="en-US" smtClean="0"/>
              <a:t>2026/6/13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7459F99-E835-D54B-2975-8CBA4AE3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70318C7-4692-4019-0D7D-E13AC6759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1B26E-0011-416A-9CC8-CC452E198E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312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7FF233-5017-A60A-43CE-836E48B4F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BD7454E-CB95-29F5-20A8-F14BAA3E0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4E190-BAF9-483F-9A5C-A4405E3D5EA4}" type="datetimeFigureOut">
              <a:rPr lang="zh-TW" altLang="en-US" smtClean="0"/>
              <a:t>2026/6/13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5556EE2-15EF-1DE1-E3A3-3ED4A6538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5008F99-1F21-E630-153E-0C9F7A75F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1B26E-0011-416A-9CC8-CC452E198E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7881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6B91F22-3FF8-3819-C53D-05A16848D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4E190-BAF9-483F-9A5C-A4405E3D5EA4}" type="datetimeFigureOut">
              <a:rPr lang="zh-TW" altLang="en-US" smtClean="0"/>
              <a:t>2026/6/13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752FF24-1A25-4ACF-3ACE-F044EB667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7417BBF-D3FD-8E2A-AD6A-272F7AA94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1B26E-0011-416A-9CC8-CC452E198E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3102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6F3FBC-033F-263A-4DB0-9A43E7ADA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301DA61-D055-F3AF-A657-1113E9F36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BCBA58C-922C-8F87-6E14-5686F9211C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3AE3E9D-DA57-89EF-CBE7-7968D7E22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4E190-BAF9-483F-9A5C-A4405E3D5EA4}" type="datetimeFigureOut">
              <a:rPr lang="zh-TW" altLang="en-US" smtClean="0"/>
              <a:t>2026/6/13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B53232C-9C92-82F7-03B7-74E7BC09B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A4B714F-213A-7526-A32E-2E0E7BED6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1B26E-0011-416A-9CC8-CC452E198E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3482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C71B83-0D1C-A0FE-7D49-CF6484BEB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4409192-FE12-DF77-2E77-0CE2D1B558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1ED3C01-424F-D0FD-E927-B17C03ED62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5A9FF02-E37D-13E7-2035-D21389ED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4E190-BAF9-483F-9A5C-A4405E3D5EA4}" type="datetimeFigureOut">
              <a:rPr lang="zh-TW" altLang="en-US" smtClean="0"/>
              <a:t>2026/6/13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C7C6BFB-B280-1A3E-F6F4-6E6FA4554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0D6ADA1-4DBE-DB8C-E99B-9A5F3B860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1B26E-0011-416A-9CC8-CC452E198E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1303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CA105F-B99F-B5FA-C659-CE4785EF3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5533841-A681-FCAD-4CFE-6F43713F33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B1A10BE-03E0-0052-35EC-5A8DFF80D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4E190-BAF9-483F-9A5C-A4405E3D5EA4}" type="datetimeFigureOut">
              <a:rPr lang="zh-TW" altLang="en-US" smtClean="0"/>
              <a:t>2026/6/13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20AA711-AEEC-B1D3-FEFE-03BC40096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858ED98-0AF7-30A6-17A2-FB734CBF5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1B26E-0011-416A-9CC8-CC452E198E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0620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0481059-4255-5DA7-E585-269BA775C7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264DD53-FD67-3743-FE41-BFAC07B47D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73EA6C4-0274-8D9B-C786-919C2A8DC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4E190-BAF9-483F-9A5C-A4405E3D5EA4}" type="datetimeFigureOut">
              <a:rPr lang="zh-TW" altLang="en-US" smtClean="0"/>
              <a:t>2026/6/13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FEE08BB-40A7-CA83-9FAB-72B26DA02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E5E8DB0-2AE9-271D-D6EE-516C8BC5D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1B26E-0011-416A-9CC8-CC452E198E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052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F67A776-A593-A224-5C1B-CF75A3FF8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2C34CA7-E07C-8F40-D261-D5A6BB5F6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25ADCB3-3D11-1D8E-F8B7-75E501B256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D4E190-BAF9-483F-9A5C-A4405E3D5EA4}" type="datetimeFigureOut">
              <a:rPr lang="zh-TW" altLang="en-US" smtClean="0"/>
              <a:t>2026/6/13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670F03F-58AB-F4F3-0B3B-8CB45E1C8A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2908BA1-C6AA-C419-E4D4-49A62A90E2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51B26E-0011-416A-9CC8-CC452E198E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4769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12.png"/><Relationship Id="rId18" Type="http://schemas.openxmlformats.org/officeDocument/2006/relationships/image" Target="../media/image23.png"/><Relationship Id="rId3" Type="http://schemas.openxmlformats.org/officeDocument/2006/relationships/image" Target="../media/image21.png"/><Relationship Id="rId7" Type="http://schemas.openxmlformats.org/officeDocument/2006/relationships/image" Target="../media/image17.png"/><Relationship Id="rId12" Type="http://schemas.openxmlformats.org/officeDocument/2006/relationships/image" Target="../media/image10.png"/><Relationship Id="rId17" Type="http://schemas.openxmlformats.org/officeDocument/2006/relationships/image" Target="../media/image28.png"/><Relationship Id="rId2" Type="http://schemas.openxmlformats.org/officeDocument/2006/relationships/image" Target="../media/image22.png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11.png"/><Relationship Id="rId5" Type="http://schemas.openxmlformats.org/officeDocument/2006/relationships/image" Target="../media/image19.png"/><Relationship Id="rId15" Type="http://schemas.openxmlformats.org/officeDocument/2006/relationships/image" Target="../media/image13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12" Type="http://schemas.openxmlformats.org/officeDocument/2006/relationships/image" Target="../media/image1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10.png"/><Relationship Id="rId5" Type="http://schemas.openxmlformats.org/officeDocument/2006/relationships/image" Target="../media/image18.png"/><Relationship Id="rId10" Type="http://schemas.openxmlformats.org/officeDocument/2006/relationships/image" Target="../media/image11.png"/><Relationship Id="rId4" Type="http://schemas.openxmlformats.org/officeDocument/2006/relationships/image" Target="../media/image31.png"/><Relationship Id="rId9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3" Type="http://schemas.openxmlformats.org/officeDocument/2006/relationships/image" Target="../media/image29.png"/><Relationship Id="rId7" Type="http://schemas.openxmlformats.org/officeDocument/2006/relationships/image" Target="../media/image32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35.png"/><Relationship Id="rId5" Type="http://schemas.openxmlformats.org/officeDocument/2006/relationships/image" Target="../media/image31.png"/><Relationship Id="rId15" Type="http://schemas.openxmlformats.org/officeDocument/2006/relationships/image" Target="../media/image39.jpeg"/><Relationship Id="rId10" Type="http://schemas.openxmlformats.org/officeDocument/2006/relationships/image" Target="../media/image34.png"/><Relationship Id="rId19" Type="http://schemas.openxmlformats.org/officeDocument/2006/relationships/image" Target="../media/image43.png"/><Relationship Id="rId4" Type="http://schemas.openxmlformats.org/officeDocument/2006/relationships/image" Target="../media/image30.png"/><Relationship Id="rId9" Type="http://schemas.openxmlformats.org/officeDocument/2006/relationships/image" Target="../media/image12.png"/><Relationship Id="rId1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8.png"/><Relationship Id="rId18" Type="http://schemas.openxmlformats.org/officeDocument/2006/relationships/image" Target="../media/image12.png"/><Relationship Id="rId3" Type="http://schemas.openxmlformats.org/officeDocument/2006/relationships/image" Target="../media/image21.png"/><Relationship Id="rId7" Type="http://schemas.openxmlformats.org/officeDocument/2006/relationships/image" Target="../media/image17.png"/><Relationship Id="rId12" Type="http://schemas.openxmlformats.org/officeDocument/2006/relationships/image" Target="../media/image14.png"/><Relationship Id="rId17" Type="http://schemas.openxmlformats.org/officeDocument/2006/relationships/image" Target="../media/image40.png"/><Relationship Id="rId2" Type="http://schemas.openxmlformats.org/officeDocument/2006/relationships/image" Target="../media/image22.png"/><Relationship Id="rId16" Type="http://schemas.openxmlformats.org/officeDocument/2006/relationships/image" Target="../media/image3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13.png"/><Relationship Id="rId5" Type="http://schemas.openxmlformats.org/officeDocument/2006/relationships/image" Target="../media/image19.png"/><Relationship Id="rId15" Type="http://schemas.openxmlformats.org/officeDocument/2006/relationships/image" Target="../media/image38.png"/><Relationship Id="rId10" Type="http://schemas.openxmlformats.org/officeDocument/2006/relationships/image" Target="../media/image27.png"/><Relationship Id="rId19" Type="http://schemas.openxmlformats.org/officeDocument/2006/relationships/image" Target="../media/image41.png"/><Relationship Id="rId4" Type="http://schemas.openxmlformats.org/officeDocument/2006/relationships/image" Target="../media/image20.png"/><Relationship Id="rId9" Type="http://schemas.openxmlformats.org/officeDocument/2006/relationships/image" Target="../media/image26.png"/><Relationship Id="rId1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5603B-DAB0-5F11-CB6F-8F1C8994E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B8CA23-7451-D030-5B74-F91632C18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40" y="4169664"/>
            <a:ext cx="4236720" cy="291656"/>
          </a:xfrm>
        </p:spPr>
        <p:txBody>
          <a:bodyPr>
            <a:noAutofit/>
          </a:bodyPr>
          <a:lstStyle/>
          <a:p>
            <a:r>
              <a:rPr lang="zh-TW" altLang="en-US" sz="2400" dirty="0"/>
              <a:t>你好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198275-58D9-8ACE-9FFA-D1891045DD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311" y="935157"/>
            <a:ext cx="8487377" cy="498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65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18D74-BDF0-9BF7-C064-462E41A59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756CDA-CBDC-23B4-547A-792DF8BE6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40" y="4169664"/>
            <a:ext cx="4236720" cy="291656"/>
          </a:xfrm>
        </p:spPr>
        <p:txBody>
          <a:bodyPr>
            <a:noAutofit/>
          </a:bodyPr>
          <a:lstStyle/>
          <a:p>
            <a:r>
              <a:rPr lang="zh-TW" altLang="en-US" sz="2400" dirty="0"/>
              <a:t>你好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C2451A3-0773-5E85-02B4-A20598BCFF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640" y="1017732"/>
            <a:ext cx="10845443" cy="5020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644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F007D102-9EA8-80BF-E551-F919AEE70B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37" y="362307"/>
            <a:ext cx="10445834" cy="6133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541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2B2A6-11EC-9DA2-04F2-530FD232D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072F6036-6CC9-A872-C9FC-D903BAE76F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1277" y="288970"/>
            <a:ext cx="9253195" cy="6024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119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03CBB-6C08-7DD4-0F7B-6706A4659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D79E5DA-8308-D149-28E2-517BB83584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9565" y="0"/>
            <a:ext cx="94128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055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D091-552B-DE21-F92C-6D573E708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0CD9771B-2BCC-4B79-B7A3-6C410821DD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38" y="0"/>
            <a:ext cx="120447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060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835CC-A4DB-D885-16C1-2CD85A2ED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1DFA9EFE-ADDA-ED98-5540-6E25005713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7744"/>
            <a:ext cx="119714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672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68764-4243-3167-E9E5-63E88022D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79D98484-06A4-99B1-9955-663C2598FB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289" y="450000"/>
            <a:ext cx="119714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702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C834D-48DD-F8C1-DB12-542B924D2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D8EF94D6-0E7C-6F69-BAF0-8F98101200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79" y="0"/>
            <a:ext cx="119714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304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81B3F3-AB38-954C-6CCC-5CC08FA33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40" y="4169664"/>
            <a:ext cx="4236720" cy="291656"/>
          </a:xfrm>
        </p:spPr>
        <p:txBody>
          <a:bodyPr>
            <a:noAutofit/>
          </a:bodyPr>
          <a:lstStyle/>
          <a:p>
            <a:r>
              <a:rPr lang="zh-TW" altLang="en-US" sz="2400" dirty="0"/>
              <a:t>素材</a:t>
            </a:r>
          </a:p>
        </p:txBody>
      </p:sp>
      <p:pic>
        <p:nvPicPr>
          <p:cNvPr id="1030" name="Picture 6" descr="Simli">
            <a:extLst>
              <a:ext uri="{FF2B5EF4-FFF2-40B4-BE49-F238E27FC236}">
                <a16:creationId xmlns:a16="http://schemas.microsoft.com/office/drawing/2014/main" id="{9D26FDA3-1964-CAC2-277A-0668F08473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040" y="744650"/>
            <a:ext cx="2324628" cy="2324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ElevenLabs Icon logo transparent PNG - StickPNG">
            <a:extLst>
              <a:ext uri="{FF2B5EF4-FFF2-40B4-BE49-F238E27FC236}">
                <a16:creationId xmlns:a16="http://schemas.microsoft.com/office/drawing/2014/main" id="{5F0A6867-78C3-6C18-A5D2-881F5678BE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3998" y="939799"/>
            <a:ext cx="2402858" cy="2129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LiveKit Free SVG, PNG, and vector do... · LobeHub">
            <a:extLst>
              <a:ext uri="{FF2B5EF4-FFF2-40B4-BE49-F238E27FC236}">
                <a16:creationId xmlns:a16="http://schemas.microsoft.com/office/drawing/2014/main" id="{CFC31B39-79D6-2545-E243-0F27A1EB1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3004" y="744650"/>
            <a:ext cx="2608263" cy="2523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8159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8BFB9-70E1-1CEB-8F24-5DB41D72C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F7B224B3-BB07-E843-EA94-F91E37C7B8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049" y="4172254"/>
            <a:ext cx="1564365" cy="1564365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8BF20ED6-97B1-80AB-64B2-58DFC9F347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5368" y="647817"/>
            <a:ext cx="1752461" cy="1752461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04A091C2-1C6E-2770-8CE4-210F001476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1132" y="1848819"/>
            <a:ext cx="2466673" cy="2466673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2A70EFFB-A351-F615-412B-A7880E0AEE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2104" y="4458614"/>
            <a:ext cx="1564366" cy="1564366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77132885-0AD5-857E-B6E9-DD1FA7297F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1850" y="5199334"/>
            <a:ext cx="874752" cy="874752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108BCD81-D340-1C87-4359-CA2A077B43C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2104" y="2652506"/>
            <a:ext cx="1219209" cy="1219209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E7BF3490-C515-1C0E-267C-A7E8F565C9B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223" y="424958"/>
            <a:ext cx="2466673" cy="2466673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56EF9A79-FBBB-19FA-6E0D-D2D47BF0549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3094" y="4244606"/>
            <a:ext cx="1992382" cy="1992382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707BC4F4-BEB2-E3C7-04F4-5B5D6F5CEB9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2118" y="527601"/>
            <a:ext cx="1992382" cy="1992382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FCA26238-3033-6EED-D793-7CA22322581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6974" y="3958246"/>
            <a:ext cx="2089953" cy="2089953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37F84A62-B6C0-3404-228A-58BB45D6491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4500" y="287811"/>
            <a:ext cx="2471962" cy="2471962"/>
          </a:xfrm>
          <a:prstGeom prst="rect">
            <a:avLst/>
          </a:prstGeom>
        </p:spPr>
      </p:pic>
      <p:sp>
        <p:nvSpPr>
          <p:cNvPr id="3" name="標題 1">
            <a:extLst>
              <a:ext uri="{FF2B5EF4-FFF2-40B4-BE49-F238E27FC236}">
                <a16:creationId xmlns:a16="http://schemas.microsoft.com/office/drawing/2014/main" id="{5410DDC4-53CD-4562-9B0E-D87A5F35D6DC}"/>
              </a:ext>
            </a:extLst>
          </p:cNvPr>
          <p:cNvSpPr txBox="1">
            <a:spLocks/>
          </p:cNvSpPr>
          <p:nvPr/>
        </p:nvSpPr>
        <p:spPr>
          <a:xfrm>
            <a:off x="1082040" y="4322064"/>
            <a:ext cx="4236720" cy="2916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2400" dirty="0"/>
              <a:t>素材</a:t>
            </a:r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33E8E818-3B87-7168-928A-B39A1DD91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9022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1C222-54CD-E5DD-EFD9-DB0A5B19A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矩形: 圓角 113">
            <a:extLst>
              <a:ext uri="{FF2B5EF4-FFF2-40B4-BE49-F238E27FC236}">
                <a16:creationId xmlns:a16="http://schemas.microsoft.com/office/drawing/2014/main" id="{6D366173-B19E-A515-4770-6A001677114D}"/>
              </a:ext>
            </a:extLst>
          </p:cNvPr>
          <p:cNvSpPr/>
          <p:nvPr/>
        </p:nvSpPr>
        <p:spPr>
          <a:xfrm>
            <a:off x="542141" y="3251975"/>
            <a:ext cx="2796749" cy="296495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5" name="矩形: 圓角 94">
            <a:extLst>
              <a:ext uri="{FF2B5EF4-FFF2-40B4-BE49-F238E27FC236}">
                <a16:creationId xmlns:a16="http://schemas.microsoft.com/office/drawing/2014/main" id="{E53773B8-8D8F-334B-A58E-5E4D3C542761}"/>
              </a:ext>
            </a:extLst>
          </p:cNvPr>
          <p:cNvSpPr/>
          <p:nvPr/>
        </p:nvSpPr>
        <p:spPr>
          <a:xfrm>
            <a:off x="3419241" y="4552204"/>
            <a:ext cx="6858615" cy="166999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highlight>
                <a:srgbClr val="FFFF00"/>
              </a:highlight>
            </a:endParaRPr>
          </a:p>
        </p:txBody>
      </p:sp>
      <p:sp>
        <p:nvSpPr>
          <p:cNvPr id="53" name="矩形: 圓角 52">
            <a:extLst>
              <a:ext uri="{FF2B5EF4-FFF2-40B4-BE49-F238E27FC236}">
                <a16:creationId xmlns:a16="http://schemas.microsoft.com/office/drawing/2014/main" id="{6B354015-3DA6-699E-58C8-FBAB56C8527D}"/>
              </a:ext>
            </a:extLst>
          </p:cNvPr>
          <p:cNvSpPr/>
          <p:nvPr/>
        </p:nvSpPr>
        <p:spPr>
          <a:xfrm>
            <a:off x="4527386" y="2370393"/>
            <a:ext cx="5750470" cy="204694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highlight>
                <a:srgbClr val="FFFF00"/>
              </a:highlight>
            </a:endParaRPr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B416E3AB-A753-11C0-F5F7-FE063821713A}"/>
              </a:ext>
            </a:extLst>
          </p:cNvPr>
          <p:cNvSpPr/>
          <p:nvPr/>
        </p:nvSpPr>
        <p:spPr>
          <a:xfrm>
            <a:off x="6868346" y="345762"/>
            <a:ext cx="3409510" cy="186777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highlight>
                <a:srgbClr val="FFFF00"/>
              </a:highlight>
            </a:endParaRPr>
          </a:p>
        </p:txBody>
      </p:sp>
      <p:sp>
        <p:nvSpPr>
          <p:cNvPr id="33" name="標題 1">
            <a:extLst>
              <a:ext uri="{FF2B5EF4-FFF2-40B4-BE49-F238E27FC236}">
                <a16:creationId xmlns:a16="http://schemas.microsoft.com/office/drawing/2014/main" id="{A6E15829-0FA4-7B1F-BF51-F47B22741D02}"/>
              </a:ext>
            </a:extLst>
          </p:cNvPr>
          <p:cNvSpPr txBox="1">
            <a:spLocks/>
          </p:cNvSpPr>
          <p:nvPr/>
        </p:nvSpPr>
        <p:spPr>
          <a:xfrm>
            <a:off x="7152777" y="245833"/>
            <a:ext cx="290594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EVM Blockchain</a:t>
            </a:r>
            <a:endParaRPr lang="zh-TW" altLang="en-US" sz="2000" dirty="0"/>
          </a:p>
        </p:txBody>
      </p: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AD26616F-7E99-205E-3974-78E776085DFD}"/>
              </a:ext>
            </a:extLst>
          </p:cNvPr>
          <p:cNvCxnSpPr>
            <a:cxnSpLocks/>
          </p:cNvCxnSpPr>
          <p:nvPr/>
        </p:nvCxnSpPr>
        <p:spPr>
          <a:xfrm>
            <a:off x="6862676" y="741351"/>
            <a:ext cx="34151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B23FCD18-643E-76EC-8F7A-BC4547BC661E}"/>
              </a:ext>
            </a:extLst>
          </p:cNvPr>
          <p:cNvSpPr/>
          <p:nvPr/>
        </p:nvSpPr>
        <p:spPr>
          <a:xfrm>
            <a:off x="484632" y="349406"/>
            <a:ext cx="4730678" cy="186412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B02C9C8-3764-3081-0E6C-8559F35C9C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466" y="847666"/>
            <a:ext cx="576000" cy="576000"/>
          </a:xfrm>
          <a:prstGeom prst="rect">
            <a:avLst/>
          </a:prstGeom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id="{9CDED235-FCE9-8DD0-5A74-B295DFA46718}"/>
              </a:ext>
            </a:extLst>
          </p:cNvPr>
          <p:cNvSpPr txBox="1">
            <a:spLocks/>
          </p:cNvSpPr>
          <p:nvPr/>
        </p:nvSpPr>
        <p:spPr>
          <a:xfrm>
            <a:off x="623654" y="1459354"/>
            <a:ext cx="1398949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MPC Wallet sign in</a:t>
            </a:r>
            <a:endParaRPr lang="zh-TW" altLang="en-US" sz="20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B2C872D-51D9-8237-5D98-07A270E646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9415" y="883354"/>
            <a:ext cx="576000" cy="576000"/>
          </a:xfrm>
          <a:prstGeom prst="rect">
            <a:avLst/>
          </a:prstGeom>
        </p:spPr>
      </p:pic>
      <p:sp>
        <p:nvSpPr>
          <p:cNvPr id="7" name="標題 1">
            <a:extLst>
              <a:ext uri="{FF2B5EF4-FFF2-40B4-BE49-F238E27FC236}">
                <a16:creationId xmlns:a16="http://schemas.microsoft.com/office/drawing/2014/main" id="{96B444F3-64A7-FF40-7BC7-951517CB016A}"/>
              </a:ext>
            </a:extLst>
          </p:cNvPr>
          <p:cNvSpPr txBox="1">
            <a:spLocks/>
          </p:cNvSpPr>
          <p:nvPr/>
        </p:nvSpPr>
        <p:spPr>
          <a:xfrm>
            <a:off x="2077940" y="1488673"/>
            <a:ext cx="1398949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Upload Materials</a:t>
            </a:r>
            <a:endParaRPr lang="zh-TW" altLang="en-US" sz="2000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AF05EB9-ABA1-A97C-25BD-BD5E9163C7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9039" y="922451"/>
            <a:ext cx="576000" cy="576000"/>
          </a:xfrm>
          <a:prstGeom prst="rect">
            <a:avLst/>
          </a:prstGeom>
        </p:spPr>
      </p:pic>
      <p:sp>
        <p:nvSpPr>
          <p:cNvPr id="9" name="標題 1">
            <a:extLst>
              <a:ext uri="{FF2B5EF4-FFF2-40B4-BE49-F238E27FC236}">
                <a16:creationId xmlns:a16="http://schemas.microsoft.com/office/drawing/2014/main" id="{BAE5A27E-E096-3F18-37BB-9A1725AD498E}"/>
              </a:ext>
            </a:extLst>
          </p:cNvPr>
          <p:cNvSpPr txBox="1">
            <a:spLocks/>
          </p:cNvSpPr>
          <p:nvPr/>
        </p:nvSpPr>
        <p:spPr>
          <a:xfrm>
            <a:off x="3476889" y="1488673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Consent Form Signed</a:t>
            </a:r>
            <a:endParaRPr lang="zh-TW" altLang="en-US" sz="2000" dirty="0"/>
          </a:p>
        </p:txBody>
      </p:sp>
      <p:sp>
        <p:nvSpPr>
          <p:cNvPr id="12" name="標題 1">
            <a:extLst>
              <a:ext uri="{FF2B5EF4-FFF2-40B4-BE49-F238E27FC236}">
                <a16:creationId xmlns:a16="http://schemas.microsoft.com/office/drawing/2014/main" id="{E55E976D-4FB8-AD8E-ED8F-4536122CA6AB}"/>
              </a:ext>
            </a:extLst>
          </p:cNvPr>
          <p:cNvSpPr txBox="1">
            <a:spLocks/>
          </p:cNvSpPr>
          <p:nvPr/>
        </p:nvSpPr>
        <p:spPr>
          <a:xfrm>
            <a:off x="2188616" y="180152"/>
            <a:ext cx="1419143" cy="7414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User Input</a:t>
            </a:r>
            <a:endParaRPr lang="zh-TW" altLang="en-US" sz="2000" dirty="0"/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E75D15F-16D9-D133-77BC-B0CEF87DC8A4}"/>
              </a:ext>
            </a:extLst>
          </p:cNvPr>
          <p:cNvCxnSpPr>
            <a:cxnSpLocks/>
          </p:cNvCxnSpPr>
          <p:nvPr/>
        </p:nvCxnSpPr>
        <p:spPr>
          <a:xfrm>
            <a:off x="478880" y="744995"/>
            <a:ext cx="473643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圖片 16">
            <a:extLst>
              <a:ext uri="{FF2B5EF4-FFF2-40B4-BE49-F238E27FC236}">
                <a16:creationId xmlns:a16="http://schemas.microsoft.com/office/drawing/2014/main" id="{7B1834A7-ADC6-6BC5-91D8-700E26E36B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2296" y="918767"/>
            <a:ext cx="576000" cy="576000"/>
          </a:xfrm>
          <a:prstGeom prst="rect">
            <a:avLst/>
          </a:prstGeom>
        </p:spPr>
      </p:pic>
      <p:sp>
        <p:nvSpPr>
          <p:cNvPr id="18" name="標題 1">
            <a:extLst>
              <a:ext uri="{FF2B5EF4-FFF2-40B4-BE49-F238E27FC236}">
                <a16:creationId xmlns:a16="http://schemas.microsoft.com/office/drawing/2014/main" id="{3A50B27E-924E-5DEE-66FA-CE6E0FF5D1A8}"/>
              </a:ext>
            </a:extLst>
          </p:cNvPr>
          <p:cNvSpPr txBox="1">
            <a:spLocks/>
          </p:cNvSpPr>
          <p:nvPr/>
        </p:nvSpPr>
        <p:spPr>
          <a:xfrm>
            <a:off x="7125681" y="1515707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ERC-721 and ERC-6150</a:t>
            </a:r>
            <a:endParaRPr lang="zh-TW" altLang="en-US" sz="2000" dirty="0"/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D5739B38-19E6-06F9-59C2-87ECCAED19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952" y="2905746"/>
            <a:ext cx="576000" cy="576000"/>
          </a:xfrm>
          <a:prstGeom prst="rect">
            <a:avLst/>
          </a:prstGeom>
        </p:spPr>
      </p:pic>
      <p:sp>
        <p:nvSpPr>
          <p:cNvPr id="22" name="標題 1">
            <a:extLst>
              <a:ext uri="{FF2B5EF4-FFF2-40B4-BE49-F238E27FC236}">
                <a16:creationId xmlns:a16="http://schemas.microsoft.com/office/drawing/2014/main" id="{2354AC2D-E425-6EA7-3911-5A46EF19A653}"/>
              </a:ext>
            </a:extLst>
          </p:cNvPr>
          <p:cNvSpPr txBox="1">
            <a:spLocks/>
          </p:cNvSpPr>
          <p:nvPr/>
        </p:nvSpPr>
        <p:spPr>
          <a:xfrm>
            <a:off x="4682009" y="3416810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 err="1"/>
              <a:t>Arweave</a:t>
            </a:r>
            <a:r>
              <a:rPr lang="en-US" altLang="zh-TW" sz="2000" dirty="0"/>
              <a:t> + Irys</a:t>
            </a:r>
            <a:endParaRPr lang="zh-TW" altLang="en-US" sz="2000" dirty="0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7F238D74-2474-69E0-07C9-348407AF86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7816" y="1147221"/>
            <a:ext cx="576000" cy="576000"/>
          </a:xfrm>
          <a:prstGeom prst="rect">
            <a:avLst/>
          </a:prstGeom>
        </p:spPr>
      </p:pic>
      <p:sp>
        <p:nvSpPr>
          <p:cNvPr id="26" name="標題 1">
            <a:extLst>
              <a:ext uri="{FF2B5EF4-FFF2-40B4-BE49-F238E27FC236}">
                <a16:creationId xmlns:a16="http://schemas.microsoft.com/office/drawing/2014/main" id="{F135B62A-460E-C05A-9724-A52F18407339}"/>
              </a:ext>
            </a:extLst>
          </p:cNvPr>
          <p:cNvSpPr txBox="1">
            <a:spLocks/>
          </p:cNvSpPr>
          <p:nvPr/>
        </p:nvSpPr>
        <p:spPr>
          <a:xfrm>
            <a:off x="5283190" y="1577582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Lit Protocol</a:t>
            </a:r>
            <a:endParaRPr lang="zh-TW" altLang="en-US" sz="2000" dirty="0"/>
          </a:p>
        </p:txBody>
      </p:sp>
      <p:sp>
        <p:nvSpPr>
          <p:cNvPr id="27" name="箭號: 向右 26">
            <a:extLst>
              <a:ext uri="{FF2B5EF4-FFF2-40B4-BE49-F238E27FC236}">
                <a16:creationId xmlns:a16="http://schemas.microsoft.com/office/drawing/2014/main" id="{2F04B8BA-1FEF-D4C7-4A0C-65B736FC9DF2}"/>
              </a:ext>
            </a:extLst>
          </p:cNvPr>
          <p:cNvSpPr/>
          <p:nvPr/>
        </p:nvSpPr>
        <p:spPr>
          <a:xfrm>
            <a:off x="4870547" y="1078268"/>
            <a:ext cx="658368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箭號: 向右 27">
            <a:extLst>
              <a:ext uri="{FF2B5EF4-FFF2-40B4-BE49-F238E27FC236}">
                <a16:creationId xmlns:a16="http://schemas.microsoft.com/office/drawing/2014/main" id="{268C957E-A766-D747-89F4-C09C63563ADB}"/>
              </a:ext>
            </a:extLst>
          </p:cNvPr>
          <p:cNvSpPr/>
          <p:nvPr/>
        </p:nvSpPr>
        <p:spPr>
          <a:xfrm>
            <a:off x="6594803" y="1115471"/>
            <a:ext cx="658368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左大括弧 28">
            <a:extLst>
              <a:ext uri="{FF2B5EF4-FFF2-40B4-BE49-F238E27FC236}">
                <a16:creationId xmlns:a16="http://schemas.microsoft.com/office/drawing/2014/main" id="{747B51A7-A505-4190-0FC4-82B3D3AF2756}"/>
              </a:ext>
            </a:extLst>
          </p:cNvPr>
          <p:cNvSpPr/>
          <p:nvPr/>
        </p:nvSpPr>
        <p:spPr>
          <a:xfrm>
            <a:off x="8726639" y="886763"/>
            <a:ext cx="311778" cy="120302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0" name="標題 1">
            <a:extLst>
              <a:ext uri="{FF2B5EF4-FFF2-40B4-BE49-F238E27FC236}">
                <a16:creationId xmlns:a16="http://schemas.microsoft.com/office/drawing/2014/main" id="{130E8DA0-5BEC-1C3D-725B-042BF29C4299}"/>
              </a:ext>
            </a:extLst>
          </p:cNvPr>
          <p:cNvSpPr txBox="1">
            <a:spLocks/>
          </p:cNvSpPr>
          <p:nvPr/>
        </p:nvSpPr>
        <p:spPr>
          <a:xfrm>
            <a:off x="9000123" y="610789"/>
            <a:ext cx="1211475" cy="17549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500" dirty="0" err="1"/>
              <a:t>ownerOf</a:t>
            </a:r>
            <a:endParaRPr lang="en-US" altLang="zh-TW" sz="1500" dirty="0"/>
          </a:p>
          <a:p>
            <a:pPr algn="ctr"/>
            <a:r>
              <a:rPr lang="en-US" altLang="zh-TW" sz="1500" dirty="0" err="1"/>
              <a:t>parentOf</a:t>
            </a:r>
            <a:endParaRPr lang="en-US" altLang="zh-TW" sz="1500" dirty="0"/>
          </a:p>
          <a:p>
            <a:pPr algn="ctr"/>
            <a:r>
              <a:rPr lang="en-US" altLang="zh-TW" sz="1500" dirty="0" err="1"/>
              <a:t>familyRole</a:t>
            </a:r>
            <a:endParaRPr lang="en-US" altLang="zh-TW" sz="1500" dirty="0"/>
          </a:p>
          <a:p>
            <a:pPr algn="ctr"/>
            <a:r>
              <a:rPr lang="en-US" altLang="zh-TW" sz="1500" dirty="0"/>
              <a:t>Visibility</a:t>
            </a:r>
          </a:p>
          <a:p>
            <a:pPr algn="ctr"/>
            <a:r>
              <a:rPr lang="en-US" altLang="zh-TW" sz="1500" dirty="0"/>
              <a:t>Successor</a:t>
            </a:r>
          </a:p>
          <a:p>
            <a:pPr algn="ctr"/>
            <a:r>
              <a:rPr lang="en-US" altLang="zh-TW" sz="1500" dirty="0" err="1"/>
              <a:t>tokenURL</a:t>
            </a:r>
            <a:endParaRPr lang="en-US" altLang="zh-TW" sz="1500" dirty="0"/>
          </a:p>
          <a:p>
            <a:pPr algn="ctr"/>
            <a:r>
              <a:rPr lang="en-US" altLang="zh-TW" sz="1500" dirty="0" err="1"/>
              <a:t>artifactURL</a:t>
            </a:r>
            <a:endParaRPr lang="zh-TW" altLang="en-US" sz="1500" dirty="0"/>
          </a:p>
        </p:txBody>
      </p:sp>
      <p:sp>
        <p:nvSpPr>
          <p:cNvPr id="36" name="箭號: 向右 35">
            <a:extLst>
              <a:ext uri="{FF2B5EF4-FFF2-40B4-BE49-F238E27FC236}">
                <a16:creationId xmlns:a16="http://schemas.microsoft.com/office/drawing/2014/main" id="{BA4A00EE-18BA-B975-5B41-BA1DA4572A86}"/>
              </a:ext>
            </a:extLst>
          </p:cNvPr>
          <p:cNvSpPr/>
          <p:nvPr/>
        </p:nvSpPr>
        <p:spPr>
          <a:xfrm rot="5400000">
            <a:off x="5792146" y="2198732"/>
            <a:ext cx="630461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標題 1">
            <a:extLst>
              <a:ext uri="{FF2B5EF4-FFF2-40B4-BE49-F238E27FC236}">
                <a16:creationId xmlns:a16="http://schemas.microsoft.com/office/drawing/2014/main" id="{639B06B6-988D-E123-20C8-504D9016E788}"/>
              </a:ext>
            </a:extLst>
          </p:cNvPr>
          <p:cNvSpPr txBox="1">
            <a:spLocks/>
          </p:cNvSpPr>
          <p:nvPr/>
        </p:nvSpPr>
        <p:spPr>
          <a:xfrm>
            <a:off x="6981449" y="2961690"/>
            <a:ext cx="1211475" cy="11678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Tx/>
              <a:buChar char="-"/>
            </a:pPr>
            <a:r>
              <a:rPr lang="en-US" altLang="zh-TW" sz="1500" dirty="0"/>
              <a:t>Name</a:t>
            </a:r>
          </a:p>
          <a:p>
            <a:pPr marL="285750" indent="-285750">
              <a:buFontTx/>
              <a:buChar char="-"/>
            </a:pPr>
            <a:r>
              <a:rPr lang="en-US" altLang="zh-TW" sz="1500" dirty="0"/>
              <a:t>DOB</a:t>
            </a:r>
          </a:p>
          <a:p>
            <a:pPr marL="285750" indent="-285750">
              <a:buFontTx/>
              <a:buChar char="-"/>
            </a:pPr>
            <a:r>
              <a:rPr lang="en-US" altLang="zh-TW" sz="1500" dirty="0"/>
              <a:t>DOD</a:t>
            </a:r>
          </a:p>
          <a:p>
            <a:pPr marL="285750" indent="-285750">
              <a:buFontTx/>
              <a:buChar char="-"/>
            </a:pPr>
            <a:r>
              <a:rPr lang="en-US" altLang="zh-TW" sz="1500" dirty="0"/>
              <a:t>Avatar</a:t>
            </a:r>
          </a:p>
          <a:p>
            <a:pPr marL="285750" indent="-285750">
              <a:buFontTx/>
              <a:buChar char="-"/>
            </a:pPr>
            <a:r>
              <a:rPr lang="en-US" altLang="zh-TW" sz="1500" dirty="0"/>
              <a:t>Origin</a:t>
            </a:r>
          </a:p>
          <a:p>
            <a:pPr marL="285750" indent="-285750">
              <a:buFontTx/>
              <a:buChar char="-"/>
            </a:pPr>
            <a:r>
              <a:rPr lang="en-US" altLang="zh-TW" sz="1500" dirty="0"/>
              <a:t>Short Bio </a:t>
            </a:r>
          </a:p>
        </p:txBody>
      </p:sp>
      <p:sp>
        <p:nvSpPr>
          <p:cNvPr id="39" name="標題 1">
            <a:extLst>
              <a:ext uri="{FF2B5EF4-FFF2-40B4-BE49-F238E27FC236}">
                <a16:creationId xmlns:a16="http://schemas.microsoft.com/office/drawing/2014/main" id="{6313675F-EBAC-D56D-EA39-5D58C5F82F99}"/>
              </a:ext>
            </a:extLst>
          </p:cNvPr>
          <p:cNvSpPr txBox="1">
            <a:spLocks/>
          </p:cNvSpPr>
          <p:nvPr/>
        </p:nvSpPr>
        <p:spPr>
          <a:xfrm>
            <a:off x="6749939" y="2328407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metadata</a:t>
            </a:r>
            <a:endParaRPr lang="zh-TW" altLang="en-US" sz="2000" dirty="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8E15110-97B4-57AD-E5DF-A3E1662E8566}"/>
              </a:ext>
            </a:extLst>
          </p:cNvPr>
          <p:cNvSpPr/>
          <p:nvPr/>
        </p:nvSpPr>
        <p:spPr>
          <a:xfrm>
            <a:off x="6891982" y="2841776"/>
            <a:ext cx="1390406" cy="1408555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標題 1">
            <a:extLst>
              <a:ext uri="{FF2B5EF4-FFF2-40B4-BE49-F238E27FC236}">
                <a16:creationId xmlns:a16="http://schemas.microsoft.com/office/drawing/2014/main" id="{AEB87DAF-F12D-2423-4839-6FDEBD33183C}"/>
              </a:ext>
            </a:extLst>
          </p:cNvPr>
          <p:cNvSpPr txBox="1">
            <a:spLocks/>
          </p:cNvSpPr>
          <p:nvPr/>
        </p:nvSpPr>
        <p:spPr>
          <a:xfrm>
            <a:off x="8603365" y="2832632"/>
            <a:ext cx="1585024" cy="14085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Tx/>
              <a:buChar char="-"/>
            </a:pPr>
            <a:r>
              <a:rPr lang="en-US" altLang="zh-TW" sz="1500" dirty="0"/>
              <a:t>Photos</a:t>
            </a:r>
          </a:p>
          <a:p>
            <a:pPr marL="285750" indent="-285750">
              <a:buFontTx/>
              <a:buChar char="-"/>
            </a:pPr>
            <a:r>
              <a:rPr lang="en-US" altLang="zh-TW" sz="1500" dirty="0"/>
              <a:t>Videos</a:t>
            </a:r>
          </a:p>
          <a:p>
            <a:pPr marL="285750" indent="-285750">
              <a:buFontTx/>
              <a:buChar char="-"/>
            </a:pPr>
            <a:r>
              <a:rPr lang="en-US" altLang="zh-TW" sz="1500" dirty="0"/>
              <a:t>Chat History</a:t>
            </a:r>
          </a:p>
          <a:p>
            <a:pPr marL="285750" indent="-285750">
              <a:buFontTx/>
              <a:buChar char="-"/>
            </a:pPr>
            <a:r>
              <a:rPr lang="en-US" altLang="zh-TW" sz="1500" dirty="0" err="1"/>
              <a:t>LoRA</a:t>
            </a:r>
            <a:endParaRPr lang="en-US" altLang="zh-TW" sz="1500" dirty="0"/>
          </a:p>
          <a:p>
            <a:pPr marL="285750" indent="-285750">
              <a:buFontTx/>
              <a:buChar char="-"/>
            </a:pPr>
            <a:r>
              <a:rPr lang="en-US" altLang="zh-TW" sz="1500" dirty="0"/>
              <a:t>RAG</a:t>
            </a:r>
          </a:p>
          <a:p>
            <a:pPr marL="285750" indent="-285750">
              <a:buFontTx/>
              <a:buChar char="-"/>
            </a:pPr>
            <a:r>
              <a:rPr lang="en-US" altLang="zh-TW" sz="1500" dirty="0" err="1"/>
              <a:t>VoiceId</a:t>
            </a:r>
            <a:endParaRPr lang="en-US" altLang="zh-TW" sz="1500" dirty="0"/>
          </a:p>
        </p:txBody>
      </p:sp>
      <p:sp>
        <p:nvSpPr>
          <p:cNvPr id="44" name="標題 1">
            <a:extLst>
              <a:ext uri="{FF2B5EF4-FFF2-40B4-BE49-F238E27FC236}">
                <a16:creationId xmlns:a16="http://schemas.microsoft.com/office/drawing/2014/main" id="{E32102EB-0E0D-7DA1-28B5-D3EE34CF3FD3}"/>
              </a:ext>
            </a:extLst>
          </p:cNvPr>
          <p:cNvSpPr txBox="1">
            <a:spLocks/>
          </p:cNvSpPr>
          <p:nvPr/>
        </p:nvSpPr>
        <p:spPr>
          <a:xfrm>
            <a:off x="8371855" y="2328407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artifact</a:t>
            </a:r>
            <a:endParaRPr lang="zh-TW" altLang="en-US" sz="2000" dirty="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B6EF6C15-38BE-6AE7-19E5-383B7E94117A}"/>
              </a:ext>
            </a:extLst>
          </p:cNvPr>
          <p:cNvSpPr/>
          <p:nvPr/>
        </p:nvSpPr>
        <p:spPr>
          <a:xfrm>
            <a:off x="8513898" y="2841776"/>
            <a:ext cx="1532448" cy="1408555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7" name="圖片 46">
            <a:extLst>
              <a:ext uri="{FF2B5EF4-FFF2-40B4-BE49-F238E27FC236}">
                <a16:creationId xmlns:a16="http://schemas.microsoft.com/office/drawing/2014/main" id="{85174614-86B6-F41A-7C4C-EB8C4F10F6A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2973" y="2778867"/>
            <a:ext cx="360000" cy="360000"/>
          </a:xfrm>
          <a:prstGeom prst="rect">
            <a:avLst/>
          </a:prstGeom>
        </p:spPr>
      </p:pic>
      <p:pic>
        <p:nvPicPr>
          <p:cNvPr id="48" name="圖片 47">
            <a:extLst>
              <a:ext uri="{FF2B5EF4-FFF2-40B4-BE49-F238E27FC236}">
                <a16:creationId xmlns:a16="http://schemas.microsoft.com/office/drawing/2014/main" id="{1ECA34E3-179A-2215-0D46-1814ED3A36D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7368" y="2778867"/>
            <a:ext cx="360000" cy="360000"/>
          </a:xfrm>
          <a:prstGeom prst="rect">
            <a:avLst/>
          </a:prstGeom>
        </p:spPr>
      </p:pic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79142626-39AA-2855-FF4F-4A882CE07837}"/>
              </a:ext>
            </a:extLst>
          </p:cNvPr>
          <p:cNvCxnSpPr>
            <a:cxnSpLocks/>
          </p:cNvCxnSpPr>
          <p:nvPr/>
        </p:nvCxnSpPr>
        <p:spPr>
          <a:xfrm flipH="1">
            <a:off x="9797016" y="2873856"/>
            <a:ext cx="249330" cy="18184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左大括弧 51">
            <a:extLst>
              <a:ext uri="{FF2B5EF4-FFF2-40B4-BE49-F238E27FC236}">
                <a16:creationId xmlns:a16="http://schemas.microsoft.com/office/drawing/2014/main" id="{2CFB0AE7-4A33-07E6-FC41-3AE5F73D58DE}"/>
              </a:ext>
            </a:extLst>
          </p:cNvPr>
          <p:cNvSpPr/>
          <p:nvPr/>
        </p:nvSpPr>
        <p:spPr>
          <a:xfrm>
            <a:off x="6370496" y="2670317"/>
            <a:ext cx="292896" cy="1535988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55" name="接點: 肘形 54">
            <a:extLst>
              <a:ext uri="{FF2B5EF4-FFF2-40B4-BE49-F238E27FC236}">
                <a16:creationId xmlns:a16="http://schemas.microsoft.com/office/drawing/2014/main" id="{E3B15AF0-B61C-DE6A-07E5-D6670053D748}"/>
              </a:ext>
            </a:extLst>
          </p:cNvPr>
          <p:cNvCxnSpPr>
            <a:cxnSpLocks/>
          </p:cNvCxnSpPr>
          <p:nvPr/>
        </p:nvCxnSpPr>
        <p:spPr>
          <a:xfrm rot="10800000" flipV="1">
            <a:off x="7318930" y="1903239"/>
            <a:ext cx="1890171" cy="601912"/>
          </a:xfrm>
          <a:prstGeom prst="bentConnector3">
            <a:avLst>
              <a:gd name="adj1" fmla="val 100258"/>
            </a:avLst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接點: 肘形 65">
            <a:extLst>
              <a:ext uri="{FF2B5EF4-FFF2-40B4-BE49-F238E27FC236}">
                <a16:creationId xmlns:a16="http://schemas.microsoft.com/office/drawing/2014/main" id="{E86EA2FF-2AA4-D7A3-5324-EA0957E8F078}"/>
              </a:ext>
            </a:extLst>
          </p:cNvPr>
          <p:cNvCxnSpPr>
            <a:cxnSpLocks/>
          </p:cNvCxnSpPr>
          <p:nvPr/>
        </p:nvCxnSpPr>
        <p:spPr>
          <a:xfrm rot="5400000">
            <a:off x="8796047" y="2259957"/>
            <a:ext cx="428985" cy="12623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接點 71">
            <a:extLst>
              <a:ext uri="{FF2B5EF4-FFF2-40B4-BE49-F238E27FC236}">
                <a16:creationId xmlns:a16="http://schemas.microsoft.com/office/drawing/2014/main" id="{F3CB4D0B-B53C-FC3A-555C-BA71419E0DB9}"/>
              </a:ext>
            </a:extLst>
          </p:cNvPr>
          <p:cNvCxnSpPr>
            <a:cxnSpLocks/>
          </p:cNvCxnSpPr>
          <p:nvPr/>
        </p:nvCxnSpPr>
        <p:spPr>
          <a:xfrm>
            <a:off x="9075286" y="2111003"/>
            <a:ext cx="94115" cy="0"/>
          </a:xfrm>
          <a:prstGeom prst="line">
            <a:avLst/>
          </a:prstGeom>
          <a:ln w="63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6" name="Picture 2" descr="Claude - Download transparent vector logo in SVG or PNG">
            <a:extLst>
              <a:ext uri="{FF2B5EF4-FFF2-40B4-BE49-F238E27FC236}">
                <a16:creationId xmlns:a16="http://schemas.microsoft.com/office/drawing/2014/main" id="{6D2D89E2-3371-E771-ECF2-F0EA12DE1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2041" y="5200557"/>
            <a:ext cx="576000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6" name="圖片 75">
            <a:extLst>
              <a:ext uri="{FF2B5EF4-FFF2-40B4-BE49-F238E27FC236}">
                <a16:creationId xmlns:a16="http://schemas.microsoft.com/office/drawing/2014/main" id="{859525BC-4C0F-D5DA-503E-A27577EE1BE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0461" y="5200557"/>
            <a:ext cx="576000" cy="576000"/>
          </a:xfrm>
          <a:prstGeom prst="rect">
            <a:avLst/>
          </a:prstGeom>
        </p:spPr>
      </p:pic>
      <p:pic>
        <p:nvPicPr>
          <p:cNvPr id="77" name="Picture 8" descr="ElevenLabs Icon logo transparent PNG - StickPNG">
            <a:extLst>
              <a:ext uri="{FF2B5EF4-FFF2-40B4-BE49-F238E27FC236}">
                <a16:creationId xmlns:a16="http://schemas.microsoft.com/office/drawing/2014/main" id="{527797E9-E36F-B64A-BF01-04BD2EFC04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89" r="5689"/>
          <a:stretch>
            <a:fillRect/>
          </a:stretch>
        </p:blipFill>
        <p:spPr bwMode="auto">
          <a:xfrm>
            <a:off x="6343528" y="5185385"/>
            <a:ext cx="576000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8" name="標題 1">
            <a:extLst>
              <a:ext uri="{FF2B5EF4-FFF2-40B4-BE49-F238E27FC236}">
                <a16:creationId xmlns:a16="http://schemas.microsoft.com/office/drawing/2014/main" id="{16712E63-141F-C919-DD15-219922C3C80D}"/>
              </a:ext>
            </a:extLst>
          </p:cNvPr>
          <p:cNvSpPr txBox="1">
            <a:spLocks/>
          </p:cNvSpPr>
          <p:nvPr/>
        </p:nvSpPr>
        <p:spPr>
          <a:xfrm>
            <a:off x="5794283" y="5635500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 err="1"/>
              <a:t>ElevenLabs</a:t>
            </a:r>
            <a:endParaRPr lang="zh-TW" altLang="en-US" sz="2000" dirty="0"/>
          </a:p>
        </p:txBody>
      </p:sp>
      <p:sp>
        <p:nvSpPr>
          <p:cNvPr id="79" name="標題 1">
            <a:extLst>
              <a:ext uri="{FF2B5EF4-FFF2-40B4-BE49-F238E27FC236}">
                <a16:creationId xmlns:a16="http://schemas.microsoft.com/office/drawing/2014/main" id="{A785DD8B-21EA-5CBE-9BCF-D090AB45F6E9}"/>
              </a:ext>
            </a:extLst>
          </p:cNvPr>
          <p:cNvSpPr txBox="1">
            <a:spLocks/>
          </p:cNvSpPr>
          <p:nvPr/>
        </p:nvSpPr>
        <p:spPr>
          <a:xfrm>
            <a:off x="3382795" y="5701518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Sonnet 4.7</a:t>
            </a:r>
            <a:endParaRPr lang="zh-TW" altLang="en-US" sz="2000" dirty="0"/>
          </a:p>
        </p:txBody>
      </p:sp>
      <p:sp>
        <p:nvSpPr>
          <p:cNvPr id="80" name="標題 1">
            <a:extLst>
              <a:ext uri="{FF2B5EF4-FFF2-40B4-BE49-F238E27FC236}">
                <a16:creationId xmlns:a16="http://schemas.microsoft.com/office/drawing/2014/main" id="{53DC3817-1154-8879-C8F7-EC076114D5B8}"/>
              </a:ext>
            </a:extLst>
          </p:cNvPr>
          <p:cNvSpPr txBox="1">
            <a:spLocks/>
          </p:cNvSpPr>
          <p:nvPr/>
        </p:nvSpPr>
        <p:spPr>
          <a:xfrm>
            <a:off x="4345196" y="5701518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RAG</a:t>
            </a:r>
            <a:endParaRPr lang="zh-TW" altLang="en-US" sz="2000" dirty="0"/>
          </a:p>
        </p:txBody>
      </p:sp>
      <p:pic>
        <p:nvPicPr>
          <p:cNvPr id="81" name="Picture 6" descr="Simli">
            <a:extLst>
              <a:ext uri="{FF2B5EF4-FFF2-40B4-BE49-F238E27FC236}">
                <a16:creationId xmlns:a16="http://schemas.microsoft.com/office/drawing/2014/main" id="{321075A4-BF5A-EBDB-43CE-7EB74E15D7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7948" y="5185385"/>
            <a:ext cx="576000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0" descr="LiveKit Free SVG, PNG, and vector do... · LobeHub">
            <a:extLst>
              <a:ext uri="{FF2B5EF4-FFF2-40B4-BE49-F238E27FC236}">
                <a16:creationId xmlns:a16="http://schemas.microsoft.com/office/drawing/2014/main" id="{6D52E960-A2F7-0FF0-D7B3-BB95F2AFBF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4" r="1634"/>
          <a:stretch>
            <a:fillRect/>
          </a:stretch>
        </p:blipFill>
        <p:spPr bwMode="auto">
          <a:xfrm>
            <a:off x="9281263" y="5191307"/>
            <a:ext cx="576000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3" name="標題 1">
            <a:extLst>
              <a:ext uri="{FF2B5EF4-FFF2-40B4-BE49-F238E27FC236}">
                <a16:creationId xmlns:a16="http://schemas.microsoft.com/office/drawing/2014/main" id="{C1690696-C961-B26C-CEF4-C6C5F7DFA7E4}"/>
              </a:ext>
            </a:extLst>
          </p:cNvPr>
          <p:cNvSpPr txBox="1">
            <a:spLocks/>
          </p:cNvSpPr>
          <p:nvPr/>
        </p:nvSpPr>
        <p:spPr>
          <a:xfrm>
            <a:off x="7677501" y="5699598"/>
            <a:ext cx="962184" cy="502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 err="1"/>
              <a:t>Simli</a:t>
            </a:r>
            <a:endParaRPr lang="zh-TW" altLang="en-US" sz="2000" dirty="0"/>
          </a:p>
        </p:txBody>
      </p:sp>
      <p:sp>
        <p:nvSpPr>
          <p:cNvPr id="84" name="標題 1">
            <a:extLst>
              <a:ext uri="{FF2B5EF4-FFF2-40B4-BE49-F238E27FC236}">
                <a16:creationId xmlns:a16="http://schemas.microsoft.com/office/drawing/2014/main" id="{A041042C-AD07-8E75-2E52-1F994DFE28A9}"/>
              </a:ext>
            </a:extLst>
          </p:cNvPr>
          <p:cNvSpPr txBox="1">
            <a:spLocks/>
          </p:cNvSpPr>
          <p:nvPr/>
        </p:nvSpPr>
        <p:spPr>
          <a:xfrm>
            <a:off x="9096534" y="5714670"/>
            <a:ext cx="962184" cy="502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 err="1"/>
              <a:t>LiveKit</a:t>
            </a:r>
            <a:endParaRPr lang="zh-TW" altLang="en-US" sz="2000" dirty="0"/>
          </a:p>
        </p:txBody>
      </p:sp>
      <p:sp>
        <p:nvSpPr>
          <p:cNvPr id="86" name="加號 85">
            <a:extLst>
              <a:ext uri="{FF2B5EF4-FFF2-40B4-BE49-F238E27FC236}">
                <a16:creationId xmlns:a16="http://schemas.microsoft.com/office/drawing/2014/main" id="{AB2F0637-148B-0D0E-1E99-5DFD638AF5DD}"/>
              </a:ext>
            </a:extLst>
          </p:cNvPr>
          <p:cNvSpPr/>
          <p:nvPr/>
        </p:nvSpPr>
        <p:spPr>
          <a:xfrm>
            <a:off x="5625124" y="5353293"/>
            <a:ext cx="370355" cy="368321"/>
          </a:xfrm>
          <a:prstGeom prst="mathPlus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7" name="加號 86">
            <a:extLst>
              <a:ext uri="{FF2B5EF4-FFF2-40B4-BE49-F238E27FC236}">
                <a16:creationId xmlns:a16="http://schemas.microsoft.com/office/drawing/2014/main" id="{F3C9BBAB-575F-037D-782C-25AD670F7D4C}"/>
              </a:ext>
            </a:extLst>
          </p:cNvPr>
          <p:cNvSpPr/>
          <p:nvPr/>
        </p:nvSpPr>
        <p:spPr>
          <a:xfrm>
            <a:off x="7267578" y="5352013"/>
            <a:ext cx="370355" cy="368321"/>
          </a:xfrm>
          <a:prstGeom prst="mathPlus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8" name="加號 87">
            <a:extLst>
              <a:ext uri="{FF2B5EF4-FFF2-40B4-BE49-F238E27FC236}">
                <a16:creationId xmlns:a16="http://schemas.microsoft.com/office/drawing/2014/main" id="{9CF94727-308C-2780-7024-7CD19B6B42AD}"/>
              </a:ext>
            </a:extLst>
          </p:cNvPr>
          <p:cNvSpPr/>
          <p:nvPr/>
        </p:nvSpPr>
        <p:spPr>
          <a:xfrm>
            <a:off x="8728896" y="5346349"/>
            <a:ext cx="370355" cy="368321"/>
          </a:xfrm>
          <a:prstGeom prst="mathPlus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9" name="標題 1">
            <a:extLst>
              <a:ext uri="{FF2B5EF4-FFF2-40B4-BE49-F238E27FC236}">
                <a16:creationId xmlns:a16="http://schemas.microsoft.com/office/drawing/2014/main" id="{00A5F34F-FADB-BBC3-2CBF-B0336AD18472}"/>
              </a:ext>
            </a:extLst>
          </p:cNvPr>
          <p:cNvSpPr txBox="1">
            <a:spLocks/>
          </p:cNvSpPr>
          <p:nvPr/>
        </p:nvSpPr>
        <p:spPr>
          <a:xfrm>
            <a:off x="4200792" y="4488907"/>
            <a:ext cx="529551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Inference</a:t>
            </a:r>
            <a:r>
              <a:rPr lang="zh-TW" altLang="en-US" sz="2000" dirty="0"/>
              <a:t> </a:t>
            </a:r>
            <a:r>
              <a:rPr lang="en-US" altLang="zh-TW" sz="2000" dirty="0"/>
              <a:t>(retrieve from </a:t>
            </a:r>
            <a:r>
              <a:rPr lang="en-US" altLang="zh-TW" sz="2000" dirty="0" err="1"/>
              <a:t>Arweave</a:t>
            </a:r>
            <a:r>
              <a:rPr lang="en-US" altLang="zh-TW" sz="2000" dirty="0"/>
              <a:t> by TXID)</a:t>
            </a:r>
            <a:endParaRPr lang="zh-TW" altLang="en-US" sz="2000" dirty="0"/>
          </a:p>
        </p:txBody>
      </p:sp>
      <p:cxnSp>
        <p:nvCxnSpPr>
          <p:cNvPr id="96" name="直線接點 95">
            <a:extLst>
              <a:ext uri="{FF2B5EF4-FFF2-40B4-BE49-F238E27FC236}">
                <a16:creationId xmlns:a16="http://schemas.microsoft.com/office/drawing/2014/main" id="{BE8D8ADA-F04E-4E59-27F3-AD71DE1DB623}"/>
              </a:ext>
            </a:extLst>
          </p:cNvPr>
          <p:cNvCxnSpPr>
            <a:cxnSpLocks/>
          </p:cNvCxnSpPr>
          <p:nvPr/>
        </p:nvCxnSpPr>
        <p:spPr>
          <a:xfrm>
            <a:off x="3396032" y="4970764"/>
            <a:ext cx="6792357" cy="315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8" name="圖片 97">
            <a:extLst>
              <a:ext uri="{FF2B5EF4-FFF2-40B4-BE49-F238E27FC236}">
                <a16:creationId xmlns:a16="http://schemas.microsoft.com/office/drawing/2014/main" id="{B77D3486-7E0B-66EB-F41C-67320AEFB30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3051" y="2934636"/>
            <a:ext cx="576000" cy="576000"/>
          </a:xfrm>
          <a:prstGeom prst="rect">
            <a:avLst/>
          </a:prstGeom>
        </p:spPr>
      </p:pic>
      <p:sp>
        <p:nvSpPr>
          <p:cNvPr id="99" name="標題 1">
            <a:extLst>
              <a:ext uri="{FF2B5EF4-FFF2-40B4-BE49-F238E27FC236}">
                <a16:creationId xmlns:a16="http://schemas.microsoft.com/office/drawing/2014/main" id="{C4E97DB7-494D-CF7E-0345-FC62C3C6A018}"/>
              </a:ext>
            </a:extLst>
          </p:cNvPr>
          <p:cNvSpPr txBox="1">
            <a:spLocks/>
          </p:cNvSpPr>
          <p:nvPr/>
        </p:nvSpPr>
        <p:spPr>
          <a:xfrm>
            <a:off x="3007518" y="3578068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Lit </a:t>
            </a:r>
          </a:p>
          <a:p>
            <a:pPr algn="ctr"/>
            <a:r>
              <a:rPr lang="en-US" altLang="zh-TW" sz="2000" dirty="0"/>
              <a:t>Protocol</a:t>
            </a:r>
            <a:endParaRPr lang="zh-TW" altLang="en-US" sz="2000" dirty="0"/>
          </a:p>
        </p:txBody>
      </p:sp>
      <p:sp>
        <p:nvSpPr>
          <p:cNvPr id="100" name="箭號: 向右 99">
            <a:extLst>
              <a:ext uri="{FF2B5EF4-FFF2-40B4-BE49-F238E27FC236}">
                <a16:creationId xmlns:a16="http://schemas.microsoft.com/office/drawing/2014/main" id="{7586D6AF-FF3A-2D5A-44C5-49C00EF0DC2E}"/>
              </a:ext>
            </a:extLst>
          </p:cNvPr>
          <p:cNvSpPr/>
          <p:nvPr/>
        </p:nvSpPr>
        <p:spPr>
          <a:xfrm rot="10800000">
            <a:off x="4241012" y="3028554"/>
            <a:ext cx="576000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箭號: 向右 100">
            <a:extLst>
              <a:ext uri="{FF2B5EF4-FFF2-40B4-BE49-F238E27FC236}">
                <a16:creationId xmlns:a16="http://schemas.microsoft.com/office/drawing/2014/main" id="{0889EFC6-5577-6F15-7159-FEA609F49DF7}"/>
              </a:ext>
            </a:extLst>
          </p:cNvPr>
          <p:cNvSpPr/>
          <p:nvPr/>
        </p:nvSpPr>
        <p:spPr>
          <a:xfrm rot="5400000">
            <a:off x="3515948" y="4345990"/>
            <a:ext cx="630461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3" name="圖片 102">
            <a:extLst>
              <a:ext uri="{FF2B5EF4-FFF2-40B4-BE49-F238E27FC236}">
                <a16:creationId xmlns:a16="http://schemas.microsoft.com/office/drawing/2014/main" id="{EEEDE15E-72F9-D9F1-59A0-6D2FE92CB41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602" y="3888822"/>
            <a:ext cx="576000" cy="576000"/>
          </a:xfrm>
          <a:prstGeom prst="rect">
            <a:avLst/>
          </a:prstGeom>
        </p:spPr>
      </p:pic>
      <p:pic>
        <p:nvPicPr>
          <p:cNvPr id="104" name="圖片 103">
            <a:extLst>
              <a:ext uri="{FF2B5EF4-FFF2-40B4-BE49-F238E27FC236}">
                <a16:creationId xmlns:a16="http://schemas.microsoft.com/office/drawing/2014/main" id="{23BA8E30-AF83-0F35-833D-3E397007280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6645" y="3868369"/>
            <a:ext cx="576000" cy="576000"/>
          </a:xfrm>
          <a:prstGeom prst="rect">
            <a:avLst/>
          </a:prstGeom>
        </p:spPr>
      </p:pic>
      <p:pic>
        <p:nvPicPr>
          <p:cNvPr id="105" name="圖片 104">
            <a:extLst>
              <a:ext uri="{FF2B5EF4-FFF2-40B4-BE49-F238E27FC236}">
                <a16:creationId xmlns:a16="http://schemas.microsoft.com/office/drawing/2014/main" id="{97B88D96-929C-7BB1-19FE-C193E060877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143" y="4980896"/>
            <a:ext cx="630000" cy="630000"/>
          </a:xfrm>
          <a:prstGeom prst="rect">
            <a:avLst/>
          </a:prstGeom>
        </p:spPr>
      </p:pic>
      <p:pic>
        <p:nvPicPr>
          <p:cNvPr id="107" name="圖片 106">
            <a:extLst>
              <a:ext uri="{FF2B5EF4-FFF2-40B4-BE49-F238E27FC236}">
                <a16:creationId xmlns:a16="http://schemas.microsoft.com/office/drawing/2014/main" id="{CA98D900-02E8-8397-469C-78631984DD2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8358" y="5082917"/>
            <a:ext cx="576000" cy="576000"/>
          </a:xfrm>
          <a:prstGeom prst="rect">
            <a:avLst/>
          </a:prstGeom>
        </p:spPr>
      </p:pic>
      <p:sp>
        <p:nvSpPr>
          <p:cNvPr id="108" name="標題 1">
            <a:extLst>
              <a:ext uri="{FF2B5EF4-FFF2-40B4-BE49-F238E27FC236}">
                <a16:creationId xmlns:a16="http://schemas.microsoft.com/office/drawing/2014/main" id="{238503FF-7E3B-AF0F-DD34-910464AA883C}"/>
              </a:ext>
            </a:extLst>
          </p:cNvPr>
          <p:cNvSpPr txBox="1">
            <a:spLocks/>
          </p:cNvSpPr>
          <p:nvPr/>
        </p:nvSpPr>
        <p:spPr>
          <a:xfrm>
            <a:off x="1818849" y="5653349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Inheritance</a:t>
            </a:r>
          </a:p>
        </p:txBody>
      </p:sp>
      <p:sp>
        <p:nvSpPr>
          <p:cNvPr id="110" name="標題 1">
            <a:extLst>
              <a:ext uri="{FF2B5EF4-FFF2-40B4-BE49-F238E27FC236}">
                <a16:creationId xmlns:a16="http://schemas.microsoft.com/office/drawing/2014/main" id="{91DB56AF-BDA3-9026-7E3E-4395E4DE4D20}"/>
              </a:ext>
            </a:extLst>
          </p:cNvPr>
          <p:cNvSpPr txBox="1">
            <a:spLocks/>
          </p:cNvSpPr>
          <p:nvPr/>
        </p:nvSpPr>
        <p:spPr>
          <a:xfrm>
            <a:off x="484542" y="5605179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Online Memorial</a:t>
            </a:r>
          </a:p>
        </p:txBody>
      </p:sp>
      <p:sp>
        <p:nvSpPr>
          <p:cNvPr id="111" name="標題 1">
            <a:extLst>
              <a:ext uri="{FF2B5EF4-FFF2-40B4-BE49-F238E27FC236}">
                <a16:creationId xmlns:a16="http://schemas.microsoft.com/office/drawing/2014/main" id="{A8F5BC14-E588-3FBD-8835-4E0A2B10BAF3}"/>
              </a:ext>
            </a:extLst>
          </p:cNvPr>
          <p:cNvSpPr txBox="1">
            <a:spLocks/>
          </p:cNvSpPr>
          <p:nvPr/>
        </p:nvSpPr>
        <p:spPr>
          <a:xfrm>
            <a:off x="514417" y="4404926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Facetime</a:t>
            </a:r>
          </a:p>
        </p:txBody>
      </p:sp>
      <p:sp>
        <p:nvSpPr>
          <p:cNvPr id="112" name="標題 1">
            <a:extLst>
              <a:ext uri="{FF2B5EF4-FFF2-40B4-BE49-F238E27FC236}">
                <a16:creationId xmlns:a16="http://schemas.microsoft.com/office/drawing/2014/main" id="{EEB1B9F4-59C0-7D61-7705-D11DA33A8A9C}"/>
              </a:ext>
            </a:extLst>
          </p:cNvPr>
          <p:cNvSpPr txBox="1">
            <a:spLocks/>
          </p:cNvSpPr>
          <p:nvPr/>
        </p:nvSpPr>
        <p:spPr>
          <a:xfrm>
            <a:off x="2003132" y="4461950"/>
            <a:ext cx="1149262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Family </a:t>
            </a:r>
          </a:p>
          <a:p>
            <a:pPr algn="ctr"/>
            <a:r>
              <a:rPr lang="en-US" altLang="zh-TW" sz="2000" dirty="0"/>
              <a:t>Tree</a:t>
            </a:r>
          </a:p>
        </p:txBody>
      </p:sp>
      <p:sp>
        <p:nvSpPr>
          <p:cNvPr id="115" name="標題 1">
            <a:extLst>
              <a:ext uri="{FF2B5EF4-FFF2-40B4-BE49-F238E27FC236}">
                <a16:creationId xmlns:a16="http://schemas.microsoft.com/office/drawing/2014/main" id="{3DF1098E-00AE-76AC-62FF-58C8782095AB}"/>
              </a:ext>
            </a:extLst>
          </p:cNvPr>
          <p:cNvSpPr txBox="1">
            <a:spLocks/>
          </p:cNvSpPr>
          <p:nvPr/>
        </p:nvSpPr>
        <p:spPr>
          <a:xfrm>
            <a:off x="1225592" y="3161202"/>
            <a:ext cx="1419143" cy="7414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Services</a:t>
            </a:r>
            <a:endParaRPr lang="zh-TW" altLang="en-US" sz="2000" dirty="0"/>
          </a:p>
        </p:txBody>
      </p:sp>
      <p:cxnSp>
        <p:nvCxnSpPr>
          <p:cNvPr id="116" name="直線接點 115">
            <a:extLst>
              <a:ext uri="{FF2B5EF4-FFF2-40B4-BE49-F238E27FC236}">
                <a16:creationId xmlns:a16="http://schemas.microsoft.com/office/drawing/2014/main" id="{49D56542-E03D-25D3-18A8-0545CE710CC0}"/>
              </a:ext>
            </a:extLst>
          </p:cNvPr>
          <p:cNvCxnSpPr>
            <a:cxnSpLocks/>
          </p:cNvCxnSpPr>
          <p:nvPr/>
        </p:nvCxnSpPr>
        <p:spPr>
          <a:xfrm>
            <a:off x="516522" y="3732040"/>
            <a:ext cx="282236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標題 1">
            <a:extLst>
              <a:ext uri="{FF2B5EF4-FFF2-40B4-BE49-F238E27FC236}">
                <a16:creationId xmlns:a16="http://schemas.microsoft.com/office/drawing/2014/main" id="{0DE6F8BB-A2FF-F460-DBE1-04BA375863DD}"/>
              </a:ext>
            </a:extLst>
          </p:cNvPr>
          <p:cNvSpPr txBox="1">
            <a:spLocks/>
          </p:cNvSpPr>
          <p:nvPr/>
        </p:nvSpPr>
        <p:spPr>
          <a:xfrm>
            <a:off x="4130734" y="2041495"/>
            <a:ext cx="1490208" cy="789858"/>
          </a:xfrm>
          <a:prstGeom prst="rect">
            <a:avLst/>
          </a:prstGeom>
          <a:ln>
            <a:solidFill>
              <a:schemeClr val="tx1"/>
            </a:solidFill>
            <a:prstDash val="lgDash"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1200" dirty="0"/>
              <a:t>Decentralized key network — releases decryption keys only if you hold the NFT</a:t>
            </a:r>
          </a:p>
        </p:txBody>
      </p:sp>
      <p:cxnSp>
        <p:nvCxnSpPr>
          <p:cNvPr id="122" name="接點: 弧形 121">
            <a:extLst>
              <a:ext uri="{FF2B5EF4-FFF2-40B4-BE49-F238E27FC236}">
                <a16:creationId xmlns:a16="http://schemas.microsoft.com/office/drawing/2014/main" id="{01AA85CF-1F1E-EA82-F93B-4547E638ECC6}"/>
              </a:ext>
            </a:extLst>
          </p:cNvPr>
          <p:cNvCxnSpPr>
            <a:cxnSpLocks/>
            <a:endCxn id="120" idx="1"/>
          </p:cNvCxnSpPr>
          <p:nvPr/>
        </p:nvCxnSpPr>
        <p:spPr>
          <a:xfrm rot="5400000" flipH="1" flipV="1">
            <a:off x="3726517" y="2501529"/>
            <a:ext cx="469322" cy="339112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51" name="標題 1">
            <a:extLst>
              <a:ext uri="{FF2B5EF4-FFF2-40B4-BE49-F238E27FC236}">
                <a16:creationId xmlns:a16="http://schemas.microsoft.com/office/drawing/2014/main" id="{E2206AA0-7FBF-3CDF-046E-52F9E7E70343}"/>
              </a:ext>
            </a:extLst>
          </p:cNvPr>
          <p:cNvSpPr txBox="1">
            <a:spLocks/>
          </p:cNvSpPr>
          <p:nvPr/>
        </p:nvSpPr>
        <p:spPr>
          <a:xfrm>
            <a:off x="4481317" y="3870002"/>
            <a:ext cx="1999250" cy="650834"/>
          </a:xfrm>
          <a:prstGeom prst="rect">
            <a:avLst/>
          </a:prstGeom>
          <a:ln>
            <a:solidFill>
              <a:schemeClr val="tx1"/>
            </a:solidFill>
            <a:prstDash val="lgDash"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1000" dirty="0"/>
              <a:t>Permanent decentralized storage: Irys bundles and accelerates</a:t>
            </a:r>
          </a:p>
          <a:p>
            <a:r>
              <a:rPr lang="en-US" altLang="zh-TW" sz="1000" dirty="0"/>
              <a:t>uploads onto </a:t>
            </a:r>
            <a:r>
              <a:rPr lang="en-US" altLang="zh-TW" sz="1000" dirty="0" err="1"/>
              <a:t>Arweave's</a:t>
            </a:r>
            <a:r>
              <a:rPr lang="en-US" altLang="zh-TW" sz="1000" dirty="0"/>
              <a:t> </a:t>
            </a:r>
            <a:r>
              <a:rPr lang="en-US" altLang="zh-TW" sz="1000" dirty="0" err="1"/>
              <a:t>permaweb</a:t>
            </a:r>
            <a:r>
              <a:rPr lang="en-US" altLang="zh-TW" sz="1000" dirty="0"/>
              <a:t>, paid once, stored forever</a:t>
            </a:r>
          </a:p>
        </p:txBody>
      </p:sp>
      <p:pic>
        <p:nvPicPr>
          <p:cNvPr id="6152" name="圖片 6151">
            <a:extLst>
              <a:ext uri="{FF2B5EF4-FFF2-40B4-BE49-F238E27FC236}">
                <a16:creationId xmlns:a16="http://schemas.microsoft.com/office/drawing/2014/main" id="{C8E1B0EE-B565-7CEF-6D39-9BBC37D84D9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050" y="2379771"/>
            <a:ext cx="765855" cy="765855"/>
          </a:xfrm>
          <a:prstGeom prst="rect">
            <a:avLst/>
          </a:prstGeom>
        </p:spPr>
      </p:pic>
      <p:grpSp>
        <p:nvGrpSpPr>
          <p:cNvPr id="6158" name="群組 6157">
            <a:extLst>
              <a:ext uri="{FF2B5EF4-FFF2-40B4-BE49-F238E27FC236}">
                <a16:creationId xmlns:a16="http://schemas.microsoft.com/office/drawing/2014/main" id="{ADF386CA-FE78-A6EC-FBDD-F408EA8C685B}"/>
              </a:ext>
            </a:extLst>
          </p:cNvPr>
          <p:cNvGrpSpPr/>
          <p:nvPr/>
        </p:nvGrpSpPr>
        <p:grpSpPr>
          <a:xfrm>
            <a:off x="2025157" y="2101404"/>
            <a:ext cx="1318308" cy="1434820"/>
            <a:chOff x="1714500" y="2080321"/>
            <a:chExt cx="1318308" cy="1434820"/>
          </a:xfrm>
        </p:grpSpPr>
        <p:sp>
          <p:nvSpPr>
            <p:cNvPr id="6155" name="文字方塊 6154">
              <a:extLst>
                <a:ext uri="{FF2B5EF4-FFF2-40B4-BE49-F238E27FC236}">
                  <a16:creationId xmlns:a16="http://schemas.microsoft.com/office/drawing/2014/main" id="{31765F72-55A6-957B-0A83-A1116ABAEBFF}"/>
                </a:ext>
              </a:extLst>
            </p:cNvPr>
            <p:cNvSpPr txBox="1"/>
            <p:nvPr/>
          </p:nvSpPr>
          <p:spPr>
            <a:xfrm rot="16200000">
              <a:off x="2019694" y="1985439"/>
              <a:ext cx="918232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TW" altLang="en-US" sz="6600" dirty="0"/>
                <a:t>➥</a:t>
              </a:r>
            </a:p>
          </p:txBody>
        </p:sp>
        <p:sp>
          <p:nvSpPr>
            <p:cNvPr id="6156" name="文字方塊 6155">
              <a:extLst>
                <a:ext uri="{FF2B5EF4-FFF2-40B4-BE49-F238E27FC236}">
                  <a16:creationId xmlns:a16="http://schemas.microsoft.com/office/drawing/2014/main" id="{C5E48783-27C5-5AD5-1CC6-3D488E49C40B}"/>
                </a:ext>
              </a:extLst>
            </p:cNvPr>
            <p:cNvSpPr txBox="1"/>
            <p:nvPr/>
          </p:nvSpPr>
          <p:spPr>
            <a:xfrm rot="16200000" flipV="1">
              <a:off x="1998032" y="2502027"/>
              <a:ext cx="918232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TW" altLang="en-US" sz="6600" dirty="0"/>
                <a:t>➦</a:t>
              </a:r>
            </a:p>
          </p:txBody>
        </p:sp>
        <p:sp>
          <p:nvSpPr>
            <p:cNvPr id="6157" name="矩形 6156">
              <a:extLst>
                <a:ext uri="{FF2B5EF4-FFF2-40B4-BE49-F238E27FC236}">
                  <a16:creationId xmlns:a16="http://schemas.microsoft.com/office/drawing/2014/main" id="{F78CA69F-BBD8-97C5-9855-4AAE6483BE9D}"/>
                </a:ext>
              </a:extLst>
            </p:cNvPr>
            <p:cNvSpPr/>
            <p:nvPr/>
          </p:nvSpPr>
          <p:spPr>
            <a:xfrm>
              <a:off x="1714500" y="2691042"/>
              <a:ext cx="774915" cy="19249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6159" name="標題 1">
            <a:extLst>
              <a:ext uri="{FF2B5EF4-FFF2-40B4-BE49-F238E27FC236}">
                <a16:creationId xmlns:a16="http://schemas.microsoft.com/office/drawing/2014/main" id="{38EDF9B2-D8A2-8C58-FB98-BBE445ECA8A1}"/>
              </a:ext>
            </a:extLst>
          </p:cNvPr>
          <p:cNvSpPr txBox="1">
            <a:spLocks/>
          </p:cNvSpPr>
          <p:nvPr/>
        </p:nvSpPr>
        <p:spPr>
          <a:xfrm>
            <a:off x="4735939" y="311098"/>
            <a:ext cx="2851550" cy="726073"/>
          </a:xfrm>
          <a:prstGeom prst="rect">
            <a:avLst/>
          </a:prstGeom>
          <a:ln>
            <a:solidFill>
              <a:schemeClr val="tx1"/>
            </a:solidFill>
            <a:prstDash val="lgDash"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1200" dirty="0"/>
              <a:t>Each tablet is a unique NFT (ERC-721) with a provable on-chain owner, linked parent-to-child into a family tree (ERC-6150)</a:t>
            </a:r>
          </a:p>
        </p:txBody>
      </p:sp>
      <p:cxnSp>
        <p:nvCxnSpPr>
          <p:cNvPr id="6160" name="接點: 弧形 6159">
            <a:extLst>
              <a:ext uri="{FF2B5EF4-FFF2-40B4-BE49-F238E27FC236}">
                <a16:creationId xmlns:a16="http://schemas.microsoft.com/office/drawing/2014/main" id="{1C91A102-33EA-F4F4-C07D-95A74364B303}"/>
              </a:ext>
            </a:extLst>
          </p:cNvPr>
          <p:cNvCxnSpPr>
            <a:cxnSpLocks/>
            <a:stCxn id="17" idx="1"/>
            <a:endCxn id="6159" idx="2"/>
          </p:cNvCxnSpPr>
          <p:nvPr/>
        </p:nvCxnSpPr>
        <p:spPr>
          <a:xfrm rot="10800000">
            <a:off x="6161714" y="1037171"/>
            <a:ext cx="1500582" cy="169596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6281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4EF31-CEC1-E8F4-4299-4D9934AB3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矩形: 圓角 119">
            <a:extLst>
              <a:ext uri="{FF2B5EF4-FFF2-40B4-BE49-F238E27FC236}">
                <a16:creationId xmlns:a16="http://schemas.microsoft.com/office/drawing/2014/main" id="{A22D4D44-E1FF-F21E-9893-1DD1EF2B0592}"/>
              </a:ext>
            </a:extLst>
          </p:cNvPr>
          <p:cNvSpPr/>
          <p:nvPr/>
        </p:nvSpPr>
        <p:spPr>
          <a:xfrm flipV="1">
            <a:off x="1395247" y="4775523"/>
            <a:ext cx="8926595" cy="1731698"/>
          </a:xfrm>
          <a:prstGeom prst="roundRect">
            <a:avLst>
              <a:gd name="adj" fmla="val 4413"/>
            </a:avLst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矩形: 圓角 118">
            <a:extLst>
              <a:ext uri="{FF2B5EF4-FFF2-40B4-BE49-F238E27FC236}">
                <a16:creationId xmlns:a16="http://schemas.microsoft.com/office/drawing/2014/main" id="{57152425-A7F8-71C2-038C-3338B09F2FBB}"/>
              </a:ext>
            </a:extLst>
          </p:cNvPr>
          <p:cNvSpPr/>
          <p:nvPr/>
        </p:nvSpPr>
        <p:spPr>
          <a:xfrm>
            <a:off x="1395247" y="636569"/>
            <a:ext cx="8926595" cy="4070726"/>
          </a:xfrm>
          <a:prstGeom prst="roundRect">
            <a:avLst>
              <a:gd name="adj" fmla="val 4413"/>
            </a:avLst>
          </a:prstGeom>
          <a:noFill/>
          <a:ln w="19050">
            <a:solidFill>
              <a:srgbClr val="0070C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9" name="矩形: 圓角 108">
            <a:extLst>
              <a:ext uri="{FF2B5EF4-FFF2-40B4-BE49-F238E27FC236}">
                <a16:creationId xmlns:a16="http://schemas.microsoft.com/office/drawing/2014/main" id="{986C4F6C-502C-E518-B9FF-52DC8D4FADD1}"/>
              </a:ext>
            </a:extLst>
          </p:cNvPr>
          <p:cNvSpPr/>
          <p:nvPr/>
        </p:nvSpPr>
        <p:spPr>
          <a:xfrm>
            <a:off x="8965291" y="4810245"/>
            <a:ext cx="1237184" cy="16260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highlight>
                <a:srgbClr val="FFFF00"/>
              </a:highlight>
            </a:endParaRPr>
          </a:p>
        </p:txBody>
      </p:sp>
      <p:sp>
        <p:nvSpPr>
          <p:cNvPr id="102" name="矩形: 圓角 101">
            <a:extLst>
              <a:ext uri="{FF2B5EF4-FFF2-40B4-BE49-F238E27FC236}">
                <a16:creationId xmlns:a16="http://schemas.microsoft.com/office/drawing/2014/main" id="{E809C77E-CD8E-D794-A301-611DC89BC04C}"/>
              </a:ext>
            </a:extLst>
          </p:cNvPr>
          <p:cNvSpPr/>
          <p:nvPr/>
        </p:nvSpPr>
        <p:spPr>
          <a:xfrm>
            <a:off x="6005419" y="4806304"/>
            <a:ext cx="2810519" cy="16260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highlight>
                <a:srgbClr val="FFFF00"/>
              </a:highlight>
            </a:endParaRPr>
          </a:p>
        </p:txBody>
      </p:sp>
      <p:sp>
        <p:nvSpPr>
          <p:cNvPr id="95" name="矩形: 圓角 94">
            <a:extLst>
              <a:ext uri="{FF2B5EF4-FFF2-40B4-BE49-F238E27FC236}">
                <a16:creationId xmlns:a16="http://schemas.microsoft.com/office/drawing/2014/main" id="{1B7AB51D-4B7A-271D-5637-93381EA49FF4}"/>
              </a:ext>
            </a:extLst>
          </p:cNvPr>
          <p:cNvSpPr/>
          <p:nvPr/>
        </p:nvSpPr>
        <p:spPr>
          <a:xfrm>
            <a:off x="3672987" y="4806304"/>
            <a:ext cx="2171449" cy="163390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highlight>
                <a:srgbClr val="FFFF00"/>
              </a:highlight>
            </a:endParaRPr>
          </a:p>
        </p:txBody>
      </p:sp>
      <p:sp>
        <p:nvSpPr>
          <p:cNvPr id="63" name="矩形: 圓角 62">
            <a:extLst>
              <a:ext uri="{FF2B5EF4-FFF2-40B4-BE49-F238E27FC236}">
                <a16:creationId xmlns:a16="http://schemas.microsoft.com/office/drawing/2014/main" id="{CDB9F574-E7C1-45DF-A6C7-489322F7A740}"/>
              </a:ext>
            </a:extLst>
          </p:cNvPr>
          <p:cNvSpPr/>
          <p:nvPr/>
        </p:nvSpPr>
        <p:spPr>
          <a:xfrm>
            <a:off x="8106180" y="696390"/>
            <a:ext cx="2114383" cy="124296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highlight>
                <a:srgbClr val="FFFF00"/>
              </a:highlight>
            </a:endParaRPr>
          </a:p>
        </p:txBody>
      </p:sp>
      <p:sp>
        <p:nvSpPr>
          <p:cNvPr id="41" name="矩形: 圓角 40">
            <a:extLst>
              <a:ext uri="{FF2B5EF4-FFF2-40B4-BE49-F238E27FC236}">
                <a16:creationId xmlns:a16="http://schemas.microsoft.com/office/drawing/2014/main" id="{5F98C926-5D0E-53AB-0C1F-FB3A22E0F48E}"/>
              </a:ext>
            </a:extLst>
          </p:cNvPr>
          <p:cNvSpPr/>
          <p:nvPr/>
        </p:nvSpPr>
        <p:spPr>
          <a:xfrm>
            <a:off x="4391566" y="1742194"/>
            <a:ext cx="3295254" cy="124296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highlight>
                <a:srgbClr val="FFFF00"/>
              </a:highlight>
            </a:endParaRP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1603912B-7641-6D72-3B17-33FFCA717B4D}"/>
              </a:ext>
            </a:extLst>
          </p:cNvPr>
          <p:cNvSpPr/>
          <p:nvPr/>
        </p:nvSpPr>
        <p:spPr>
          <a:xfrm>
            <a:off x="2501165" y="697566"/>
            <a:ext cx="1621887" cy="389925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highlight>
                <a:srgbClr val="FFFF00"/>
              </a:highlight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1F75EDB5-4B13-C868-842A-7791F865B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6973" y="-121893"/>
            <a:ext cx="5523314" cy="911690"/>
          </a:xfrm>
        </p:spPr>
        <p:txBody>
          <a:bodyPr>
            <a:noAutofit/>
          </a:bodyPr>
          <a:lstStyle/>
          <a:p>
            <a:r>
              <a:rPr lang="en-US" altLang="zh-TW" sz="2400" dirty="0"/>
              <a:t>How to Bring Their memory to Life?</a:t>
            </a:r>
            <a:endParaRPr lang="zh-TW" altLang="en-US" sz="24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BA06CCD-1B40-2CBB-D8F6-22065A5598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4529" y="1475927"/>
            <a:ext cx="576000" cy="57600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55EE5B60-8A1A-8E54-0226-109968F1F5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7808" y="3648547"/>
            <a:ext cx="576000" cy="57600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3448E067-CB4D-8544-F194-B186118791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8479" y="2544169"/>
            <a:ext cx="576000" cy="576000"/>
          </a:xfrm>
          <a:prstGeom prst="rect">
            <a:avLst/>
          </a:prstGeom>
        </p:spPr>
      </p:pic>
      <p:sp>
        <p:nvSpPr>
          <p:cNvPr id="9" name="標題 1">
            <a:extLst>
              <a:ext uri="{FF2B5EF4-FFF2-40B4-BE49-F238E27FC236}">
                <a16:creationId xmlns:a16="http://schemas.microsoft.com/office/drawing/2014/main" id="{1D30772F-DA0C-2B33-8532-964445A33C80}"/>
              </a:ext>
            </a:extLst>
          </p:cNvPr>
          <p:cNvSpPr txBox="1">
            <a:spLocks/>
          </p:cNvSpPr>
          <p:nvPr/>
        </p:nvSpPr>
        <p:spPr>
          <a:xfrm>
            <a:off x="2489233" y="2985153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Pictures</a:t>
            </a:r>
          </a:p>
        </p:txBody>
      </p:sp>
      <p:sp>
        <p:nvSpPr>
          <p:cNvPr id="10" name="標題 1">
            <a:extLst>
              <a:ext uri="{FF2B5EF4-FFF2-40B4-BE49-F238E27FC236}">
                <a16:creationId xmlns:a16="http://schemas.microsoft.com/office/drawing/2014/main" id="{5D86ECD5-7081-0A95-B679-B79A3834445C}"/>
              </a:ext>
            </a:extLst>
          </p:cNvPr>
          <p:cNvSpPr txBox="1">
            <a:spLocks/>
          </p:cNvSpPr>
          <p:nvPr/>
        </p:nvSpPr>
        <p:spPr>
          <a:xfrm>
            <a:off x="2448561" y="4051509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Videos</a:t>
            </a:r>
          </a:p>
        </p:txBody>
      </p:sp>
      <p:sp>
        <p:nvSpPr>
          <p:cNvPr id="11" name="標題 1">
            <a:extLst>
              <a:ext uri="{FF2B5EF4-FFF2-40B4-BE49-F238E27FC236}">
                <a16:creationId xmlns:a16="http://schemas.microsoft.com/office/drawing/2014/main" id="{0FBBF65D-8633-63B2-7195-067E969A8078}"/>
              </a:ext>
            </a:extLst>
          </p:cNvPr>
          <p:cNvSpPr txBox="1">
            <a:spLocks/>
          </p:cNvSpPr>
          <p:nvPr/>
        </p:nvSpPr>
        <p:spPr>
          <a:xfrm>
            <a:off x="2495282" y="1942851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Chat History</a:t>
            </a:r>
          </a:p>
        </p:txBody>
      </p:sp>
      <p:sp>
        <p:nvSpPr>
          <p:cNvPr id="13" name="標題 1">
            <a:extLst>
              <a:ext uri="{FF2B5EF4-FFF2-40B4-BE49-F238E27FC236}">
                <a16:creationId xmlns:a16="http://schemas.microsoft.com/office/drawing/2014/main" id="{BCDCD425-C77F-6DB7-AA14-11B20C6E5CAD}"/>
              </a:ext>
            </a:extLst>
          </p:cNvPr>
          <p:cNvSpPr txBox="1">
            <a:spLocks/>
          </p:cNvSpPr>
          <p:nvPr/>
        </p:nvSpPr>
        <p:spPr>
          <a:xfrm>
            <a:off x="2466055" y="713370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 err="1"/>
              <a:t>Arweave</a:t>
            </a:r>
            <a:endParaRPr lang="en-US" altLang="zh-TW" sz="2000" dirty="0"/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0984D6A8-A843-A3CF-92AC-7EA964843E85}"/>
              </a:ext>
            </a:extLst>
          </p:cNvPr>
          <p:cNvCxnSpPr>
            <a:cxnSpLocks/>
          </p:cNvCxnSpPr>
          <p:nvPr/>
        </p:nvCxnSpPr>
        <p:spPr>
          <a:xfrm>
            <a:off x="2574764" y="1255794"/>
            <a:ext cx="148030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標題 1">
            <a:extLst>
              <a:ext uri="{FF2B5EF4-FFF2-40B4-BE49-F238E27FC236}">
                <a16:creationId xmlns:a16="http://schemas.microsoft.com/office/drawing/2014/main" id="{CF92BAB2-9080-0C94-3BE5-085818AEECFE}"/>
              </a:ext>
            </a:extLst>
          </p:cNvPr>
          <p:cNvSpPr txBox="1">
            <a:spLocks/>
          </p:cNvSpPr>
          <p:nvPr/>
        </p:nvSpPr>
        <p:spPr>
          <a:xfrm>
            <a:off x="4398085" y="846029"/>
            <a:ext cx="3288735" cy="819529"/>
          </a:xfrm>
          <a:prstGeom prst="rect">
            <a:avLst/>
          </a:prstGeom>
          <a:ln>
            <a:solidFill>
              <a:schemeClr val="tx1"/>
            </a:solidFill>
            <a:prstDash val="lgDash"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1200" dirty="0"/>
              <a:t>Irys bundles files into a single transaction and</a:t>
            </a:r>
          </a:p>
          <a:p>
            <a:r>
              <a:rPr lang="zh-TW" altLang="en-US" sz="1200" dirty="0"/>
              <a:t>uploads them onto Arweave</a:t>
            </a:r>
            <a:r>
              <a:rPr lang="en-US" altLang="zh-TW" sz="1200" dirty="0"/>
              <a:t>’</a:t>
            </a:r>
            <a:r>
              <a:rPr lang="zh-TW" altLang="en-US" sz="1200" dirty="0"/>
              <a:t>s permaweb, where a one-time fee buys permanent, decentralized storage addressed by a transaction ID (TXID).</a:t>
            </a:r>
          </a:p>
        </p:txBody>
      </p:sp>
      <p:cxnSp>
        <p:nvCxnSpPr>
          <p:cNvPr id="30" name="接點: 弧形 29">
            <a:extLst>
              <a:ext uri="{FF2B5EF4-FFF2-40B4-BE49-F238E27FC236}">
                <a16:creationId xmlns:a16="http://schemas.microsoft.com/office/drawing/2014/main" id="{E3AE758A-C255-A5F4-B2AC-CF04EE671D66}"/>
              </a:ext>
            </a:extLst>
          </p:cNvPr>
          <p:cNvCxnSpPr>
            <a:cxnSpLocks/>
          </p:cNvCxnSpPr>
          <p:nvPr/>
        </p:nvCxnSpPr>
        <p:spPr>
          <a:xfrm>
            <a:off x="3824876" y="1053320"/>
            <a:ext cx="628904" cy="220133"/>
          </a:xfrm>
          <a:prstGeom prst="curvedConnector3">
            <a:avLst>
              <a:gd name="adj1" fmla="val 6480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標題 1">
            <a:extLst>
              <a:ext uri="{FF2B5EF4-FFF2-40B4-BE49-F238E27FC236}">
                <a16:creationId xmlns:a16="http://schemas.microsoft.com/office/drawing/2014/main" id="{D07661D5-FAB9-AF37-B7CA-6D14C69BE02F}"/>
              </a:ext>
            </a:extLst>
          </p:cNvPr>
          <p:cNvSpPr txBox="1">
            <a:spLocks/>
          </p:cNvSpPr>
          <p:nvPr/>
        </p:nvSpPr>
        <p:spPr>
          <a:xfrm>
            <a:off x="4604316" y="2076021"/>
            <a:ext cx="2798142" cy="8644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TW" sz="2000" dirty="0"/>
              <a:t>RAG-based Memory Bank</a:t>
            </a:r>
          </a:p>
          <a:p>
            <a:pPr algn="ctr"/>
            <a:r>
              <a:rPr lang="en-US" altLang="zh-TW" sz="2000" dirty="0"/>
              <a:t>SDXL + </a:t>
            </a:r>
            <a:r>
              <a:rPr lang="en-US" altLang="zh-TW" sz="2000" dirty="0" err="1"/>
              <a:t>LoRA</a:t>
            </a:r>
            <a:endParaRPr lang="en-US" altLang="zh-TW" sz="2000" dirty="0"/>
          </a:p>
        </p:txBody>
      </p:sp>
      <p:sp>
        <p:nvSpPr>
          <p:cNvPr id="40" name="標題 1">
            <a:extLst>
              <a:ext uri="{FF2B5EF4-FFF2-40B4-BE49-F238E27FC236}">
                <a16:creationId xmlns:a16="http://schemas.microsoft.com/office/drawing/2014/main" id="{695C7D02-3747-F30F-61D7-721446B1969E}"/>
              </a:ext>
            </a:extLst>
          </p:cNvPr>
          <p:cNvSpPr txBox="1">
            <a:spLocks/>
          </p:cNvSpPr>
          <p:nvPr/>
        </p:nvSpPr>
        <p:spPr>
          <a:xfrm>
            <a:off x="4398085" y="3061790"/>
            <a:ext cx="3288735" cy="819529"/>
          </a:xfrm>
          <a:prstGeom prst="rect">
            <a:avLst/>
          </a:prstGeom>
          <a:ln>
            <a:solidFill>
              <a:schemeClr val="tx1"/>
            </a:solidFill>
            <a:prstDash val="lgDash"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1200" dirty="0"/>
              <a:t>a lightweight adapter trained on a few dozen photos, teaching an open-source image model to generate the person's face</a:t>
            </a:r>
          </a:p>
        </p:txBody>
      </p:sp>
      <p:sp>
        <p:nvSpPr>
          <p:cNvPr id="43" name="標題 1">
            <a:extLst>
              <a:ext uri="{FF2B5EF4-FFF2-40B4-BE49-F238E27FC236}">
                <a16:creationId xmlns:a16="http://schemas.microsoft.com/office/drawing/2014/main" id="{4104438E-86B5-0383-98BA-465DC54DDD8B}"/>
              </a:ext>
            </a:extLst>
          </p:cNvPr>
          <p:cNvSpPr txBox="1">
            <a:spLocks/>
          </p:cNvSpPr>
          <p:nvPr/>
        </p:nvSpPr>
        <p:spPr>
          <a:xfrm>
            <a:off x="5166142" y="1665558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Local GPU</a:t>
            </a:r>
          </a:p>
        </p:txBody>
      </p: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2DEE5D43-4A4C-94BE-E02D-73692AF2931A}"/>
              </a:ext>
            </a:extLst>
          </p:cNvPr>
          <p:cNvCxnSpPr>
            <a:cxnSpLocks/>
          </p:cNvCxnSpPr>
          <p:nvPr/>
        </p:nvCxnSpPr>
        <p:spPr>
          <a:xfrm>
            <a:off x="4391566" y="2167745"/>
            <a:ext cx="329525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箭號: 向右 48">
            <a:extLst>
              <a:ext uri="{FF2B5EF4-FFF2-40B4-BE49-F238E27FC236}">
                <a16:creationId xmlns:a16="http://schemas.microsoft.com/office/drawing/2014/main" id="{A31AB1F0-0CCF-7DAB-BCF0-3E424B716A7B}"/>
              </a:ext>
            </a:extLst>
          </p:cNvPr>
          <p:cNvSpPr/>
          <p:nvPr/>
        </p:nvSpPr>
        <p:spPr>
          <a:xfrm>
            <a:off x="3895755" y="2393656"/>
            <a:ext cx="658368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50" name="接點: 弧形 49">
            <a:extLst>
              <a:ext uri="{FF2B5EF4-FFF2-40B4-BE49-F238E27FC236}">
                <a16:creationId xmlns:a16="http://schemas.microsoft.com/office/drawing/2014/main" id="{A473608B-319D-3223-BA60-6F19A8063CB6}"/>
              </a:ext>
            </a:extLst>
          </p:cNvPr>
          <p:cNvCxnSpPr>
            <a:cxnSpLocks/>
          </p:cNvCxnSpPr>
          <p:nvPr/>
        </p:nvCxnSpPr>
        <p:spPr>
          <a:xfrm rot="5400000">
            <a:off x="5669913" y="2877573"/>
            <a:ext cx="378879" cy="288071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>
            <a:extLst>
              <a:ext uri="{FF2B5EF4-FFF2-40B4-BE49-F238E27FC236}">
                <a16:creationId xmlns:a16="http://schemas.microsoft.com/office/drawing/2014/main" id="{469E7202-0DB0-7D76-2FDF-0C93F64696ED}"/>
              </a:ext>
            </a:extLst>
          </p:cNvPr>
          <p:cNvCxnSpPr>
            <a:cxnSpLocks/>
          </p:cNvCxnSpPr>
          <p:nvPr/>
        </p:nvCxnSpPr>
        <p:spPr>
          <a:xfrm>
            <a:off x="5263233" y="2865310"/>
            <a:ext cx="148030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: 圓角 56">
            <a:extLst>
              <a:ext uri="{FF2B5EF4-FFF2-40B4-BE49-F238E27FC236}">
                <a16:creationId xmlns:a16="http://schemas.microsoft.com/office/drawing/2014/main" id="{9FBFDC31-C856-778A-CB08-B5BCFD30F363}"/>
              </a:ext>
            </a:extLst>
          </p:cNvPr>
          <p:cNvSpPr/>
          <p:nvPr/>
        </p:nvSpPr>
        <p:spPr>
          <a:xfrm>
            <a:off x="4355759" y="3957955"/>
            <a:ext cx="3295254" cy="63886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highlight>
                <a:srgbClr val="FFFF00"/>
              </a:highlight>
            </a:endParaRPr>
          </a:p>
        </p:txBody>
      </p:sp>
      <p:sp>
        <p:nvSpPr>
          <p:cNvPr id="59" name="箭號: 向右 58">
            <a:extLst>
              <a:ext uri="{FF2B5EF4-FFF2-40B4-BE49-F238E27FC236}">
                <a16:creationId xmlns:a16="http://schemas.microsoft.com/office/drawing/2014/main" id="{259E0D10-E168-A713-285B-209ADC56920C}"/>
              </a:ext>
            </a:extLst>
          </p:cNvPr>
          <p:cNvSpPr/>
          <p:nvPr/>
        </p:nvSpPr>
        <p:spPr>
          <a:xfrm>
            <a:off x="3895755" y="4051509"/>
            <a:ext cx="658368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0" name="標題 1">
            <a:extLst>
              <a:ext uri="{FF2B5EF4-FFF2-40B4-BE49-F238E27FC236}">
                <a16:creationId xmlns:a16="http://schemas.microsoft.com/office/drawing/2014/main" id="{D4D32698-7ACB-C3BF-DC0A-401927E5A9A4}"/>
              </a:ext>
            </a:extLst>
          </p:cNvPr>
          <p:cNvSpPr txBox="1">
            <a:spLocks/>
          </p:cNvSpPr>
          <p:nvPr/>
        </p:nvSpPr>
        <p:spPr>
          <a:xfrm>
            <a:off x="4282315" y="3954219"/>
            <a:ext cx="3194869" cy="6304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TW" sz="2000" dirty="0" err="1"/>
              <a:t>Elevenlabs</a:t>
            </a:r>
            <a:r>
              <a:rPr lang="en-US" altLang="zh-TW" sz="2000" dirty="0"/>
              <a:t>  - Voice Cloning </a:t>
            </a:r>
          </a:p>
          <a:p>
            <a:pPr algn="ctr">
              <a:lnSpc>
                <a:spcPct val="100000"/>
              </a:lnSpc>
            </a:pPr>
            <a:r>
              <a:rPr lang="en-US" altLang="zh-TW" sz="2000" dirty="0"/>
              <a:t>&amp; Audio Synthesis</a:t>
            </a:r>
          </a:p>
        </p:txBody>
      </p:sp>
      <p:sp>
        <p:nvSpPr>
          <p:cNvPr id="62" name="標題 1">
            <a:extLst>
              <a:ext uri="{FF2B5EF4-FFF2-40B4-BE49-F238E27FC236}">
                <a16:creationId xmlns:a16="http://schemas.microsoft.com/office/drawing/2014/main" id="{057EBD8A-C738-3D8E-F212-28598D58423C}"/>
              </a:ext>
            </a:extLst>
          </p:cNvPr>
          <p:cNvSpPr txBox="1">
            <a:spLocks/>
          </p:cNvSpPr>
          <p:nvPr/>
        </p:nvSpPr>
        <p:spPr>
          <a:xfrm>
            <a:off x="8140038" y="1177930"/>
            <a:ext cx="2046669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TW" sz="2000" dirty="0"/>
              <a:t>Data/Model Artifact Packaging</a:t>
            </a:r>
          </a:p>
        </p:txBody>
      </p:sp>
      <p:sp>
        <p:nvSpPr>
          <p:cNvPr id="64" name="標題 1">
            <a:extLst>
              <a:ext uri="{FF2B5EF4-FFF2-40B4-BE49-F238E27FC236}">
                <a16:creationId xmlns:a16="http://schemas.microsoft.com/office/drawing/2014/main" id="{F4BFB794-50CB-730D-A2D8-639729C20A09}"/>
              </a:ext>
            </a:extLst>
          </p:cNvPr>
          <p:cNvSpPr txBox="1">
            <a:spLocks/>
          </p:cNvSpPr>
          <p:nvPr/>
        </p:nvSpPr>
        <p:spPr>
          <a:xfrm>
            <a:off x="8307264" y="636569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Local GPU</a:t>
            </a:r>
          </a:p>
        </p:txBody>
      </p: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0159CCD5-97F5-6F85-4970-ED6A75B57EE1}"/>
              </a:ext>
            </a:extLst>
          </p:cNvPr>
          <p:cNvCxnSpPr>
            <a:cxnSpLocks/>
          </p:cNvCxnSpPr>
          <p:nvPr/>
        </p:nvCxnSpPr>
        <p:spPr>
          <a:xfrm>
            <a:off x="8106180" y="1138756"/>
            <a:ext cx="208052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: 圓角 67">
            <a:extLst>
              <a:ext uri="{FF2B5EF4-FFF2-40B4-BE49-F238E27FC236}">
                <a16:creationId xmlns:a16="http://schemas.microsoft.com/office/drawing/2014/main" id="{CBF84A4F-7326-A2C0-F76C-2269B79CC39E}"/>
              </a:ext>
            </a:extLst>
          </p:cNvPr>
          <p:cNvSpPr/>
          <p:nvPr/>
        </p:nvSpPr>
        <p:spPr>
          <a:xfrm>
            <a:off x="8067291" y="2146725"/>
            <a:ext cx="2114383" cy="91169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highlight>
                <a:srgbClr val="FFFF00"/>
              </a:highlight>
            </a:endParaRPr>
          </a:p>
        </p:txBody>
      </p:sp>
      <p:sp>
        <p:nvSpPr>
          <p:cNvPr id="69" name="標題 1">
            <a:extLst>
              <a:ext uri="{FF2B5EF4-FFF2-40B4-BE49-F238E27FC236}">
                <a16:creationId xmlns:a16="http://schemas.microsoft.com/office/drawing/2014/main" id="{6F9218C1-E732-4631-A047-ACDC7C65FAC1}"/>
              </a:ext>
            </a:extLst>
          </p:cNvPr>
          <p:cNvSpPr txBox="1">
            <a:spLocks/>
          </p:cNvSpPr>
          <p:nvPr/>
        </p:nvSpPr>
        <p:spPr>
          <a:xfrm>
            <a:off x="8086154" y="2246449"/>
            <a:ext cx="2046669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TW" sz="2000" dirty="0"/>
              <a:t>NFT-Gated Encryption via Lit</a:t>
            </a:r>
          </a:p>
        </p:txBody>
      </p:sp>
      <p:sp>
        <p:nvSpPr>
          <p:cNvPr id="70" name="矩形: 圓角 69">
            <a:extLst>
              <a:ext uri="{FF2B5EF4-FFF2-40B4-BE49-F238E27FC236}">
                <a16:creationId xmlns:a16="http://schemas.microsoft.com/office/drawing/2014/main" id="{27B58861-0AF5-F5F7-DDD1-39CB725566DB}"/>
              </a:ext>
            </a:extLst>
          </p:cNvPr>
          <p:cNvSpPr/>
          <p:nvPr/>
        </p:nvSpPr>
        <p:spPr>
          <a:xfrm>
            <a:off x="8103097" y="3265877"/>
            <a:ext cx="2114383" cy="142026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highlight>
                <a:srgbClr val="FFFF00"/>
              </a:highlight>
            </a:endParaRPr>
          </a:p>
        </p:txBody>
      </p:sp>
      <p:sp>
        <p:nvSpPr>
          <p:cNvPr id="71" name="標題 1">
            <a:extLst>
              <a:ext uri="{FF2B5EF4-FFF2-40B4-BE49-F238E27FC236}">
                <a16:creationId xmlns:a16="http://schemas.microsoft.com/office/drawing/2014/main" id="{0C83D500-61C8-0795-4877-EFBDFF8EB3F5}"/>
              </a:ext>
            </a:extLst>
          </p:cNvPr>
          <p:cNvSpPr txBox="1">
            <a:spLocks/>
          </p:cNvSpPr>
          <p:nvPr/>
        </p:nvSpPr>
        <p:spPr>
          <a:xfrm>
            <a:off x="8218221" y="3809757"/>
            <a:ext cx="1887506" cy="7212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TW" sz="2000" dirty="0"/>
              <a:t>Store in Decentralized Storage</a:t>
            </a:r>
          </a:p>
        </p:txBody>
      </p:sp>
      <p:sp>
        <p:nvSpPr>
          <p:cNvPr id="72" name="標題 1">
            <a:extLst>
              <a:ext uri="{FF2B5EF4-FFF2-40B4-BE49-F238E27FC236}">
                <a16:creationId xmlns:a16="http://schemas.microsoft.com/office/drawing/2014/main" id="{2AFBDE1F-36C8-53CC-0316-A9780B71C884}"/>
              </a:ext>
            </a:extLst>
          </p:cNvPr>
          <p:cNvSpPr txBox="1">
            <a:spLocks/>
          </p:cNvSpPr>
          <p:nvPr/>
        </p:nvSpPr>
        <p:spPr>
          <a:xfrm>
            <a:off x="8323042" y="3135382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 err="1"/>
              <a:t>Arweave</a:t>
            </a:r>
            <a:endParaRPr lang="en-US" altLang="zh-TW" sz="2000" dirty="0"/>
          </a:p>
        </p:txBody>
      </p:sp>
      <p:cxnSp>
        <p:nvCxnSpPr>
          <p:cNvPr id="73" name="直線接點 72">
            <a:extLst>
              <a:ext uri="{FF2B5EF4-FFF2-40B4-BE49-F238E27FC236}">
                <a16:creationId xmlns:a16="http://schemas.microsoft.com/office/drawing/2014/main" id="{D0A9D618-8901-61E0-6B54-6803B6F9D7B6}"/>
              </a:ext>
            </a:extLst>
          </p:cNvPr>
          <p:cNvCxnSpPr>
            <a:cxnSpLocks/>
          </p:cNvCxnSpPr>
          <p:nvPr/>
        </p:nvCxnSpPr>
        <p:spPr>
          <a:xfrm>
            <a:off x="8103097" y="3680802"/>
            <a:ext cx="2114383" cy="1688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箭號: 向右 75">
            <a:extLst>
              <a:ext uri="{FF2B5EF4-FFF2-40B4-BE49-F238E27FC236}">
                <a16:creationId xmlns:a16="http://schemas.microsoft.com/office/drawing/2014/main" id="{637F750F-D727-16CB-1CD2-F46E6914FAA7}"/>
              </a:ext>
            </a:extLst>
          </p:cNvPr>
          <p:cNvSpPr/>
          <p:nvPr/>
        </p:nvSpPr>
        <p:spPr>
          <a:xfrm rot="5400000">
            <a:off x="8866670" y="1829781"/>
            <a:ext cx="485635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7" name="箭號: 向右 76">
            <a:extLst>
              <a:ext uri="{FF2B5EF4-FFF2-40B4-BE49-F238E27FC236}">
                <a16:creationId xmlns:a16="http://schemas.microsoft.com/office/drawing/2014/main" id="{13C17C6E-0FBF-8AD8-4CA4-EE6DF7E0E014}"/>
              </a:ext>
            </a:extLst>
          </p:cNvPr>
          <p:cNvSpPr/>
          <p:nvPr/>
        </p:nvSpPr>
        <p:spPr>
          <a:xfrm rot="5400000">
            <a:off x="8866669" y="2878910"/>
            <a:ext cx="485635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212DE027-908E-FCFB-2803-93900BC8CA02}"/>
              </a:ext>
            </a:extLst>
          </p:cNvPr>
          <p:cNvSpPr/>
          <p:nvPr/>
        </p:nvSpPr>
        <p:spPr>
          <a:xfrm>
            <a:off x="7794092" y="980177"/>
            <a:ext cx="173368" cy="35181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86800059-4540-3112-86CF-5BCDBB7D92BF}"/>
              </a:ext>
            </a:extLst>
          </p:cNvPr>
          <p:cNvSpPr/>
          <p:nvPr/>
        </p:nvSpPr>
        <p:spPr>
          <a:xfrm rot="5400000">
            <a:off x="7671601" y="4208824"/>
            <a:ext cx="173368" cy="4056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695C6225-A38E-924F-E37C-29C14B96985D}"/>
              </a:ext>
            </a:extLst>
          </p:cNvPr>
          <p:cNvSpPr/>
          <p:nvPr/>
        </p:nvSpPr>
        <p:spPr>
          <a:xfrm rot="5400000">
            <a:off x="7648786" y="2509026"/>
            <a:ext cx="173368" cy="4056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1" name="箭號: 向右 80">
            <a:extLst>
              <a:ext uri="{FF2B5EF4-FFF2-40B4-BE49-F238E27FC236}">
                <a16:creationId xmlns:a16="http://schemas.microsoft.com/office/drawing/2014/main" id="{EDA6CE4D-ECED-4A10-0F19-A29438EE0DC6}"/>
              </a:ext>
            </a:extLst>
          </p:cNvPr>
          <p:cNvSpPr/>
          <p:nvPr/>
        </p:nvSpPr>
        <p:spPr>
          <a:xfrm>
            <a:off x="7794092" y="887423"/>
            <a:ext cx="468791" cy="331794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82" name="圖片 81">
            <a:extLst>
              <a:ext uri="{FF2B5EF4-FFF2-40B4-BE49-F238E27FC236}">
                <a16:creationId xmlns:a16="http://schemas.microsoft.com/office/drawing/2014/main" id="{98F98B26-A0F1-9656-1FF9-6C2DC81E4F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2987" y="1127830"/>
            <a:ext cx="432000" cy="432000"/>
          </a:xfrm>
          <a:prstGeom prst="rect">
            <a:avLst/>
          </a:prstGeom>
        </p:spPr>
      </p:pic>
      <p:pic>
        <p:nvPicPr>
          <p:cNvPr id="83" name="圖片 82">
            <a:extLst>
              <a:ext uri="{FF2B5EF4-FFF2-40B4-BE49-F238E27FC236}">
                <a16:creationId xmlns:a16="http://schemas.microsoft.com/office/drawing/2014/main" id="{392956E9-DF90-4BA6-CB8D-3F500AA4A8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0475" y="3549842"/>
            <a:ext cx="432000" cy="432000"/>
          </a:xfrm>
          <a:prstGeom prst="rect">
            <a:avLst/>
          </a:prstGeom>
        </p:spPr>
      </p:pic>
      <p:pic>
        <p:nvPicPr>
          <p:cNvPr id="85" name="圖片 84">
            <a:extLst>
              <a:ext uri="{FF2B5EF4-FFF2-40B4-BE49-F238E27FC236}">
                <a16:creationId xmlns:a16="http://schemas.microsoft.com/office/drawing/2014/main" id="{5307DBF6-E270-3062-00C4-C82AF0FBAF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2421" y="1034971"/>
            <a:ext cx="432000" cy="432000"/>
          </a:xfrm>
          <a:prstGeom prst="rect">
            <a:avLst/>
          </a:prstGeom>
        </p:spPr>
      </p:pic>
      <p:pic>
        <p:nvPicPr>
          <p:cNvPr id="87" name="圖片 86">
            <a:extLst>
              <a:ext uri="{FF2B5EF4-FFF2-40B4-BE49-F238E27FC236}">
                <a16:creationId xmlns:a16="http://schemas.microsoft.com/office/drawing/2014/main" id="{D1E56344-A2C6-F960-52B2-58C1583D3A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5417" y="2066858"/>
            <a:ext cx="432000" cy="432000"/>
          </a:xfrm>
          <a:prstGeom prst="rect">
            <a:avLst/>
          </a:prstGeom>
        </p:spPr>
      </p:pic>
      <p:pic>
        <p:nvPicPr>
          <p:cNvPr id="88" name="圖片 87">
            <a:extLst>
              <a:ext uri="{FF2B5EF4-FFF2-40B4-BE49-F238E27FC236}">
                <a16:creationId xmlns:a16="http://schemas.microsoft.com/office/drawing/2014/main" id="{1F9F5D94-5D1F-1289-B119-93A9DB6A476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4848" y="3856418"/>
            <a:ext cx="432000" cy="432000"/>
          </a:xfrm>
          <a:prstGeom prst="rect">
            <a:avLst/>
          </a:prstGeom>
        </p:spPr>
      </p:pic>
      <p:sp>
        <p:nvSpPr>
          <p:cNvPr id="89" name="標題 1">
            <a:extLst>
              <a:ext uri="{FF2B5EF4-FFF2-40B4-BE49-F238E27FC236}">
                <a16:creationId xmlns:a16="http://schemas.microsoft.com/office/drawing/2014/main" id="{7C8CD8F7-DF0C-28B2-DC34-8FB2F0C57DF2}"/>
              </a:ext>
            </a:extLst>
          </p:cNvPr>
          <p:cNvSpPr txBox="1">
            <a:spLocks/>
          </p:cNvSpPr>
          <p:nvPr/>
        </p:nvSpPr>
        <p:spPr>
          <a:xfrm>
            <a:off x="1054560" y="2356702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Local</a:t>
            </a:r>
          </a:p>
          <a:p>
            <a:pPr algn="ctr"/>
            <a:r>
              <a:rPr lang="en-US" altLang="zh-TW" sz="2000" dirty="0"/>
              <a:t> Training</a:t>
            </a:r>
          </a:p>
        </p:txBody>
      </p:sp>
      <p:pic>
        <p:nvPicPr>
          <p:cNvPr id="1026" name="Picture 2" descr="Speaking ">
            <a:extLst>
              <a:ext uri="{FF2B5EF4-FFF2-40B4-BE49-F238E27FC236}">
                <a16:creationId xmlns:a16="http://schemas.microsoft.com/office/drawing/2014/main" id="{BD8D1FF2-B3EF-A9A5-0920-4F50C8A4A7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0489" y="5154778"/>
            <a:ext cx="576000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0" name="標題 1">
            <a:extLst>
              <a:ext uri="{FF2B5EF4-FFF2-40B4-BE49-F238E27FC236}">
                <a16:creationId xmlns:a16="http://schemas.microsoft.com/office/drawing/2014/main" id="{A1BBA9D5-C80A-4257-906D-A5D211F01C38}"/>
              </a:ext>
            </a:extLst>
          </p:cNvPr>
          <p:cNvSpPr txBox="1">
            <a:spLocks/>
          </p:cNvSpPr>
          <p:nvPr/>
        </p:nvSpPr>
        <p:spPr>
          <a:xfrm>
            <a:off x="2311505" y="5684469"/>
            <a:ext cx="1266230" cy="4860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You Speak</a:t>
            </a:r>
          </a:p>
        </p:txBody>
      </p:sp>
      <p:pic>
        <p:nvPicPr>
          <p:cNvPr id="91" name="Picture 2" descr="Claude - Download transparent vector logo in SVG or PNG">
            <a:extLst>
              <a:ext uri="{FF2B5EF4-FFF2-40B4-BE49-F238E27FC236}">
                <a16:creationId xmlns:a16="http://schemas.microsoft.com/office/drawing/2014/main" id="{8102A42A-8BA8-9454-C675-0243C5159F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5045" y="5489553"/>
            <a:ext cx="576000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" name="圖片 91">
            <a:extLst>
              <a:ext uri="{FF2B5EF4-FFF2-40B4-BE49-F238E27FC236}">
                <a16:creationId xmlns:a16="http://schemas.microsoft.com/office/drawing/2014/main" id="{2CDB483C-55CA-C4CC-CCA9-92F243D59D5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1473" y="5463624"/>
            <a:ext cx="576000" cy="576000"/>
          </a:xfrm>
          <a:prstGeom prst="rect">
            <a:avLst/>
          </a:prstGeom>
        </p:spPr>
      </p:pic>
      <p:sp>
        <p:nvSpPr>
          <p:cNvPr id="93" name="標題 1">
            <a:extLst>
              <a:ext uri="{FF2B5EF4-FFF2-40B4-BE49-F238E27FC236}">
                <a16:creationId xmlns:a16="http://schemas.microsoft.com/office/drawing/2014/main" id="{36CA858B-0876-EFCF-2C94-977368F3DF78}"/>
              </a:ext>
            </a:extLst>
          </p:cNvPr>
          <p:cNvSpPr txBox="1">
            <a:spLocks/>
          </p:cNvSpPr>
          <p:nvPr/>
        </p:nvSpPr>
        <p:spPr>
          <a:xfrm>
            <a:off x="3573808" y="5933431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Sonnet 4.7</a:t>
            </a:r>
            <a:endParaRPr lang="zh-TW" altLang="en-US" sz="2000" dirty="0"/>
          </a:p>
        </p:txBody>
      </p:sp>
      <p:sp>
        <p:nvSpPr>
          <p:cNvPr id="94" name="標題 1">
            <a:extLst>
              <a:ext uri="{FF2B5EF4-FFF2-40B4-BE49-F238E27FC236}">
                <a16:creationId xmlns:a16="http://schemas.microsoft.com/office/drawing/2014/main" id="{23BA0DF6-5EA2-0866-DF1D-8C0EA797E199}"/>
              </a:ext>
            </a:extLst>
          </p:cNvPr>
          <p:cNvSpPr txBox="1">
            <a:spLocks/>
          </p:cNvSpPr>
          <p:nvPr/>
        </p:nvSpPr>
        <p:spPr>
          <a:xfrm>
            <a:off x="4978210" y="6036942"/>
            <a:ext cx="822527" cy="4234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RAG</a:t>
            </a:r>
            <a:endParaRPr lang="zh-TW" altLang="en-US" sz="2000" dirty="0"/>
          </a:p>
        </p:txBody>
      </p:sp>
      <p:sp>
        <p:nvSpPr>
          <p:cNvPr id="96" name="標題 1">
            <a:extLst>
              <a:ext uri="{FF2B5EF4-FFF2-40B4-BE49-F238E27FC236}">
                <a16:creationId xmlns:a16="http://schemas.microsoft.com/office/drawing/2014/main" id="{302FFF57-1417-C8A6-33E9-22934BB8199C}"/>
              </a:ext>
            </a:extLst>
          </p:cNvPr>
          <p:cNvSpPr txBox="1">
            <a:spLocks/>
          </p:cNvSpPr>
          <p:nvPr/>
        </p:nvSpPr>
        <p:spPr>
          <a:xfrm>
            <a:off x="3899290" y="4847262"/>
            <a:ext cx="1718840" cy="4860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Find Memory</a:t>
            </a:r>
          </a:p>
        </p:txBody>
      </p:sp>
      <p:cxnSp>
        <p:nvCxnSpPr>
          <p:cNvPr id="97" name="直線接點 96">
            <a:extLst>
              <a:ext uri="{FF2B5EF4-FFF2-40B4-BE49-F238E27FC236}">
                <a16:creationId xmlns:a16="http://schemas.microsoft.com/office/drawing/2014/main" id="{0C226926-3438-94D4-C96B-3DA538D1D12B}"/>
              </a:ext>
            </a:extLst>
          </p:cNvPr>
          <p:cNvCxnSpPr>
            <a:cxnSpLocks/>
          </p:cNvCxnSpPr>
          <p:nvPr/>
        </p:nvCxnSpPr>
        <p:spPr>
          <a:xfrm>
            <a:off x="3701519" y="5338221"/>
            <a:ext cx="2114383" cy="1688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8" name="Picture 8" descr="ElevenLabs Icon logo transparent PNG - StickPNG">
            <a:extLst>
              <a:ext uri="{FF2B5EF4-FFF2-40B4-BE49-F238E27FC236}">
                <a16:creationId xmlns:a16="http://schemas.microsoft.com/office/drawing/2014/main" id="{6BB9E90B-6AF3-BCB3-FB77-2A2A76264D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89" r="5689"/>
          <a:stretch>
            <a:fillRect/>
          </a:stretch>
        </p:blipFill>
        <p:spPr bwMode="auto">
          <a:xfrm>
            <a:off x="6693891" y="5471333"/>
            <a:ext cx="576000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9" name="標題 1">
            <a:extLst>
              <a:ext uri="{FF2B5EF4-FFF2-40B4-BE49-F238E27FC236}">
                <a16:creationId xmlns:a16="http://schemas.microsoft.com/office/drawing/2014/main" id="{D12F812B-0405-8922-5130-1081236C6803}"/>
              </a:ext>
            </a:extLst>
          </p:cNvPr>
          <p:cNvSpPr txBox="1">
            <a:spLocks/>
          </p:cNvSpPr>
          <p:nvPr/>
        </p:nvSpPr>
        <p:spPr>
          <a:xfrm>
            <a:off x="6144646" y="5921448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 err="1"/>
              <a:t>ElevenLabs</a:t>
            </a:r>
            <a:endParaRPr lang="zh-TW" altLang="en-US" sz="2000" dirty="0"/>
          </a:p>
        </p:txBody>
      </p:sp>
      <p:pic>
        <p:nvPicPr>
          <p:cNvPr id="100" name="Picture 6" descr="Simli">
            <a:extLst>
              <a:ext uri="{FF2B5EF4-FFF2-40B4-BE49-F238E27FC236}">
                <a16:creationId xmlns:a16="http://schemas.microsoft.com/office/drawing/2014/main" id="{B1B6556E-DB38-55E1-828B-3C103EE76F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5608" y="5490744"/>
            <a:ext cx="576000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1" name="標題 1">
            <a:extLst>
              <a:ext uri="{FF2B5EF4-FFF2-40B4-BE49-F238E27FC236}">
                <a16:creationId xmlns:a16="http://schemas.microsoft.com/office/drawing/2014/main" id="{14C786CC-E50E-7364-3707-FA3936AFE4FD}"/>
              </a:ext>
            </a:extLst>
          </p:cNvPr>
          <p:cNvSpPr txBox="1">
            <a:spLocks/>
          </p:cNvSpPr>
          <p:nvPr/>
        </p:nvSpPr>
        <p:spPr>
          <a:xfrm>
            <a:off x="7475161" y="6004957"/>
            <a:ext cx="962184" cy="502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 err="1"/>
              <a:t>Simli</a:t>
            </a:r>
            <a:endParaRPr lang="zh-TW" altLang="en-US" sz="2000" dirty="0"/>
          </a:p>
        </p:txBody>
      </p:sp>
      <p:sp>
        <p:nvSpPr>
          <p:cNvPr id="103" name="標題 1">
            <a:extLst>
              <a:ext uri="{FF2B5EF4-FFF2-40B4-BE49-F238E27FC236}">
                <a16:creationId xmlns:a16="http://schemas.microsoft.com/office/drawing/2014/main" id="{43FBE899-BCA4-C9D4-C58F-4815A5FC83AC}"/>
              </a:ext>
            </a:extLst>
          </p:cNvPr>
          <p:cNvSpPr txBox="1">
            <a:spLocks/>
          </p:cNvSpPr>
          <p:nvPr/>
        </p:nvSpPr>
        <p:spPr>
          <a:xfrm>
            <a:off x="6221949" y="4855043"/>
            <a:ext cx="2247495" cy="4860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800" dirty="0"/>
              <a:t>Audio-Visual Reconstruction</a:t>
            </a:r>
          </a:p>
        </p:txBody>
      </p:sp>
      <p:cxnSp>
        <p:nvCxnSpPr>
          <p:cNvPr id="104" name="直線接點 103">
            <a:extLst>
              <a:ext uri="{FF2B5EF4-FFF2-40B4-BE49-F238E27FC236}">
                <a16:creationId xmlns:a16="http://schemas.microsoft.com/office/drawing/2014/main" id="{CF015B5D-25ED-CE2F-C8F8-76E1509F040B}"/>
              </a:ext>
            </a:extLst>
          </p:cNvPr>
          <p:cNvCxnSpPr>
            <a:cxnSpLocks/>
          </p:cNvCxnSpPr>
          <p:nvPr/>
        </p:nvCxnSpPr>
        <p:spPr>
          <a:xfrm>
            <a:off x="6025871" y="5331653"/>
            <a:ext cx="2790067" cy="2216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6" name="Picture 10" descr="LiveKit Free SVG, PNG, and vector do... · LobeHub">
            <a:extLst>
              <a:ext uri="{FF2B5EF4-FFF2-40B4-BE49-F238E27FC236}">
                <a16:creationId xmlns:a16="http://schemas.microsoft.com/office/drawing/2014/main" id="{B4CB980E-D4F8-853C-AF21-1474BC6212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4" r="1634"/>
          <a:stretch>
            <a:fillRect/>
          </a:stretch>
        </p:blipFill>
        <p:spPr bwMode="auto">
          <a:xfrm>
            <a:off x="9348101" y="5469267"/>
            <a:ext cx="576000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" name="標題 1">
            <a:extLst>
              <a:ext uri="{FF2B5EF4-FFF2-40B4-BE49-F238E27FC236}">
                <a16:creationId xmlns:a16="http://schemas.microsoft.com/office/drawing/2014/main" id="{914868D2-92AA-18C3-26AE-E7D273BF216A}"/>
              </a:ext>
            </a:extLst>
          </p:cNvPr>
          <p:cNvSpPr txBox="1">
            <a:spLocks/>
          </p:cNvSpPr>
          <p:nvPr/>
        </p:nvSpPr>
        <p:spPr>
          <a:xfrm>
            <a:off x="9163372" y="5992630"/>
            <a:ext cx="962184" cy="502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 err="1"/>
              <a:t>LiveKit</a:t>
            </a:r>
            <a:endParaRPr lang="zh-TW" altLang="en-US" sz="2000" dirty="0"/>
          </a:p>
        </p:txBody>
      </p:sp>
      <p:sp>
        <p:nvSpPr>
          <p:cNvPr id="110" name="標題 1">
            <a:extLst>
              <a:ext uri="{FF2B5EF4-FFF2-40B4-BE49-F238E27FC236}">
                <a16:creationId xmlns:a16="http://schemas.microsoft.com/office/drawing/2014/main" id="{497241A6-4ADB-64C2-E6D3-77F364D8651C}"/>
              </a:ext>
            </a:extLst>
          </p:cNvPr>
          <p:cNvSpPr txBox="1">
            <a:spLocks/>
          </p:cNvSpPr>
          <p:nvPr/>
        </p:nvSpPr>
        <p:spPr>
          <a:xfrm>
            <a:off x="8925189" y="4867749"/>
            <a:ext cx="1382496" cy="4860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800" dirty="0"/>
              <a:t>Live Streaming</a:t>
            </a:r>
          </a:p>
        </p:txBody>
      </p:sp>
      <p:cxnSp>
        <p:nvCxnSpPr>
          <p:cNvPr id="111" name="直線接點 110">
            <a:extLst>
              <a:ext uri="{FF2B5EF4-FFF2-40B4-BE49-F238E27FC236}">
                <a16:creationId xmlns:a16="http://schemas.microsoft.com/office/drawing/2014/main" id="{E6E13DC9-A9AB-3312-2025-73962FBE675A}"/>
              </a:ext>
            </a:extLst>
          </p:cNvPr>
          <p:cNvCxnSpPr>
            <a:cxnSpLocks/>
          </p:cNvCxnSpPr>
          <p:nvPr/>
        </p:nvCxnSpPr>
        <p:spPr>
          <a:xfrm>
            <a:off x="8965291" y="5348997"/>
            <a:ext cx="1251292" cy="1270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箭號: 向右 113">
            <a:extLst>
              <a:ext uri="{FF2B5EF4-FFF2-40B4-BE49-F238E27FC236}">
                <a16:creationId xmlns:a16="http://schemas.microsoft.com/office/drawing/2014/main" id="{A4320A93-A000-258C-D65B-54D51FEA521C}"/>
              </a:ext>
            </a:extLst>
          </p:cNvPr>
          <p:cNvSpPr/>
          <p:nvPr/>
        </p:nvSpPr>
        <p:spPr>
          <a:xfrm>
            <a:off x="3457663" y="5433382"/>
            <a:ext cx="500419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5" name="箭號: 向右 114">
            <a:extLst>
              <a:ext uri="{FF2B5EF4-FFF2-40B4-BE49-F238E27FC236}">
                <a16:creationId xmlns:a16="http://schemas.microsoft.com/office/drawing/2014/main" id="{3BF0656D-B2AE-E44A-BF2C-402ED9E630DA}"/>
              </a:ext>
            </a:extLst>
          </p:cNvPr>
          <p:cNvSpPr/>
          <p:nvPr/>
        </p:nvSpPr>
        <p:spPr>
          <a:xfrm>
            <a:off x="5728423" y="5437955"/>
            <a:ext cx="500419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6" name="箭號: 向右 115">
            <a:extLst>
              <a:ext uri="{FF2B5EF4-FFF2-40B4-BE49-F238E27FC236}">
                <a16:creationId xmlns:a16="http://schemas.microsoft.com/office/drawing/2014/main" id="{F3355DAE-1274-DB59-9A9B-AD2FFB40950A}"/>
              </a:ext>
            </a:extLst>
          </p:cNvPr>
          <p:cNvSpPr/>
          <p:nvPr/>
        </p:nvSpPr>
        <p:spPr>
          <a:xfrm>
            <a:off x="8644870" y="5436473"/>
            <a:ext cx="500419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7" name="箭號: 向右 116">
            <a:extLst>
              <a:ext uri="{FF2B5EF4-FFF2-40B4-BE49-F238E27FC236}">
                <a16:creationId xmlns:a16="http://schemas.microsoft.com/office/drawing/2014/main" id="{4B015EE9-9B44-066E-902C-0BC629E20357}"/>
              </a:ext>
            </a:extLst>
          </p:cNvPr>
          <p:cNvSpPr/>
          <p:nvPr/>
        </p:nvSpPr>
        <p:spPr>
          <a:xfrm rot="5400000">
            <a:off x="9746688" y="4535365"/>
            <a:ext cx="485635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8" name="標題 1">
            <a:extLst>
              <a:ext uri="{FF2B5EF4-FFF2-40B4-BE49-F238E27FC236}">
                <a16:creationId xmlns:a16="http://schemas.microsoft.com/office/drawing/2014/main" id="{F351B208-1D66-90A5-1A62-F63D8FA8AE3D}"/>
              </a:ext>
            </a:extLst>
          </p:cNvPr>
          <p:cNvSpPr txBox="1">
            <a:spLocks/>
          </p:cNvSpPr>
          <p:nvPr/>
        </p:nvSpPr>
        <p:spPr>
          <a:xfrm>
            <a:off x="1055772" y="5290988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Instant Synthesis</a:t>
            </a:r>
          </a:p>
        </p:txBody>
      </p:sp>
    </p:spTree>
    <p:extLst>
      <p:ext uri="{BB962C8B-B14F-4D97-AF65-F5344CB8AC3E}">
        <p14:creationId xmlns:p14="http://schemas.microsoft.com/office/powerpoint/2010/main" val="3540928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E5D05-6333-8EC2-DB31-27CD639EF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矩形: 圓角 1079">
            <a:extLst>
              <a:ext uri="{FF2B5EF4-FFF2-40B4-BE49-F238E27FC236}">
                <a16:creationId xmlns:a16="http://schemas.microsoft.com/office/drawing/2014/main" id="{FFD6EA57-7B85-06C9-747F-A2B826C7A73A}"/>
              </a:ext>
            </a:extLst>
          </p:cNvPr>
          <p:cNvSpPr/>
          <p:nvPr/>
        </p:nvSpPr>
        <p:spPr>
          <a:xfrm>
            <a:off x="10009383" y="4811910"/>
            <a:ext cx="1757272" cy="194926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>
              <a:highlight>
                <a:srgbClr val="FFFF00"/>
              </a:highlight>
            </a:endParaRPr>
          </a:p>
        </p:txBody>
      </p:sp>
      <p:sp>
        <p:nvSpPr>
          <p:cNvPr id="94" name="矩形: 圓角 93">
            <a:extLst>
              <a:ext uri="{FF2B5EF4-FFF2-40B4-BE49-F238E27FC236}">
                <a16:creationId xmlns:a16="http://schemas.microsoft.com/office/drawing/2014/main" id="{066C5837-B476-9F75-205D-C45CF0B62776}"/>
              </a:ext>
            </a:extLst>
          </p:cNvPr>
          <p:cNvSpPr/>
          <p:nvPr/>
        </p:nvSpPr>
        <p:spPr>
          <a:xfrm>
            <a:off x="10877179" y="5282031"/>
            <a:ext cx="873285" cy="141097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zh-TW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6" name="矩形: 圓角 85">
            <a:extLst>
              <a:ext uri="{FF2B5EF4-FFF2-40B4-BE49-F238E27FC236}">
                <a16:creationId xmlns:a16="http://schemas.microsoft.com/office/drawing/2014/main" id="{476F9311-A936-BC8D-264C-5A0A522141FF}"/>
              </a:ext>
            </a:extLst>
          </p:cNvPr>
          <p:cNvSpPr/>
          <p:nvPr/>
        </p:nvSpPr>
        <p:spPr>
          <a:xfrm>
            <a:off x="1838293" y="4959536"/>
            <a:ext cx="1238657" cy="180923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>
              <a:highlight>
                <a:srgbClr val="FFFF00"/>
              </a:highlight>
            </a:endParaRPr>
          </a:p>
        </p:txBody>
      </p:sp>
      <p:sp>
        <p:nvSpPr>
          <p:cNvPr id="105" name="標題 1">
            <a:extLst>
              <a:ext uri="{FF2B5EF4-FFF2-40B4-BE49-F238E27FC236}">
                <a16:creationId xmlns:a16="http://schemas.microsoft.com/office/drawing/2014/main" id="{C600AC98-6EAE-48A0-EDA5-2307C17DF866}"/>
              </a:ext>
            </a:extLst>
          </p:cNvPr>
          <p:cNvSpPr txBox="1">
            <a:spLocks/>
          </p:cNvSpPr>
          <p:nvPr/>
        </p:nvSpPr>
        <p:spPr>
          <a:xfrm>
            <a:off x="1598687" y="4968515"/>
            <a:ext cx="1718840" cy="4860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b="1" dirty="0"/>
              <a:t>Speak-To-Text</a:t>
            </a:r>
            <a:endParaRPr lang="zh-TW" altLang="en-US" sz="1400" b="1" dirty="0"/>
          </a:p>
        </p:txBody>
      </p:sp>
      <p:cxnSp>
        <p:nvCxnSpPr>
          <p:cNvPr id="108" name="直線接點 107">
            <a:extLst>
              <a:ext uri="{FF2B5EF4-FFF2-40B4-BE49-F238E27FC236}">
                <a16:creationId xmlns:a16="http://schemas.microsoft.com/office/drawing/2014/main" id="{39A8661B-61DE-61B8-4571-68EDF6CA0923}"/>
              </a:ext>
            </a:extLst>
          </p:cNvPr>
          <p:cNvCxnSpPr>
            <a:cxnSpLocks/>
          </p:cNvCxnSpPr>
          <p:nvPr/>
        </p:nvCxnSpPr>
        <p:spPr>
          <a:xfrm>
            <a:off x="1845890" y="5397727"/>
            <a:ext cx="125535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矩形: 圓角 119">
            <a:extLst>
              <a:ext uri="{FF2B5EF4-FFF2-40B4-BE49-F238E27FC236}">
                <a16:creationId xmlns:a16="http://schemas.microsoft.com/office/drawing/2014/main" id="{E001A4BE-EBC7-A483-9BDC-17AE11CCEDAB}"/>
              </a:ext>
            </a:extLst>
          </p:cNvPr>
          <p:cNvSpPr/>
          <p:nvPr/>
        </p:nvSpPr>
        <p:spPr>
          <a:xfrm flipV="1">
            <a:off x="383703" y="4727806"/>
            <a:ext cx="11410732" cy="2077182"/>
          </a:xfrm>
          <a:prstGeom prst="roundRect">
            <a:avLst>
              <a:gd name="adj" fmla="val 4413"/>
            </a:avLst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/>
          </a:p>
        </p:txBody>
      </p:sp>
      <p:sp>
        <p:nvSpPr>
          <p:cNvPr id="119" name="矩形: 圓角 118">
            <a:extLst>
              <a:ext uri="{FF2B5EF4-FFF2-40B4-BE49-F238E27FC236}">
                <a16:creationId xmlns:a16="http://schemas.microsoft.com/office/drawing/2014/main" id="{A8C38E4F-DD82-590E-F297-304FE537AEA7}"/>
              </a:ext>
            </a:extLst>
          </p:cNvPr>
          <p:cNvSpPr/>
          <p:nvPr/>
        </p:nvSpPr>
        <p:spPr>
          <a:xfrm>
            <a:off x="337355" y="636569"/>
            <a:ext cx="11457080" cy="4005094"/>
          </a:xfrm>
          <a:prstGeom prst="roundRect">
            <a:avLst>
              <a:gd name="adj" fmla="val 4413"/>
            </a:avLst>
          </a:prstGeom>
          <a:noFill/>
          <a:ln w="19050">
            <a:solidFill>
              <a:srgbClr val="0070C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/>
          </a:p>
        </p:txBody>
      </p:sp>
      <p:sp>
        <p:nvSpPr>
          <p:cNvPr id="109" name="矩形: 圓角 108">
            <a:extLst>
              <a:ext uri="{FF2B5EF4-FFF2-40B4-BE49-F238E27FC236}">
                <a16:creationId xmlns:a16="http://schemas.microsoft.com/office/drawing/2014/main" id="{90D24169-DA77-DF5F-2375-3BDDF0921D7B}"/>
              </a:ext>
            </a:extLst>
          </p:cNvPr>
          <p:cNvSpPr/>
          <p:nvPr/>
        </p:nvSpPr>
        <p:spPr>
          <a:xfrm>
            <a:off x="8396485" y="4786086"/>
            <a:ext cx="1373990" cy="199550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>
              <a:highlight>
                <a:srgbClr val="FFFF00"/>
              </a:highlight>
            </a:endParaRPr>
          </a:p>
        </p:txBody>
      </p:sp>
      <p:sp>
        <p:nvSpPr>
          <p:cNvPr id="102" name="矩形: 圓角 101">
            <a:extLst>
              <a:ext uri="{FF2B5EF4-FFF2-40B4-BE49-F238E27FC236}">
                <a16:creationId xmlns:a16="http://schemas.microsoft.com/office/drawing/2014/main" id="{F9083CE0-4A85-ABF9-1658-354083E7F979}"/>
              </a:ext>
            </a:extLst>
          </p:cNvPr>
          <p:cNvSpPr/>
          <p:nvPr/>
        </p:nvSpPr>
        <p:spPr>
          <a:xfrm>
            <a:off x="7005890" y="4756762"/>
            <a:ext cx="1194593" cy="20044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>
              <a:highlight>
                <a:srgbClr val="FFFF00"/>
              </a:highlight>
            </a:endParaRPr>
          </a:p>
        </p:txBody>
      </p:sp>
      <p:sp>
        <p:nvSpPr>
          <p:cNvPr id="95" name="矩形: 圓角 94">
            <a:extLst>
              <a:ext uri="{FF2B5EF4-FFF2-40B4-BE49-F238E27FC236}">
                <a16:creationId xmlns:a16="http://schemas.microsoft.com/office/drawing/2014/main" id="{35E0113B-D859-8A04-0FE1-0B2E27536FD2}"/>
              </a:ext>
            </a:extLst>
          </p:cNvPr>
          <p:cNvSpPr/>
          <p:nvPr/>
        </p:nvSpPr>
        <p:spPr>
          <a:xfrm>
            <a:off x="4768511" y="4772138"/>
            <a:ext cx="2155942" cy="101606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>
              <a:highlight>
                <a:srgbClr val="FFFF00"/>
              </a:highlight>
            </a:endParaRP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31D016AD-A941-EDBB-99EC-068512A20E6C}"/>
              </a:ext>
            </a:extLst>
          </p:cNvPr>
          <p:cNvSpPr/>
          <p:nvPr/>
        </p:nvSpPr>
        <p:spPr>
          <a:xfrm>
            <a:off x="2501165" y="697566"/>
            <a:ext cx="1621887" cy="389925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>
              <a:highlight>
                <a:srgbClr val="FFFF00"/>
              </a:highlight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64FC3B8-1B84-0146-4FE1-BCFE7A482D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4529" y="1475927"/>
            <a:ext cx="576000" cy="57600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9B7B4EBC-0563-581D-A3BD-B1C1B9C8E2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9590" y="3620435"/>
            <a:ext cx="597386" cy="597386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FADA3544-31F4-BF8A-833C-A0B6055901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249" y="2542631"/>
            <a:ext cx="576000" cy="576000"/>
          </a:xfrm>
          <a:prstGeom prst="rect">
            <a:avLst/>
          </a:prstGeom>
        </p:spPr>
      </p:pic>
      <p:sp>
        <p:nvSpPr>
          <p:cNvPr id="9" name="標題 1">
            <a:extLst>
              <a:ext uri="{FF2B5EF4-FFF2-40B4-BE49-F238E27FC236}">
                <a16:creationId xmlns:a16="http://schemas.microsoft.com/office/drawing/2014/main" id="{042524AD-F0B7-E69E-6677-B7C979FB2DE1}"/>
              </a:ext>
            </a:extLst>
          </p:cNvPr>
          <p:cNvSpPr txBox="1">
            <a:spLocks/>
          </p:cNvSpPr>
          <p:nvPr/>
        </p:nvSpPr>
        <p:spPr>
          <a:xfrm>
            <a:off x="2489233" y="2985153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/>
              <a:t>Pictures</a:t>
            </a:r>
          </a:p>
        </p:txBody>
      </p:sp>
      <p:sp>
        <p:nvSpPr>
          <p:cNvPr id="10" name="標題 1">
            <a:extLst>
              <a:ext uri="{FF2B5EF4-FFF2-40B4-BE49-F238E27FC236}">
                <a16:creationId xmlns:a16="http://schemas.microsoft.com/office/drawing/2014/main" id="{1CED4404-6987-BE12-61BA-BB03F90AB6C5}"/>
              </a:ext>
            </a:extLst>
          </p:cNvPr>
          <p:cNvSpPr txBox="1">
            <a:spLocks/>
          </p:cNvSpPr>
          <p:nvPr/>
        </p:nvSpPr>
        <p:spPr>
          <a:xfrm>
            <a:off x="2475065" y="4058135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/>
              <a:t>Voices</a:t>
            </a:r>
          </a:p>
        </p:txBody>
      </p:sp>
      <p:sp>
        <p:nvSpPr>
          <p:cNvPr id="11" name="標題 1">
            <a:extLst>
              <a:ext uri="{FF2B5EF4-FFF2-40B4-BE49-F238E27FC236}">
                <a16:creationId xmlns:a16="http://schemas.microsoft.com/office/drawing/2014/main" id="{E01CA261-F59D-97E3-73B4-9CACFD498CC4}"/>
              </a:ext>
            </a:extLst>
          </p:cNvPr>
          <p:cNvSpPr txBox="1">
            <a:spLocks/>
          </p:cNvSpPr>
          <p:nvPr/>
        </p:nvSpPr>
        <p:spPr>
          <a:xfrm>
            <a:off x="2495282" y="1942851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/>
              <a:t>Chat History</a:t>
            </a:r>
          </a:p>
        </p:txBody>
      </p:sp>
      <p:sp>
        <p:nvSpPr>
          <p:cNvPr id="13" name="標題 1">
            <a:extLst>
              <a:ext uri="{FF2B5EF4-FFF2-40B4-BE49-F238E27FC236}">
                <a16:creationId xmlns:a16="http://schemas.microsoft.com/office/drawing/2014/main" id="{3DC6FCE8-B158-A680-5AFF-01B6449173A3}"/>
              </a:ext>
            </a:extLst>
          </p:cNvPr>
          <p:cNvSpPr txBox="1">
            <a:spLocks/>
          </p:cNvSpPr>
          <p:nvPr/>
        </p:nvSpPr>
        <p:spPr>
          <a:xfrm>
            <a:off x="2466055" y="713370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b="1" dirty="0" err="1"/>
              <a:t>Arweave</a:t>
            </a:r>
            <a:endParaRPr lang="en-US" altLang="zh-TW" sz="1400" b="1" dirty="0"/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2185A0CE-C720-3DD5-DFAC-4E7BA8931E1A}"/>
              </a:ext>
            </a:extLst>
          </p:cNvPr>
          <p:cNvCxnSpPr>
            <a:cxnSpLocks/>
          </p:cNvCxnSpPr>
          <p:nvPr/>
        </p:nvCxnSpPr>
        <p:spPr>
          <a:xfrm>
            <a:off x="2495282" y="1255794"/>
            <a:ext cx="162777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標題 1">
            <a:extLst>
              <a:ext uri="{FF2B5EF4-FFF2-40B4-BE49-F238E27FC236}">
                <a16:creationId xmlns:a16="http://schemas.microsoft.com/office/drawing/2014/main" id="{D537087B-34C5-8575-269D-340609CB49CB}"/>
              </a:ext>
            </a:extLst>
          </p:cNvPr>
          <p:cNvSpPr txBox="1">
            <a:spLocks/>
          </p:cNvSpPr>
          <p:nvPr/>
        </p:nvSpPr>
        <p:spPr>
          <a:xfrm>
            <a:off x="484001" y="1520253"/>
            <a:ext cx="1898554" cy="2216345"/>
          </a:xfrm>
          <a:prstGeom prst="rect">
            <a:avLst/>
          </a:prstGeom>
          <a:ln>
            <a:solidFill>
              <a:schemeClr val="tx1"/>
            </a:solidFill>
            <a:prstDash val="lgDash"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1400" dirty="0"/>
              <a:t>Irys bundles files into a single transaction and</a:t>
            </a:r>
          </a:p>
          <a:p>
            <a:r>
              <a:rPr lang="zh-TW" altLang="en-US" sz="1400" dirty="0"/>
              <a:t>uploads them onto Arweave</a:t>
            </a:r>
            <a:r>
              <a:rPr lang="en-US" altLang="zh-TW" sz="1400" dirty="0"/>
              <a:t>’</a:t>
            </a:r>
            <a:r>
              <a:rPr lang="zh-TW" altLang="en-US" sz="1400" dirty="0"/>
              <a:t>s permaweb, where a one-time fee buys permanent, decentralized storage addressed by a transaction ID (TXID).</a:t>
            </a:r>
          </a:p>
        </p:txBody>
      </p:sp>
      <p:cxnSp>
        <p:nvCxnSpPr>
          <p:cNvPr id="30" name="接點: 弧形 29">
            <a:extLst>
              <a:ext uri="{FF2B5EF4-FFF2-40B4-BE49-F238E27FC236}">
                <a16:creationId xmlns:a16="http://schemas.microsoft.com/office/drawing/2014/main" id="{59C59EDE-4095-957B-030F-9FDF8A76BFE6}"/>
              </a:ext>
            </a:extLst>
          </p:cNvPr>
          <p:cNvCxnSpPr>
            <a:cxnSpLocks/>
            <a:endCxn id="19" idx="0"/>
          </p:cNvCxnSpPr>
          <p:nvPr/>
        </p:nvCxnSpPr>
        <p:spPr>
          <a:xfrm rot="10800000" flipV="1">
            <a:off x="1433279" y="1056475"/>
            <a:ext cx="1529427" cy="463777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: 圓角 56">
            <a:extLst>
              <a:ext uri="{FF2B5EF4-FFF2-40B4-BE49-F238E27FC236}">
                <a16:creationId xmlns:a16="http://schemas.microsoft.com/office/drawing/2014/main" id="{31C24824-1B2D-B924-AB02-192D937EAF34}"/>
              </a:ext>
            </a:extLst>
          </p:cNvPr>
          <p:cNvSpPr/>
          <p:nvPr/>
        </p:nvSpPr>
        <p:spPr>
          <a:xfrm>
            <a:off x="4481653" y="3620435"/>
            <a:ext cx="3142083" cy="97638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>
              <a:highlight>
                <a:srgbClr val="FFFF00"/>
              </a:highlight>
            </a:endParaRPr>
          </a:p>
        </p:txBody>
      </p:sp>
      <p:sp>
        <p:nvSpPr>
          <p:cNvPr id="59" name="箭號: 向右 58">
            <a:extLst>
              <a:ext uri="{FF2B5EF4-FFF2-40B4-BE49-F238E27FC236}">
                <a16:creationId xmlns:a16="http://schemas.microsoft.com/office/drawing/2014/main" id="{61883C99-F6A8-7047-F140-3E957E9FAFCC}"/>
              </a:ext>
            </a:extLst>
          </p:cNvPr>
          <p:cNvSpPr/>
          <p:nvPr/>
        </p:nvSpPr>
        <p:spPr>
          <a:xfrm>
            <a:off x="3915245" y="4020644"/>
            <a:ext cx="646152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60" name="標題 1">
            <a:extLst>
              <a:ext uri="{FF2B5EF4-FFF2-40B4-BE49-F238E27FC236}">
                <a16:creationId xmlns:a16="http://schemas.microsoft.com/office/drawing/2014/main" id="{D558666C-CDB7-4234-FCEF-ABC69231A647}"/>
              </a:ext>
            </a:extLst>
          </p:cNvPr>
          <p:cNvSpPr txBox="1">
            <a:spLocks/>
          </p:cNvSpPr>
          <p:nvPr/>
        </p:nvSpPr>
        <p:spPr>
          <a:xfrm>
            <a:off x="4491260" y="3954219"/>
            <a:ext cx="3111818" cy="6304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TW" sz="1400" dirty="0"/>
              <a:t>short recording to clone the </a:t>
            </a:r>
          </a:p>
          <a:p>
            <a:pPr algn="ctr">
              <a:lnSpc>
                <a:spcPct val="100000"/>
              </a:lnSpc>
            </a:pPr>
            <a:r>
              <a:rPr lang="en-US" altLang="zh-TW" sz="1400" dirty="0"/>
              <a:t>person's own voice</a:t>
            </a:r>
          </a:p>
        </p:txBody>
      </p:sp>
      <p:sp>
        <p:nvSpPr>
          <p:cNvPr id="68" name="矩形: 圓角 67">
            <a:extLst>
              <a:ext uri="{FF2B5EF4-FFF2-40B4-BE49-F238E27FC236}">
                <a16:creationId xmlns:a16="http://schemas.microsoft.com/office/drawing/2014/main" id="{2C1EF17A-B8EE-AB85-7D99-0F8923AB9C0D}"/>
              </a:ext>
            </a:extLst>
          </p:cNvPr>
          <p:cNvSpPr/>
          <p:nvPr/>
        </p:nvSpPr>
        <p:spPr>
          <a:xfrm>
            <a:off x="8729951" y="773710"/>
            <a:ext cx="2114383" cy="183125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>
              <a:highlight>
                <a:srgbClr val="FFFF00"/>
              </a:highlight>
            </a:endParaRPr>
          </a:p>
        </p:txBody>
      </p:sp>
      <p:sp>
        <p:nvSpPr>
          <p:cNvPr id="69" name="標題 1">
            <a:extLst>
              <a:ext uri="{FF2B5EF4-FFF2-40B4-BE49-F238E27FC236}">
                <a16:creationId xmlns:a16="http://schemas.microsoft.com/office/drawing/2014/main" id="{9BC20826-E73E-8F83-17EC-BEA8B04C4CBF}"/>
              </a:ext>
            </a:extLst>
          </p:cNvPr>
          <p:cNvSpPr txBox="1">
            <a:spLocks/>
          </p:cNvSpPr>
          <p:nvPr/>
        </p:nvSpPr>
        <p:spPr>
          <a:xfrm>
            <a:off x="8769086" y="1445033"/>
            <a:ext cx="2046669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TW" sz="1400" dirty="0"/>
              <a:t>NFT-Gated Encryption via Lit</a:t>
            </a:r>
          </a:p>
        </p:txBody>
      </p:sp>
      <p:sp>
        <p:nvSpPr>
          <p:cNvPr id="70" name="矩形: 圓角 69">
            <a:extLst>
              <a:ext uri="{FF2B5EF4-FFF2-40B4-BE49-F238E27FC236}">
                <a16:creationId xmlns:a16="http://schemas.microsoft.com/office/drawing/2014/main" id="{1B565F36-35F9-12EE-24C9-9B2187E737E0}"/>
              </a:ext>
            </a:extLst>
          </p:cNvPr>
          <p:cNvSpPr/>
          <p:nvPr/>
        </p:nvSpPr>
        <p:spPr>
          <a:xfrm>
            <a:off x="8670909" y="2884936"/>
            <a:ext cx="2213720" cy="158254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>
              <a:highlight>
                <a:srgbClr val="FFFF00"/>
              </a:highlight>
            </a:endParaRPr>
          </a:p>
        </p:txBody>
      </p:sp>
      <p:sp>
        <p:nvSpPr>
          <p:cNvPr id="71" name="標題 1">
            <a:extLst>
              <a:ext uri="{FF2B5EF4-FFF2-40B4-BE49-F238E27FC236}">
                <a16:creationId xmlns:a16="http://schemas.microsoft.com/office/drawing/2014/main" id="{193EA9E2-5DE6-A016-EF43-361458CF72A7}"/>
              </a:ext>
            </a:extLst>
          </p:cNvPr>
          <p:cNvSpPr txBox="1">
            <a:spLocks/>
          </p:cNvSpPr>
          <p:nvPr/>
        </p:nvSpPr>
        <p:spPr>
          <a:xfrm>
            <a:off x="8564138" y="3434217"/>
            <a:ext cx="2323883" cy="7212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TW" sz="1400" dirty="0"/>
              <a:t>Store in Decentralized Storage</a:t>
            </a:r>
          </a:p>
        </p:txBody>
      </p:sp>
      <p:sp>
        <p:nvSpPr>
          <p:cNvPr id="72" name="標題 1">
            <a:extLst>
              <a:ext uri="{FF2B5EF4-FFF2-40B4-BE49-F238E27FC236}">
                <a16:creationId xmlns:a16="http://schemas.microsoft.com/office/drawing/2014/main" id="{8B03BFCA-8889-5663-B9D0-A05A6D23435A}"/>
              </a:ext>
            </a:extLst>
          </p:cNvPr>
          <p:cNvSpPr txBox="1">
            <a:spLocks/>
          </p:cNvSpPr>
          <p:nvPr/>
        </p:nvSpPr>
        <p:spPr>
          <a:xfrm>
            <a:off x="8960896" y="2841124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b="1" dirty="0" err="1"/>
              <a:t>Arweave</a:t>
            </a:r>
            <a:endParaRPr lang="en-US" altLang="zh-TW" sz="1400" b="1" dirty="0"/>
          </a:p>
        </p:txBody>
      </p:sp>
      <p:cxnSp>
        <p:nvCxnSpPr>
          <p:cNvPr id="73" name="直線接點 72">
            <a:extLst>
              <a:ext uri="{FF2B5EF4-FFF2-40B4-BE49-F238E27FC236}">
                <a16:creationId xmlns:a16="http://schemas.microsoft.com/office/drawing/2014/main" id="{14A753E5-2190-188A-92C2-775F1AF33CB2}"/>
              </a:ext>
            </a:extLst>
          </p:cNvPr>
          <p:cNvCxnSpPr>
            <a:cxnSpLocks/>
          </p:cNvCxnSpPr>
          <p:nvPr/>
        </p:nvCxnSpPr>
        <p:spPr>
          <a:xfrm>
            <a:off x="8688175" y="3352542"/>
            <a:ext cx="2196454" cy="241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箭號: 向右 76">
            <a:extLst>
              <a:ext uri="{FF2B5EF4-FFF2-40B4-BE49-F238E27FC236}">
                <a16:creationId xmlns:a16="http://schemas.microsoft.com/office/drawing/2014/main" id="{BD752D35-60B5-FD42-02E0-4BE82C3E3D43}"/>
              </a:ext>
            </a:extLst>
          </p:cNvPr>
          <p:cNvSpPr/>
          <p:nvPr/>
        </p:nvSpPr>
        <p:spPr>
          <a:xfrm rot="5400000">
            <a:off x="9543146" y="2393246"/>
            <a:ext cx="485635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00A5C21B-4DFC-1E4E-A701-56633A290D08}"/>
              </a:ext>
            </a:extLst>
          </p:cNvPr>
          <p:cNvSpPr/>
          <p:nvPr/>
        </p:nvSpPr>
        <p:spPr>
          <a:xfrm>
            <a:off x="8063015" y="1647173"/>
            <a:ext cx="175730" cy="28442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487574CA-A9A0-9220-5C9D-EA8035B40617}"/>
              </a:ext>
            </a:extLst>
          </p:cNvPr>
          <p:cNvSpPr/>
          <p:nvPr/>
        </p:nvSpPr>
        <p:spPr>
          <a:xfrm rot="5400000">
            <a:off x="7808996" y="4111708"/>
            <a:ext cx="193564" cy="6103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3AB1BAF7-A4E8-6A0D-CAFE-3E12022EA3C9}"/>
              </a:ext>
            </a:extLst>
          </p:cNvPr>
          <p:cNvSpPr/>
          <p:nvPr/>
        </p:nvSpPr>
        <p:spPr>
          <a:xfrm rot="5400000">
            <a:off x="7823531" y="2735310"/>
            <a:ext cx="182266" cy="6281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81" name="箭號: 向右 80">
            <a:extLst>
              <a:ext uri="{FF2B5EF4-FFF2-40B4-BE49-F238E27FC236}">
                <a16:creationId xmlns:a16="http://schemas.microsoft.com/office/drawing/2014/main" id="{E539DCAA-93F9-869F-42DE-C4C998F4239D}"/>
              </a:ext>
            </a:extLst>
          </p:cNvPr>
          <p:cNvSpPr/>
          <p:nvPr/>
        </p:nvSpPr>
        <p:spPr>
          <a:xfrm>
            <a:off x="8065377" y="1557655"/>
            <a:ext cx="674643" cy="331794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pic>
        <p:nvPicPr>
          <p:cNvPr id="82" name="圖片 81">
            <a:extLst>
              <a:ext uri="{FF2B5EF4-FFF2-40B4-BE49-F238E27FC236}">
                <a16:creationId xmlns:a16="http://schemas.microsoft.com/office/drawing/2014/main" id="{A635ED29-761F-4BC5-90F2-F81FDC345A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8272" y="598817"/>
            <a:ext cx="432000" cy="432000"/>
          </a:xfrm>
          <a:prstGeom prst="rect">
            <a:avLst/>
          </a:prstGeom>
        </p:spPr>
      </p:pic>
      <p:pic>
        <p:nvPicPr>
          <p:cNvPr id="83" name="圖片 82">
            <a:extLst>
              <a:ext uri="{FF2B5EF4-FFF2-40B4-BE49-F238E27FC236}">
                <a16:creationId xmlns:a16="http://schemas.microsoft.com/office/drawing/2014/main" id="{7E247EED-01C6-4C3A-120E-10AE10905C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6966" y="2765781"/>
            <a:ext cx="453322" cy="453322"/>
          </a:xfrm>
          <a:prstGeom prst="rect">
            <a:avLst/>
          </a:prstGeom>
        </p:spPr>
      </p:pic>
      <p:grpSp>
        <p:nvGrpSpPr>
          <p:cNvPr id="18" name="群組 17">
            <a:extLst>
              <a:ext uri="{FF2B5EF4-FFF2-40B4-BE49-F238E27FC236}">
                <a16:creationId xmlns:a16="http://schemas.microsoft.com/office/drawing/2014/main" id="{43D5529E-46E5-5551-B977-7068AE06D80A}"/>
              </a:ext>
            </a:extLst>
          </p:cNvPr>
          <p:cNvGrpSpPr/>
          <p:nvPr/>
        </p:nvGrpSpPr>
        <p:grpSpPr>
          <a:xfrm>
            <a:off x="4406038" y="2146582"/>
            <a:ext cx="3221987" cy="1401042"/>
            <a:chOff x="4373226" y="1358828"/>
            <a:chExt cx="3411324" cy="1401042"/>
          </a:xfrm>
        </p:grpSpPr>
        <p:sp>
          <p:nvSpPr>
            <p:cNvPr id="41" name="矩形: 圓角 40">
              <a:extLst>
                <a:ext uri="{FF2B5EF4-FFF2-40B4-BE49-F238E27FC236}">
                  <a16:creationId xmlns:a16="http://schemas.microsoft.com/office/drawing/2014/main" id="{CAC07D45-228D-F379-CB0B-E2903412BBA8}"/>
                </a:ext>
              </a:extLst>
            </p:cNvPr>
            <p:cNvSpPr/>
            <p:nvPr/>
          </p:nvSpPr>
          <p:spPr>
            <a:xfrm>
              <a:off x="4451200" y="1516910"/>
              <a:ext cx="3324340" cy="124296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 dirty="0">
                <a:highlight>
                  <a:srgbClr val="FFFF00"/>
                </a:highlight>
              </a:endParaRPr>
            </a:p>
          </p:txBody>
        </p:sp>
        <p:sp>
          <p:nvSpPr>
            <p:cNvPr id="39" name="標題 1">
              <a:extLst>
                <a:ext uri="{FF2B5EF4-FFF2-40B4-BE49-F238E27FC236}">
                  <a16:creationId xmlns:a16="http://schemas.microsoft.com/office/drawing/2014/main" id="{139581C4-5F40-9F94-A749-5F806560DCEA}"/>
                </a:ext>
              </a:extLst>
            </p:cNvPr>
            <p:cNvSpPr txBox="1">
              <a:spLocks/>
            </p:cNvSpPr>
            <p:nvPr/>
          </p:nvSpPr>
          <p:spPr>
            <a:xfrm>
              <a:off x="4373226" y="1837156"/>
              <a:ext cx="3402314" cy="86447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en-US" altLang="zh-TW" sz="1400" dirty="0"/>
                <a:t>single front photo to reconstruct 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zh-TW" sz="1400" dirty="0"/>
                <a:t>3DGS talking head </a:t>
              </a:r>
            </a:p>
          </p:txBody>
        </p:sp>
        <p:sp>
          <p:nvSpPr>
            <p:cNvPr id="43" name="標題 1">
              <a:extLst>
                <a:ext uri="{FF2B5EF4-FFF2-40B4-BE49-F238E27FC236}">
                  <a16:creationId xmlns:a16="http://schemas.microsoft.com/office/drawing/2014/main" id="{26638007-5B95-524B-FCFD-58C209CEEBCF}"/>
                </a:ext>
              </a:extLst>
            </p:cNvPr>
            <p:cNvSpPr txBox="1">
              <a:spLocks/>
            </p:cNvSpPr>
            <p:nvPr/>
          </p:nvSpPr>
          <p:spPr>
            <a:xfrm>
              <a:off x="4814376" y="1408783"/>
              <a:ext cx="2429119" cy="63046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altLang="zh-TW" sz="1400" b="1" dirty="0"/>
                <a:t>3DGS</a:t>
              </a:r>
              <a:r>
                <a:rPr lang="zh-TW" altLang="en-US" sz="1400" b="1" dirty="0"/>
                <a:t> </a:t>
              </a:r>
              <a:r>
                <a:rPr lang="en-US" altLang="zh-TW" sz="1400" b="1" dirty="0"/>
                <a:t>Reconstruction</a:t>
              </a:r>
            </a:p>
          </p:txBody>
        </p:sp>
        <p:cxnSp>
          <p:nvCxnSpPr>
            <p:cNvPr id="44" name="直線接點 43">
              <a:extLst>
                <a:ext uri="{FF2B5EF4-FFF2-40B4-BE49-F238E27FC236}">
                  <a16:creationId xmlns:a16="http://schemas.microsoft.com/office/drawing/2014/main" id="{9D81C03D-AC11-B4C1-F853-79764BD9CAAA}"/>
                </a:ext>
              </a:extLst>
            </p:cNvPr>
            <p:cNvCxnSpPr>
              <a:cxnSpLocks/>
            </p:cNvCxnSpPr>
            <p:nvPr/>
          </p:nvCxnSpPr>
          <p:spPr>
            <a:xfrm>
              <a:off x="4457825" y="1915957"/>
              <a:ext cx="332672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7" name="圖片 86">
              <a:extLst>
                <a:ext uri="{FF2B5EF4-FFF2-40B4-BE49-F238E27FC236}">
                  <a16:creationId xmlns:a16="http://schemas.microsoft.com/office/drawing/2014/main" id="{C2772BF4-5252-45D8-DF13-DEF776E9C5C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16070" y="1358828"/>
              <a:ext cx="555053" cy="555053"/>
            </a:xfrm>
            <a:prstGeom prst="rect">
              <a:avLst/>
            </a:prstGeom>
          </p:spPr>
        </p:pic>
      </p:grpSp>
      <p:pic>
        <p:nvPicPr>
          <p:cNvPr id="88" name="圖片 87">
            <a:extLst>
              <a:ext uri="{FF2B5EF4-FFF2-40B4-BE49-F238E27FC236}">
                <a16:creationId xmlns:a16="http://schemas.microsoft.com/office/drawing/2014/main" id="{5B7CB7F3-4078-BD82-F9FC-F43270084C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1789" y="3397222"/>
            <a:ext cx="521289" cy="521289"/>
          </a:xfrm>
          <a:prstGeom prst="rect">
            <a:avLst/>
          </a:prstGeom>
        </p:spPr>
      </p:pic>
      <p:sp>
        <p:nvSpPr>
          <p:cNvPr id="89" name="標題 1">
            <a:extLst>
              <a:ext uri="{FF2B5EF4-FFF2-40B4-BE49-F238E27FC236}">
                <a16:creationId xmlns:a16="http://schemas.microsoft.com/office/drawing/2014/main" id="{3BD9CEFB-B976-99DF-D462-7A2327DFA10E}"/>
              </a:ext>
            </a:extLst>
          </p:cNvPr>
          <p:cNvSpPr txBox="1">
            <a:spLocks/>
          </p:cNvSpPr>
          <p:nvPr/>
        </p:nvSpPr>
        <p:spPr>
          <a:xfrm>
            <a:off x="600632" y="2635417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altLang="zh-TW" sz="1400" dirty="0"/>
          </a:p>
        </p:txBody>
      </p:sp>
      <p:pic>
        <p:nvPicPr>
          <p:cNvPr id="1026" name="Picture 2" descr="Speaking ">
            <a:extLst>
              <a:ext uri="{FF2B5EF4-FFF2-40B4-BE49-F238E27FC236}">
                <a16:creationId xmlns:a16="http://schemas.microsoft.com/office/drawing/2014/main" id="{42AA022E-116C-DC95-40CA-3BE3A9C51F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290" y="5313441"/>
            <a:ext cx="870233" cy="870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0" name="標題 1">
            <a:extLst>
              <a:ext uri="{FF2B5EF4-FFF2-40B4-BE49-F238E27FC236}">
                <a16:creationId xmlns:a16="http://schemas.microsoft.com/office/drawing/2014/main" id="{464C53E9-8181-DE87-EA77-9168F6CC0DB5}"/>
              </a:ext>
            </a:extLst>
          </p:cNvPr>
          <p:cNvSpPr txBox="1">
            <a:spLocks/>
          </p:cNvSpPr>
          <p:nvPr/>
        </p:nvSpPr>
        <p:spPr>
          <a:xfrm>
            <a:off x="352335" y="6019424"/>
            <a:ext cx="1266230" cy="4860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/>
              <a:t>You Speak</a:t>
            </a:r>
          </a:p>
        </p:txBody>
      </p:sp>
      <p:cxnSp>
        <p:nvCxnSpPr>
          <p:cNvPr id="97" name="直線接點 96">
            <a:extLst>
              <a:ext uri="{FF2B5EF4-FFF2-40B4-BE49-F238E27FC236}">
                <a16:creationId xmlns:a16="http://schemas.microsoft.com/office/drawing/2014/main" id="{E61A5308-A834-CC57-6C34-EDA8D2245764}"/>
              </a:ext>
            </a:extLst>
          </p:cNvPr>
          <p:cNvCxnSpPr>
            <a:cxnSpLocks/>
          </p:cNvCxnSpPr>
          <p:nvPr/>
        </p:nvCxnSpPr>
        <p:spPr>
          <a:xfrm flipV="1">
            <a:off x="4797351" y="5038995"/>
            <a:ext cx="2127102" cy="52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標題 1">
            <a:extLst>
              <a:ext uri="{FF2B5EF4-FFF2-40B4-BE49-F238E27FC236}">
                <a16:creationId xmlns:a16="http://schemas.microsoft.com/office/drawing/2014/main" id="{E52656E8-533E-A442-FF73-B11488A562AD}"/>
              </a:ext>
            </a:extLst>
          </p:cNvPr>
          <p:cNvSpPr txBox="1">
            <a:spLocks/>
          </p:cNvSpPr>
          <p:nvPr/>
        </p:nvSpPr>
        <p:spPr>
          <a:xfrm>
            <a:off x="8650416" y="5659346"/>
            <a:ext cx="962184" cy="502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/>
              <a:t>LAM 3DGS</a:t>
            </a:r>
            <a:endParaRPr lang="zh-TW" altLang="en-US" sz="1400" dirty="0"/>
          </a:p>
        </p:txBody>
      </p:sp>
      <p:sp>
        <p:nvSpPr>
          <p:cNvPr id="103" name="標題 1">
            <a:extLst>
              <a:ext uri="{FF2B5EF4-FFF2-40B4-BE49-F238E27FC236}">
                <a16:creationId xmlns:a16="http://schemas.microsoft.com/office/drawing/2014/main" id="{72F6E690-7A5F-7384-774E-B117A37C26EB}"/>
              </a:ext>
            </a:extLst>
          </p:cNvPr>
          <p:cNvSpPr txBox="1">
            <a:spLocks/>
          </p:cNvSpPr>
          <p:nvPr/>
        </p:nvSpPr>
        <p:spPr>
          <a:xfrm>
            <a:off x="6842583" y="4795960"/>
            <a:ext cx="1541819" cy="4860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b="1" dirty="0"/>
              <a:t>Audio Reconstruction</a:t>
            </a:r>
          </a:p>
        </p:txBody>
      </p:sp>
      <p:cxnSp>
        <p:nvCxnSpPr>
          <p:cNvPr id="104" name="直線接點 103">
            <a:extLst>
              <a:ext uri="{FF2B5EF4-FFF2-40B4-BE49-F238E27FC236}">
                <a16:creationId xmlns:a16="http://schemas.microsoft.com/office/drawing/2014/main" id="{56C12A56-9236-86E9-0190-C2E62FF1E1DD}"/>
              </a:ext>
            </a:extLst>
          </p:cNvPr>
          <p:cNvCxnSpPr>
            <a:cxnSpLocks/>
          </p:cNvCxnSpPr>
          <p:nvPr/>
        </p:nvCxnSpPr>
        <p:spPr>
          <a:xfrm>
            <a:off x="8395160" y="5285024"/>
            <a:ext cx="139139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6" name="Picture 10" descr="LiveKit Free SVG, PNG, and vector do... · LobeHub">
            <a:extLst>
              <a:ext uri="{FF2B5EF4-FFF2-40B4-BE49-F238E27FC236}">
                <a16:creationId xmlns:a16="http://schemas.microsoft.com/office/drawing/2014/main" id="{99A305D7-DF8D-22E9-3D3A-195D5086D8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4" r="1634"/>
          <a:stretch>
            <a:fillRect/>
          </a:stretch>
        </p:blipFill>
        <p:spPr bwMode="auto">
          <a:xfrm>
            <a:off x="11123574" y="5522075"/>
            <a:ext cx="371374" cy="371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" name="標題 1">
            <a:extLst>
              <a:ext uri="{FF2B5EF4-FFF2-40B4-BE49-F238E27FC236}">
                <a16:creationId xmlns:a16="http://schemas.microsoft.com/office/drawing/2014/main" id="{FD84063E-B2F3-E89D-2569-3E4ACA4CF3EC}"/>
              </a:ext>
            </a:extLst>
          </p:cNvPr>
          <p:cNvSpPr txBox="1">
            <a:spLocks/>
          </p:cNvSpPr>
          <p:nvPr/>
        </p:nvSpPr>
        <p:spPr>
          <a:xfrm>
            <a:off x="10844334" y="5767166"/>
            <a:ext cx="962184" cy="502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 err="1"/>
              <a:t>LiveKit</a:t>
            </a:r>
            <a:endParaRPr lang="zh-TW" altLang="en-US" sz="1400" dirty="0"/>
          </a:p>
        </p:txBody>
      </p:sp>
      <p:sp>
        <p:nvSpPr>
          <p:cNvPr id="110" name="標題 1">
            <a:extLst>
              <a:ext uri="{FF2B5EF4-FFF2-40B4-BE49-F238E27FC236}">
                <a16:creationId xmlns:a16="http://schemas.microsoft.com/office/drawing/2014/main" id="{70F443DF-8229-252C-3DA3-2D2CFBB7F923}"/>
              </a:ext>
            </a:extLst>
          </p:cNvPr>
          <p:cNvSpPr txBox="1">
            <a:spLocks/>
          </p:cNvSpPr>
          <p:nvPr/>
        </p:nvSpPr>
        <p:spPr>
          <a:xfrm>
            <a:off x="10247730" y="4811910"/>
            <a:ext cx="1382496" cy="4860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b="1" dirty="0"/>
              <a:t>Live Streaming</a:t>
            </a:r>
          </a:p>
        </p:txBody>
      </p:sp>
      <p:cxnSp>
        <p:nvCxnSpPr>
          <p:cNvPr id="111" name="直線接點 110">
            <a:extLst>
              <a:ext uri="{FF2B5EF4-FFF2-40B4-BE49-F238E27FC236}">
                <a16:creationId xmlns:a16="http://schemas.microsoft.com/office/drawing/2014/main" id="{F8713B52-0A9A-EA18-68FA-DF0319DFF2EB}"/>
              </a:ext>
            </a:extLst>
          </p:cNvPr>
          <p:cNvCxnSpPr>
            <a:cxnSpLocks/>
          </p:cNvCxnSpPr>
          <p:nvPr/>
        </p:nvCxnSpPr>
        <p:spPr>
          <a:xfrm>
            <a:off x="10037826" y="5246227"/>
            <a:ext cx="174208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箭號: 向右 113">
            <a:extLst>
              <a:ext uri="{FF2B5EF4-FFF2-40B4-BE49-F238E27FC236}">
                <a16:creationId xmlns:a16="http://schemas.microsoft.com/office/drawing/2014/main" id="{E476922E-D13B-757D-4D30-AB3E8A43A19D}"/>
              </a:ext>
            </a:extLst>
          </p:cNvPr>
          <p:cNvSpPr/>
          <p:nvPr/>
        </p:nvSpPr>
        <p:spPr>
          <a:xfrm>
            <a:off x="1447293" y="5685154"/>
            <a:ext cx="500419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16" name="箭號: 向右 115">
            <a:extLst>
              <a:ext uri="{FF2B5EF4-FFF2-40B4-BE49-F238E27FC236}">
                <a16:creationId xmlns:a16="http://schemas.microsoft.com/office/drawing/2014/main" id="{61ABC6BD-5E30-96E0-1455-9DD6C6AEC8E3}"/>
              </a:ext>
            </a:extLst>
          </p:cNvPr>
          <p:cNvSpPr/>
          <p:nvPr/>
        </p:nvSpPr>
        <p:spPr>
          <a:xfrm>
            <a:off x="9928594" y="5883932"/>
            <a:ext cx="290021" cy="270985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7" name="箭號: 向右 116">
            <a:extLst>
              <a:ext uri="{FF2B5EF4-FFF2-40B4-BE49-F238E27FC236}">
                <a16:creationId xmlns:a16="http://schemas.microsoft.com/office/drawing/2014/main" id="{C6EA47FB-8D58-B8DA-4C68-709F98259EB2}"/>
              </a:ext>
            </a:extLst>
          </p:cNvPr>
          <p:cNvSpPr/>
          <p:nvPr/>
        </p:nvSpPr>
        <p:spPr>
          <a:xfrm rot="5400000">
            <a:off x="9509782" y="4335254"/>
            <a:ext cx="531018" cy="50074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pic>
        <p:nvPicPr>
          <p:cNvPr id="15" name="圖片 14" descr="Voice Icons - Free SVG &amp; PNG Voice Images - Noun Project">
            <a:extLst>
              <a:ext uri="{FF2B5EF4-FFF2-40B4-BE49-F238E27FC236}">
                <a16:creationId xmlns:a16="http://schemas.microsoft.com/office/drawing/2014/main" id="{B20DC8AA-E350-6483-0281-EDF8C61C5C5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86521" y="3549842"/>
            <a:ext cx="677186" cy="677186"/>
          </a:xfrm>
          <a:prstGeom prst="rect">
            <a:avLst/>
          </a:prstGeom>
        </p:spPr>
      </p:pic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77260A1F-1E54-3C5A-8B5E-FB6A31452C34}"/>
              </a:ext>
            </a:extLst>
          </p:cNvPr>
          <p:cNvSpPr/>
          <p:nvPr/>
        </p:nvSpPr>
        <p:spPr>
          <a:xfrm>
            <a:off x="4523681" y="751668"/>
            <a:ext cx="3088431" cy="143029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/>
          </a:p>
        </p:txBody>
      </p: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07CAE220-D286-364C-E660-25DAF7C66920}"/>
              </a:ext>
            </a:extLst>
          </p:cNvPr>
          <p:cNvCxnSpPr>
            <a:cxnSpLocks/>
          </p:cNvCxnSpPr>
          <p:nvPr/>
        </p:nvCxnSpPr>
        <p:spPr>
          <a:xfrm>
            <a:off x="4523681" y="1185097"/>
            <a:ext cx="310005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標題 1">
            <a:extLst>
              <a:ext uri="{FF2B5EF4-FFF2-40B4-BE49-F238E27FC236}">
                <a16:creationId xmlns:a16="http://schemas.microsoft.com/office/drawing/2014/main" id="{A206BFE1-F6CA-02D7-8B22-30AAD24A289B}"/>
              </a:ext>
            </a:extLst>
          </p:cNvPr>
          <p:cNvSpPr txBox="1">
            <a:spLocks/>
          </p:cNvSpPr>
          <p:nvPr/>
        </p:nvSpPr>
        <p:spPr>
          <a:xfrm>
            <a:off x="5222409" y="671301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b="1" dirty="0"/>
              <a:t>Backend RAG</a:t>
            </a:r>
          </a:p>
        </p:txBody>
      </p:sp>
      <p:sp>
        <p:nvSpPr>
          <p:cNvPr id="49" name="箭號: 向右 48">
            <a:extLst>
              <a:ext uri="{FF2B5EF4-FFF2-40B4-BE49-F238E27FC236}">
                <a16:creationId xmlns:a16="http://schemas.microsoft.com/office/drawing/2014/main" id="{B29F3056-185C-E4B0-3CE8-4C5E161EE065}"/>
              </a:ext>
            </a:extLst>
          </p:cNvPr>
          <p:cNvSpPr/>
          <p:nvPr/>
        </p:nvSpPr>
        <p:spPr>
          <a:xfrm>
            <a:off x="3874447" y="1591159"/>
            <a:ext cx="679676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pic>
        <p:nvPicPr>
          <p:cNvPr id="25" name="圖片 24" descr="File:Colored neural network.svg - Wikimedia Commons">
            <a:extLst>
              <a:ext uri="{FF2B5EF4-FFF2-40B4-BE49-F238E27FC236}">
                <a16:creationId xmlns:a16="http://schemas.microsoft.com/office/drawing/2014/main" id="{5F08E0CB-E2E4-0FEF-5419-E17B39EE1A0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05026" y="1240027"/>
            <a:ext cx="566151" cy="681151"/>
          </a:xfrm>
          <a:prstGeom prst="rect">
            <a:avLst/>
          </a:prstGeom>
        </p:spPr>
      </p:pic>
      <p:sp>
        <p:nvSpPr>
          <p:cNvPr id="28" name="標題 1">
            <a:extLst>
              <a:ext uri="{FF2B5EF4-FFF2-40B4-BE49-F238E27FC236}">
                <a16:creationId xmlns:a16="http://schemas.microsoft.com/office/drawing/2014/main" id="{F1C96845-AAE3-E1E3-884D-2C08D7CE7EA1}"/>
              </a:ext>
            </a:extLst>
          </p:cNvPr>
          <p:cNvSpPr txBox="1">
            <a:spLocks/>
          </p:cNvSpPr>
          <p:nvPr/>
        </p:nvSpPr>
        <p:spPr>
          <a:xfrm>
            <a:off x="4415677" y="1721422"/>
            <a:ext cx="1807663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/>
              <a:t>e5 embedding</a:t>
            </a:r>
            <a:endParaRPr lang="zh-TW" altLang="en-US" sz="1400" dirty="0"/>
          </a:p>
        </p:txBody>
      </p:sp>
      <p:sp>
        <p:nvSpPr>
          <p:cNvPr id="29" name="箭號: 向右 28">
            <a:extLst>
              <a:ext uri="{FF2B5EF4-FFF2-40B4-BE49-F238E27FC236}">
                <a16:creationId xmlns:a16="http://schemas.microsoft.com/office/drawing/2014/main" id="{12DE8B1F-BEC3-EBDE-FDAB-BBBA26961209}"/>
              </a:ext>
            </a:extLst>
          </p:cNvPr>
          <p:cNvSpPr/>
          <p:nvPr/>
        </p:nvSpPr>
        <p:spPr>
          <a:xfrm>
            <a:off x="5925120" y="1597300"/>
            <a:ext cx="638733" cy="23833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pic>
        <p:nvPicPr>
          <p:cNvPr id="37" name="圖片 36" descr="Обзор PG Vector 2026: оценка 3.8/5">
            <a:extLst>
              <a:ext uri="{FF2B5EF4-FFF2-40B4-BE49-F238E27FC236}">
                <a16:creationId xmlns:a16="http://schemas.microsoft.com/office/drawing/2014/main" id="{EF9FA4E5-C1AD-66DB-7C42-3C32C8A1FED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61456" y="1297270"/>
            <a:ext cx="644893" cy="644893"/>
          </a:xfrm>
          <a:prstGeom prst="rect">
            <a:avLst/>
          </a:prstGeom>
        </p:spPr>
      </p:pic>
      <p:sp>
        <p:nvSpPr>
          <p:cNvPr id="38" name="標題 1">
            <a:extLst>
              <a:ext uri="{FF2B5EF4-FFF2-40B4-BE49-F238E27FC236}">
                <a16:creationId xmlns:a16="http://schemas.microsoft.com/office/drawing/2014/main" id="{060C6CFE-BE0D-06FF-F987-186C78F217C9}"/>
              </a:ext>
            </a:extLst>
          </p:cNvPr>
          <p:cNvSpPr txBox="1">
            <a:spLocks/>
          </p:cNvSpPr>
          <p:nvPr/>
        </p:nvSpPr>
        <p:spPr>
          <a:xfrm>
            <a:off x="6156397" y="1727775"/>
            <a:ext cx="1807663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 err="1"/>
              <a:t>pgvector</a:t>
            </a:r>
            <a:endParaRPr lang="zh-TW" altLang="en-US" sz="1400" dirty="0"/>
          </a:p>
        </p:txBody>
      </p:sp>
      <p:sp>
        <p:nvSpPr>
          <p:cNvPr id="46" name="箭號: 向右 45">
            <a:extLst>
              <a:ext uri="{FF2B5EF4-FFF2-40B4-BE49-F238E27FC236}">
                <a16:creationId xmlns:a16="http://schemas.microsoft.com/office/drawing/2014/main" id="{A9A4FE26-1888-A1C3-1438-5CF4CA240469}"/>
              </a:ext>
            </a:extLst>
          </p:cNvPr>
          <p:cNvSpPr/>
          <p:nvPr/>
        </p:nvSpPr>
        <p:spPr>
          <a:xfrm>
            <a:off x="3923907" y="2732912"/>
            <a:ext cx="628160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48" name="標題 1">
            <a:extLst>
              <a:ext uri="{FF2B5EF4-FFF2-40B4-BE49-F238E27FC236}">
                <a16:creationId xmlns:a16="http://schemas.microsoft.com/office/drawing/2014/main" id="{980C58A1-2C8A-B86B-3880-A4B279EEB76C}"/>
              </a:ext>
            </a:extLst>
          </p:cNvPr>
          <p:cNvSpPr txBox="1">
            <a:spLocks/>
          </p:cNvSpPr>
          <p:nvPr/>
        </p:nvSpPr>
        <p:spPr>
          <a:xfrm>
            <a:off x="5186477" y="3488016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b="1" dirty="0"/>
              <a:t>Voice Clone</a:t>
            </a:r>
          </a:p>
        </p:txBody>
      </p: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494A975C-DDFA-7F64-4099-660C81B14738}"/>
              </a:ext>
            </a:extLst>
          </p:cNvPr>
          <p:cNvCxnSpPr>
            <a:cxnSpLocks/>
          </p:cNvCxnSpPr>
          <p:nvPr/>
        </p:nvCxnSpPr>
        <p:spPr>
          <a:xfrm>
            <a:off x="4494627" y="3963491"/>
            <a:ext cx="316981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圖片 57">
            <a:extLst>
              <a:ext uri="{FF2B5EF4-FFF2-40B4-BE49-F238E27FC236}">
                <a16:creationId xmlns:a16="http://schemas.microsoft.com/office/drawing/2014/main" id="{BEFC2DCA-5188-A081-A36D-241A10134BE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83836" y="5572013"/>
            <a:ext cx="599232" cy="599232"/>
          </a:xfrm>
          <a:prstGeom prst="rect">
            <a:avLst/>
          </a:prstGeom>
        </p:spPr>
      </p:pic>
      <p:sp>
        <p:nvSpPr>
          <p:cNvPr id="75" name="標題 1">
            <a:extLst>
              <a:ext uri="{FF2B5EF4-FFF2-40B4-BE49-F238E27FC236}">
                <a16:creationId xmlns:a16="http://schemas.microsoft.com/office/drawing/2014/main" id="{B58E730F-1219-8394-0808-46D5FAFEDEAB}"/>
              </a:ext>
            </a:extLst>
          </p:cNvPr>
          <p:cNvSpPr txBox="1">
            <a:spLocks/>
          </p:cNvSpPr>
          <p:nvPr/>
        </p:nvSpPr>
        <p:spPr>
          <a:xfrm>
            <a:off x="2408552" y="5937152"/>
            <a:ext cx="1807663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zh-TW" altLang="en-US" sz="1400" dirty="0"/>
          </a:p>
        </p:txBody>
      </p:sp>
      <p:sp>
        <p:nvSpPr>
          <p:cNvPr id="112" name="標題 1">
            <a:extLst>
              <a:ext uri="{FF2B5EF4-FFF2-40B4-BE49-F238E27FC236}">
                <a16:creationId xmlns:a16="http://schemas.microsoft.com/office/drawing/2014/main" id="{895C83E8-8910-42CB-4013-05D22082E00A}"/>
              </a:ext>
            </a:extLst>
          </p:cNvPr>
          <p:cNvSpPr txBox="1">
            <a:spLocks/>
          </p:cNvSpPr>
          <p:nvPr/>
        </p:nvSpPr>
        <p:spPr>
          <a:xfrm>
            <a:off x="1566771" y="6135152"/>
            <a:ext cx="1807663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/>
              <a:t>OpenAI Whisper</a:t>
            </a:r>
            <a:endParaRPr lang="zh-TW" altLang="en-US" sz="1400" dirty="0"/>
          </a:p>
        </p:txBody>
      </p:sp>
      <p:pic>
        <p:nvPicPr>
          <p:cNvPr id="123" name="圖片 122" descr="Обзор PG Vector 2026: оценка 3.8/5">
            <a:extLst>
              <a:ext uri="{FF2B5EF4-FFF2-40B4-BE49-F238E27FC236}">
                <a16:creationId xmlns:a16="http://schemas.microsoft.com/office/drawing/2014/main" id="{D1AA1A30-524A-AEB2-498D-73339C9B9EF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04885" y="5090454"/>
            <a:ext cx="500419" cy="500419"/>
          </a:xfrm>
          <a:prstGeom prst="rect">
            <a:avLst/>
          </a:prstGeom>
        </p:spPr>
      </p:pic>
      <p:sp>
        <p:nvSpPr>
          <p:cNvPr id="124" name="標題 1">
            <a:extLst>
              <a:ext uri="{FF2B5EF4-FFF2-40B4-BE49-F238E27FC236}">
                <a16:creationId xmlns:a16="http://schemas.microsoft.com/office/drawing/2014/main" id="{0B2C7677-F3A6-E1C2-82E6-A0CEB5B2A221}"/>
              </a:ext>
            </a:extLst>
          </p:cNvPr>
          <p:cNvSpPr txBox="1">
            <a:spLocks/>
          </p:cNvSpPr>
          <p:nvPr/>
        </p:nvSpPr>
        <p:spPr>
          <a:xfrm>
            <a:off x="4384433" y="5356341"/>
            <a:ext cx="1807663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/>
              <a:t>database</a:t>
            </a:r>
            <a:endParaRPr lang="zh-TW" altLang="en-US" sz="1400" dirty="0"/>
          </a:p>
        </p:txBody>
      </p:sp>
      <p:sp>
        <p:nvSpPr>
          <p:cNvPr id="1030" name="矩形: 圓角 1029">
            <a:extLst>
              <a:ext uri="{FF2B5EF4-FFF2-40B4-BE49-F238E27FC236}">
                <a16:creationId xmlns:a16="http://schemas.microsoft.com/office/drawing/2014/main" id="{ABF5168B-8FC9-080C-D376-54DEBB68D8DD}"/>
              </a:ext>
            </a:extLst>
          </p:cNvPr>
          <p:cNvSpPr/>
          <p:nvPr/>
        </p:nvSpPr>
        <p:spPr>
          <a:xfrm>
            <a:off x="3515089" y="5291734"/>
            <a:ext cx="1056826" cy="44984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embedding</a:t>
            </a:r>
            <a:endParaRPr lang="zh-TW" alt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34" name="箭號: 向右 1033">
            <a:extLst>
              <a:ext uri="{FF2B5EF4-FFF2-40B4-BE49-F238E27FC236}">
                <a16:creationId xmlns:a16="http://schemas.microsoft.com/office/drawing/2014/main" id="{42783533-7428-6CEC-5534-F3E86784AEE0}"/>
              </a:ext>
            </a:extLst>
          </p:cNvPr>
          <p:cNvSpPr/>
          <p:nvPr/>
        </p:nvSpPr>
        <p:spPr>
          <a:xfrm>
            <a:off x="4496208" y="5412547"/>
            <a:ext cx="343001" cy="23833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grpSp>
        <p:nvGrpSpPr>
          <p:cNvPr id="1042" name="群組 1041">
            <a:extLst>
              <a:ext uri="{FF2B5EF4-FFF2-40B4-BE49-F238E27FC236}">
                <a16:creationId xmlns:a16="http://schemas.microsoft.com/office/drawing/2014/main" id="{8C551B0E-D89D-3610-10C0-651BD1D463BB}"/>
              </a:ext>
            </a:extLst>
          </p:cNvPr>
          <p:cNvGrpSpPr/>
          <p:nvPr/>
        </p:nvGrpSpPr>
        <p:grpSpPr>
          <a:xfrm>
            <a:off x="6104370" y="5222561"/>
            <a:ext cx="792492" cy="343189"/>
            <a:chOff x="10498229" y="2872177"/>
            <a:chExt cx="1083540" cy="538886"/>
          </a:xfrm>
          <a:solidFill>
            <a:schemeClr val="bg1"/>
          </a:solidFill>
        </p:grpSpPr>
        <p:sp>
          <p:nvSpPr>
            <p:cNvPr id="1039" name="矩形 1038">
              <a:extLst>
                <a:ext uri="{FF2B5EF4-FFF2-40B4-BE49-F238E27FC236}">
                  <a16:creationId xmlns:a16="http://schemas.microsoft.com/office/drawing/2014/main" id="{B59DF092-9DA6-26B3-1B30-26C6F5ABD70A}"/>
                </a:ext>
              </a:extLst>
            </p:cNvPr>
            <p:cNvSpPr/>
            <p:nvPr/>
          </p:nvSpPr>
          <p:spPr>
            <a:xfrm>
              <a:off x="10498229" y="2872177"/>
              <a:ext cx="885388" cy="37247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/>
            </a:p>
          </p:txBody>
        </p:sp>
        <p:sp>
          <p:nvSpPr>
            <p:cNvPr id="1040" name="矩形 1039">
              <a:extLst>
                <a:ext uri="{FF2B5EF4-FFF2-40B4-BE49-F238E27FC236}">
                  <a16:creationId xmlns:a16="http://schemas.microsoft.com/office/drawing/2014/main" id="{97A95EC9-F584-37B2-8431-4DB5B733D9F9}"/>
                </a:ext>
              </a:extLst>
            </p:cNvPr>
            <p:cNvSpPr/>
            <p:nvPr/>
          </p:nvSpPr>
          <p:spPr>
            <a:xfrm>
              <a:off x="10560558" y="2951903"/>
              <a:ext cx="915825" cy="37247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/>
            </a:p>
          </p:txBody>
        </p:sp>
        <p:sp>
          <p:nvSpPr>
            <p:cNvPr id="1041" name="矩形 1040">
              <a:extLst>
                <a:ext uri="{FF2B5EF4-FFF2-40B4-BE49-F238E27FC236}">
                  <a16:creationId xmlns:a16="http://schemas.microsoft.com/office/drawing/2014/main" id="{7C668476-B89F-D47B-B7F4-9235A26B6C6A}"/>
                </a:ext>
              </a:extLst>
            </p:cNvPr>
            <p:cNvSpPr/>
            <p:nvPr/>
          </p:nvSpPr>
          <p:spPr>
            <a:xfrm>
              <a:off x="10641429" y="3038587"/>
              <a:ext cx="940340" cy="37247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chunks</a:t>
              </a:r>
              <a:endParaRPr lang="zh-TW" altLang="en-US" sz="14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sp>
        <p:nvSpPr>
          <p:cNvPr id="1043" name="箭號: 向右 1042">
            <a:extLst>
              <a:ext uri="{FF2B5EF4-FFF2-40B4-BE49-F238E27FC236}">
                <a16:creationId xmlns:a16="http://schemas.microsoft.com/office/drawing/2014/main" id="{6DF995A1-8809-869F-2CC3-9C8FAD429E60}"/>
              </a:ext>
            </a:extLst>
          </p:cNvPr>
          <p:cNvSpPr/>
          <p:nvPr/>
        </p:nvSpPr>
        <p:spPr>
          <a:xfrm>
            <a:off x="5661025" y="5280849"/>
            <a:ext cx="343001" cy="23833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044" name="矩形: 圓角 1043">
            <a:extLst>
              <a:ext uri="{FF2B5EF4-FFF2-40B4-BE49-F238E27FC236}">
                <a16:creationId xmlns:a16="http://schemas.microsoft.com/office/drawing/2014/main" id="{9BB985AF-A97A-DC9D-4896-E5C1BBE90B09}"/>
              </a:ext>
            </a:extLst>
          </p:cNvPr>
          <p:cNvSpPr/>
          <p:nvPr/>
        </p:nvSpPr>
        <p:spPr>
          <a:xfrm>
            <a:off x="4808579" y="5915836"/>
            <a:ext cx="1851975" cy="88915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>
              <a:highlight>
                <a:srgbClr val="FFFF00"/>
              </a:highlight>
            </a:endParaRPr>
          </a:p>
        </p:txBody>
      </p:sp>
      <p:sp>
        <p:nvSpPr>
          <p:cNvPr id="93" name="標題 1">
            <a:extLst>
              <a:ext uri="{FF2B5EF4-FFF2-40B4-BE49-F238E27FC236}">
                <a16:creationId xmlns:a16="http://schemas.microsoft.com/office/drawing/2014/main" id="{7F707A8B-2A4E-4D64-3961-31CCCF06E9AA}"/>
              </a:ext>
            </a:extLst>
          </p:cNvPr>
          <p:cNvSpPr txBox="1">
            <a:spLocks/>
          </p:cNvSpPr>
          <p:nvPr/>
        </p:nvSpPr>
        <p:spPr>
          <a:xfrm>
            <a:off x="4867128" y="6352294"/>
            <a:ext cx="1807663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/>
              <a:t>Qwen3-14B-AWQ</a:t>
            </a:r>
            <a:endParaRPr lang="zh-TW" altLang="en-US" sz="1400" dirty="0"/>
          </a:p>
        </p:txBody>
      </p:sp>
      <p:pic>
        <p:nvPicPr>
          <p:cNvPr id="3" name="圖片 2" descr="通義千問- 維基百科，自由的百科全書">
            <a:extLst>
              <a:ext uri="{FF2B5EF4-FFF2-40B4-BE49-F238E27FC236}">
                <a16:creationId xmlns:a16="http://schemas.microsoft.com/office/drawing/2014/main" id="{97534777-C878-26EB-217D-70ED0576296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14180" y="6152579"/>
            <a:ext cx="553459" cy="542609"/>
          </a:xfrm>
          <a:prstGeom prst="rect">
            <a:avLst/>
          </a:prstGeom>
        </p:spPr>
      </p:pic>
      <p:cxnSp>
        <p:nvCxnSpPr>
          <p:cNvPr id="1046" name="直線接點 1045">
            <a:extLst>
              <a:ext uri="{FF2B5EF4-FFF2-40B4-BE49-F238E27FC236}">
                <a16:creationId xmlns:a16="http://schemas.microsoft.com/office/drawing/2014/main" id="{0CEBA179-E4ED-3365-72DC-EB474E265333}"/>
              </a:ext>
            </a:extLst>
          </p:cNvPr>
          <p:cNvCxnSpPr>
            <a:cxnSpLocks/>
          </p:cNvCxnSpPr>
          <p:nvPr/>
        </p:nvCxnSpPr>
        <p:spPr>
          <a:xfrm>
            <a:off x="4831471" y="6174510"/>
            <a:ext cx="1821120" cy="697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9" name="標題 1">
            <a:extLst>
              <a:ext uri="{FF2B5EF4-FFF2-40B4-BE49-F238E27FC236}">
                <a16:creationId xmlns:a16="http://schemas.microsoft.com/office/drawing/2014/main" id="{A0FA4932-8D14-A738-5472-5D10DEB2C08C}"/>
              </a:ext>
            </a:extLst>
          </p:cNvPr>
          <p:cNvSpPr txBox="1">
            <a:spLocks/>
          </p:cNvSpPr>
          <p:nvPr/>
        </p:nvSpPr>
        <p:spPr>
          <a:xfrm>
            <a:off x="4936831" y="4685610"/>
            <a:ext cx="1854437" cy="4860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b="1" dirty="0"/>
              <a:t>Find Memory</a:t>
            </a:r>
          </a:p>
        </p:txBody>
      </p:sp>
      <p:sp>
        <p:nvSpPr>
          <p:cNvPr id="96" name="標題 1">
            <a:extLst>
              <a:ext uri="{FF2B5EF4-FFF2-40B4-BE49-F238E27FC236}">
                <a16:creationId xmlns:a16="http://schemas.microsoft.com/office/drawing/2014/main" id="{66E03A94-1BDA-EE8E-BFFB-4E6FCD098E2E}"/>
              </a:ext>
            </a:extLst>
          </p:cNvPr>
          <p:cNvSpPr txBox="1">
            <a:spLocks/>
          </p:cNvSpPr>
          <p:nvPr/>
        </p:nvSpPr>
        <p:spPr>
          <a:xfrm>
            <a:off x="4766224" y="5808200"/>
            <a:ext cx="2033764" cy="4860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b="1" dirty="0"/>
              <a:t>Generate</a:t>
            </a:r>
            <a:r>
              <a:rPr lang="zh-TW" altLang="en-US" sz="1400" b="1" dirty="0"/>
              <a:t> </a:t>
            </a:r>
            <a:r>
              <a:rPr lang="en-US" altLang="zh-TW" sz="1400" b="1" dirty="0"/>
              <a:t>Response</a:t>
            </a:r>
          </a:p>
        </p:txBody>
      </p:sp>
      <p:sp>
        <p:nvSpPr>
          <p:cNvPr id="1055" name="矩形: 圓角 1054">
            <a:extLst>
              <a:ext uri="{FF2B5EF4-FFF2-40B4-BE49-F238E27FC236}">
                <a16:creationId xmlns:a16="http://schemas.microsoft.com/office/drawing/2014/main" id="{FBBE381B-8595-89AD-7603-9D052144A209}"/>
              </a:ext>
            </a:extLst>
          </p:cNvPr>
          <p:cNvSpPr/>
          <p:nvPr/>
        </p:nvSpPr>
        <p:spPr>
          <a:xfrm>
            <a:off x="3509673" y="6155477"/>
            <a:ext cx="1048896" cy="44984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quering</a:t>
            </a:r>
            <a:endParaRPr lang="zh-TW" alt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56" name="箭號: 向右 1055">
            <a:extLst>
              <a:ext uri="{FF2B5EF4-FFF2-40B4-BE49-F238E27FC236}">
                <a16:creationId xmlns:a16="http://schemas.microsoft.com/office/drawing/2014/main" id="{96451C83-E2BC-50AF-D624-EFE10D3F5CA6}"/>
              </a:ext>
            </a:extLst>
          </p:cNvPr>
          <p:cNvSpPr/>
          <p:nvPr/>
        </p:nvSpPr>
        <p:spPr>
          <a:xfrm>
            <a:off x="4522836" y="6271370"/>
            <a:ext cx="343001" cy="23833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057" name="箭號: 向右 1056">
            <a:extLst>
              <a:ext uri="{FF2B5EF4-FFF2-40B4-BE49-F238E27FC236}">
                <a16:creationId xmlns:a16="http://schemas.microsoft.com/office/drawing/2014/main" id="{F7F1E0F4-7F80-754F-4C3E-34EDC6F288C5}"/>
              </a:ext>
            </a:extLst>
          </p:cNvPr>
          <p:cNvSpPr/>
          <p:nvPr/>
        </p:nvSpPr>
        <p:spPr>
          <a:xfrm rot="5400000">
            <a:off x="6380541" y="5676356"/>
            <a:ext cx="343001" cy="23833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061" name="標題 1">
            <a:extLst>
              <a:ext uri="{FF2B5EF4-FFF2-40B4-BE49-F238E27FC236}">
                <a16:creationId xmlns:a16="http://schemas.microsoft.com/office/drawing/2014/main" id="{6119A80E-DD93-22FD-2524-E0AC493ECD0B}"/>
              </a:ext>
            </a:extLst>
          </p:cNvPr>
          <p:cNvSpPr txBox="1">
            <a:spLocks/>
          </p:cNvSpPr>
          <p:nvPr/>
        </p:nvSpPr>
        <p:spPr>
          <a:xfrm>
            <a:off x="4906057" y="4899208"/>
            <a:ext cx="1807663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/>
              <a:t>Top-k</a:t>
            </a:r>
            <a:endParaRPr lang="zh-TW" altLang="en-US" sz="1400" dirty="0"/>
          </a:p>
        </p:txBody>
      </p:sp>
      <p:sp>
        <p:nvSpPr>
          <p:cNvPr id="1065" name="矩形: 圓角 1064">
            <a:extLst>
              <a:ext uri="{FF2B5EF4-FFF2-40B4-BE49-F238E27FC236}">
                <a16:creationId xmlns:a16="http://schemas.microsoft.com/office/drawing/2014/main" id="{F12A5B0F-1768-9896-A1C0-17123EE4A18F}"/>
              </a:ext>
            </a:extLst>
          </p:cNvPr>
          <p:cNvSpPr/>
          <p:nvPr/>
        </p:nvSpPr>
        <p:spPr>
          <a:xfrm>
            <a:off x="7093176" y="6282261"/>
            <a:ext cx="1024486" cy="44984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zh-TW" altLang="zh-TW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IndexTTS2</a:t>
            </a:r>
          </a:p>
        </p:txBody>
      </p:sp>
      <p:sp>
        <p:nvSpPr>
          <p:cNvPr id="1066" name="箭號: 向右 1065">
            <a:extLst>
              <a:ext uri="{FF2B5EF4-FFF2-40B4-BE49-F238E27FC236}">
                <a16:creationId xmlns:a16="http://schemas.microsoft.com/office/drawing/2014/main" id="{846F4278-B5F9-7F84-6A56-D7380D816D7D}"/>
              </a:ext>
            </a:extLst>
          </p:cNvPr>
          <p:cNvSpPr/>
          <p:nvPr/>
        </p:nvSpPr>
        <p:spPr>
          <a:xfrm>
            <a:off x="6590357" y="6442777"/>
            <a:ext cx="476605" cy="23833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pic>
        <p:nvPicPr>
          <p:cNvPr id="1067" name="圖片 1066" descr="Voice Icons - Free SVG &amp; PNG Voice Images - Noun Project">
            <a:extLst>
              <a:ext uri="{FF2B5EF4-FFF2-40B4-BE49-F238E27FC236}">
                <a16:creationId xmlns:a16="http://schemas.microsoft.com/office/drawing/2014/main" id="{351CA0DD-BC97-5FC2-9474-D2409D45A1A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69624" y="5300963"/>
            <a:ext cx="604063" cy="604063"/>
          </a:xfrm>
          <a:prstGeom prst="rect">
            <a:avLst/>
          </a:prstGeom>
        </p:spPr>
      </p:pic>
      <p:sp>
        <p:nvSpPr>
          <p:cNvPr id="1069" name="箭號: 向右 1068">
            <a:extLst>
              <a:ext uri="{FF2B5EF4-FFF2-40B4-BE49-F238E27FC236}">
                <a16:creationId xmlns:a16="http://schemas.microsoft.com/office/drawing/2014/main" id="{FB8D4B54-91F6-D2B3-C4E6-240062547415}"/>
              </a:ext>
            </a:extLst>
          </p:cNvPr>
          <p:cNvSpPr/>
          <p:nvPr/>
        </p:nvSpPr>
        <p:spPr>
          <a:xfrm rot="16200000">
            <a:off x="7427539" y="6009140"/>
            <a:ext cx="343001" cy="23833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070" name="箭號: 向右 1069">
            <a:extLst>
              <a:ext uri="{FF2B5EF4-FFF2-40B4-BE49-F238E27FC236}">
                <a16:creationId xmlns:a16="http://schemas.microsoft.com/office/drawing/2014/main" id="{B08B5C3C-184A-5F1F-454D-CD211279FB6B}"/>
              </a:ext>
            </a:extLst>
          </p:cNvPr>
          <p:cNvSpPr/>
          <p:nvPr/>
        </p:nvSpPr>
        <p:spPr>
          <a:xfrm>
            <a:off x="8205551" y="6327102"/>
            <a:ext cx="343001" cy="23833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072" name="標題 1">
            <a:extLst>
              <a:ext uri="{FF2B5EF4-FFF2-40B4-BE49-F238E27FC236}">
                <a16:creationId xmlns:a16="http://schemas.microsoft.com/office/drawing/2014/main" id="{9DFF0843-6415-F141-F92D-F0DA76DF6EF6}"/>
              </a:ext>
            </a:extLst>
          </p:cNvPr>
          <p:cNvSpPr txBox="1">
            <a:spLocks/>
          </p:cNvSpPr>
          <p:nvPr/>
        </p:nvSpPr>
        <p:spPr>
          <a:xfrm>
            <a:off x="8349288" y="4827470"/>
            <a:ext cx="1541819" cy="502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b="1" dirty="0"/>
              <a:t>Visual Reconstruction</a:t>
            </a:r>
          </a:p>
        </p:txBody>
      </p:sp>
      <p:sp>
        <p:nvSpPr>
          <p:cNvPr id="1074" name="標題 1">
            <a:extLst>
              <a:ext uri="{FF2B5EF4-FFF2-40B4-BE49-F238E27FC236}">
                <a16:creationId xmlns:a16="http://schemas.microsoft.com/office/drawing/2014/main" id="{C846953F-DD68-CB82-5A1C-1D357879EF1F}"/>
              </a:ext>
            </a:extLst>
          </p:cNvPr>
          <p:cNvSpPr txBox="1">
            <a:spLocks/>
          </p:cNvSpPr>
          <p:nvPr/>
        </p:nvSpPr>
        <p:spPr>
          <a:xfrm>
            <a:off x="8663459" y="6341422"/>
            <a:ext cx="962184" cy="502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 err="1"/>
              <a:t>ARTalk</a:t>
            </a:r>
            <a:endParaRPr lang="zh-TW" altLang="en-US" sz="1400" dirty="0"/>
          </a:p>
        </p:txBody>
      </p:sp>
      <p:pic>
        <p:nvPicPr>
          <p:cNvPr id="1075" name="圖片 1074" descr="LA&#10;&#10;AI 產生的內容可能不正確。">
            <a:extLst>
              <a:ext uri="{FF2B5EF4-FFF2-40B4-BE49-F238E27FC236}">
                <a16:creationId xmlns:a16="http://schemas.microsoft.com/office/drawing/2014/main" id="{FA0ED9CE-EF89-2CA9-365F-D98E362A43D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89659" y="5351390"/>
            <a:ext cx="987641" cy="389334"/>
          </a:xfrm>
          <a:prstGeom prst="rect">
            <a:avLst/>
          </a:prstGeom>
        </p:spPr>
      </p:pic>
      <p:pic>
        <p:nvPicPr>
          <p:cNvPr id="1076" name="圖片 1075" descr="CLIVAT&#10;&#10;AI 產生的內容可能不正確。">
            <a:extLst>
              <a:ext uri="{FF2B5EF4-FFF2-40B4-BE49-F238E27FC236}">
                <a16:creationId xmlns:a16="http://schemas.microsoft.com/office/drawing/2014/main" id="{82707118-B6E5-E62A-9DCD-65B50ED0841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84634" y="6129484"/>
            <a:ext cx="1118360" cy="287235"/>
          </a:xfrm>
          <a:prstGeom prst="rect">
            <a:avLst/>
          </a:prstGeom>
        </p:spPr>
      </p:pic>
      <p:sp>
        <p:nvSpPr>
          <p:cNvPr id="1078" name="箭號: 向右 1077">
            <a:extLst>
              <a:ext uri="{FF2B5EF4-FFF2-40B4-BE49-F238E27FC236}">
                <a16:creationId xmlns:a16="http://schemas.microsoft.com/office/drawing/2014/main" id="{DBB6353D-8F31-8E8E-6664-B72857B05E45}"/>
              </a:ext>
            </a:extLst>
          </p:cNvPr>
          <p:cNvSpPr/>
          <p:nvPr/>
        </p:nvSpPr>
        <p:spPr>
          <a:xfrm>
            <a:off x="8195030" y="5441949"/>
            <a:ext cx="343001" cy="23833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079" name="矩形 1078">
            <a:extLst>
              <a:ext uri="{FF2B5EF4-FFF2-40B4-BE49-F238E27FC236}">
                <a16:creationId xmlns:a16="http://schemas.microsoft.com/office/drawing/2014/main" id="{A03DE1AA-A65C-91F7-5D64-E4CCEFC6BD4D}"/>
              </a:ext>
            </a:extLst>
          </p:cNvPr>
          <p:cNvSpPr/>
          <p:nvPr/>
        </p:nvSpPr>
        <p:spPr>
          <a:xfrm rot="10800000">
            <a:off x="8190582" y="5503744"/>
            <a:ext cx="95796" cy="10025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pic>
        <p:nvPicPr>
          <p:cNvPr id="1081" name="圖片 1080" descr="WebGL - 維基百科，自由的百科全書">
            <a:extLst>
              <a:ext uri="{FF2B5EF4-FFF2-40B4-BE49-F238E27FC236}">
                <a16:creationId xmlns:a16="http://schemas.microsoft.com/office/drawing/2014/main" id="{63D53452-037A-27CD-B0B1-4DEEC77D65F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010630" y="6164862"/>
            <a:ext cx="639552" cy="267247"/>
          </a:xfrm>
          <a:prstGeom prst="rect">
            <a:avLst/>
          </a:prstGeom>
        </p:spPr>
      </p:pic>
      <p:sp>
        <p:nvSpPr>
          <p:cNvPr id="1090" name="矩形: 圓角 1089">
            <a:extLst>
              <a:ext uri="{FF2B5EF4-FFF2-40B4-BE49-F238E27FC236}">
                <a16:creationId xmlns:a16="http://schemas.microsoft.com/office/drawing/2014/main" id="{8EFDC946-2846-3AC7-45BE-AD26CA4F1F89}"/>
              </a:ext>
            </a:extLst>
          </p:cNvPr>
          <p:cNvSpPr/>
          <p:nvPr/>
        </p:nvSpPr>
        <p:spPr>
          <a:xfrm>
            <a:off x="36632" y="4739864"/>
            <a:ext cx="1860582" cy="44984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Instant Synthesis</a:t>
            </a:r>
          </a:p>
        </p:txBody>
      </p:sp>
      <p:sp>
        <p:nvSpPr>
          <p:cNvPr id="1091" name="矩形: 圓角 1090">
            <a:extLst>
              <a:ext uri="{FF2B5EF4-FFF2-40B4-BE49-F238E27FC236}">
                <a16:creationId xmlns:a16="http://schemas.microsoft.com/office/drawing/2014/main" id="{3FD6A254-C24D-F7F6-4B84-6D83C7ACF299}"/>
              </a:ext>
            </a:extLst>
          </p:cNvPr>
          <p:cNvSpPr/>
          <p:nvPr/>
        </p:nvSpPr>
        <p:spPr>
          <a:xfrm>
            <a:off x="82964" y="370284"/>
            <a:ext cx="1905250" cy="44984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</a:rPr>
              <a:t>Local Rendering</a:t>
            </a:r>
          </a:p>
        </p:txBody>
      </p:sp>
      <p:cxnSp>
        <p:nvCxnSpPr>
          <p:cNvPr id="1100" name="直線接點 1099">
            <a:extLst>
              <a:ext uri="{FF2B5EF4-FFF2-40B4-BE49-F238E27FC236}">
                <a16:creationId xmlns:a16="http://schemas.microsoft.com/office/drawing/2014/main" id="{F4B1FC97-8006-C808-AA5D-3329D3CD37BA}"/>
              </a:ext>
            </a:extLst>
          </p:cNvPr>
          <p:cNvCxnSpPr>
            <a:cxnSpLocks/>
          </p:cNvCxnSpPr>
          <p:nvPr/>
        </p:nvCxnSpPr>
        <p:spPr>
          <a:xfrm>
            <a:off x="7014099" y="5229023"/>
            <a:ext cx="117826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6" name="矩形 1115">
            <a:extLst>
              <a:ext uri="{FF2B5EF4-FFF2-40B4-BE49-F238E27FC236}">
                <a16:creationId xmlns:a16="http://schemas.microsoft.com/office/drawing/2014/main" id="{629890CA-10DA-2875-D12F-4169F4ABD795}"/>
              </a:ext>
            </a:extLst>
          </p:cNvPr>
          <p:cNvSpPr/>
          <p:nvPr/>
        </p:nvSpPr>
        <p:spPr>
          <a:xfrm rot="5400000">
            <a:off x="3077493" y="5770444"/>
            <a:ext cx="151273" cy="24065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pic>
        <p:nvPicPr>
          <p:cNvPr id="26" name="圖片 25" descr="The image shows a person wearing a blue shirt and a white lab coat.&#10;&#10;AI 產生的內容可能不正確。">
            <a:extLst>
              <a:ext uri="{FF2B5EF4-FFF2-40B4-BE49-F238E27FC236}">
                <a16:creationId xmlns:a16="http://schemas.microsoft.com/office/drawing/2014/main" id="{CCB73C22-B0EA-E893-2AB9-4E057910CED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5282" y="5588899"/>
            <a:ext cx="602831" cy="745928"/>
          </a:xfrm>
          <a:prstGeom prst="rect">
            <a:avLst/>
          </a:prstGeom>
        </p:spPr>
      </p:pic>
      <p:sp>
        <p:nvSpPr>
          <p:cNvPr id="1029" name="箭號: 向右 1028">
            <a:extLst>
              <a:ext uri="{FF2B5EF4-FFF2-40B4-BE49-F238E27FC236}">
                <a16:creationId xmlns:a16="http://schemas.microsoft.com/office/drawing/2014/main" id="{743510AC-0413-3E40-F29F-914F043DBFAA}"/>
              </a:ext>
            </a:extLst>
          </p:cNvPr>
          <p:cNvSpPr/>
          <p:nvPr/>
        </p:nvSpPr>
        <p:spPr>
          <a:xfrm>
            <a:off x="3261638" y="5390702"/>
            <a:ext cx="357589" cy="23833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054" name="箭號: 向右 1053">
            <a:extLst>
              <a:ext uri="{FF2B5EF4-FFF2-40B4-BE49-F238E27FC236}">
                <a16:creationId xmlns:a16="http://schemas.microsoft.com/office/drawing/2014/main" id="{5E4A59DC-CCEC-B8D9-7B32-B1516BFDCD9E}"/>
              </a:ext>
            </a:extLst>
          </p:cNvPr>
          <p:cNvSpPr/>
          <p:nvPr/>
        </p:nvSpPr>
        <p:spPr>
          <a:xfrm>
            <a:off x="3249859" y="6272311"/>
            <a:ext cx="381976" cy="26101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1077" name="矩形 1076">
            <a:extLst>
              <a:ext uri="{FF2B5EF4-FFF2-40B4-BE49-F238E27FC236}">
                <a16:creationId xmlns:a16="http://schemas.microsoft.com/office/drawing/2014/main" id="{CEA7F47B-7A8A-A804-98E7-06D87E08B66B}"/>
              </a:ext>
            </a:extLst>
          </p:cNvPr>
          <p:cNvSpPr/>
          <p:nvPr/>
        </p:nvSpPr>
        <p:spPr>
          <a:xfrm>
            <a:off x="3234817" y="5455732"/>
            <a:ext cx="121204" cy="101447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0C4F393-E6DF-5256-B1E9-F49DCD4FAB8A}"/>
              </a:ext>
            </a:extLst>
          </p:cNvPr>
          <p:cNvSpPr/>
          <p:nvPr/>
        </p:nvSpPr>
        <p:spPr>
          <a:xfrm rot="10800000">
            <a:off x="9874252" y="5510421"/>
            <a:ext cx="95796" cy="10025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532586E7-9D03-C03E-349E-71A7A4DE9D6E}"/>
              </a:ext>
            </a:extLst>
          </p:cNvPr>
          <p:cNvSpPr/>
          <p:nvPr/>
        </p:nvSpPr>
        <p:spPr>
          <a:xfrm rot="16200000">
            <a:off x="9775572" y="6321681"/>
            <a:ext cx="115376" cy="27272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A9CD830D-E147-B171-DE40-843691F169A4}"/>
              </a:ext>
            </a:extLst>
          </p:cNvPr>
          <p:cNvSpPr/>
          <p:nvPr/>
        </p:nvSpPr>
        <p:spPr>
          <a:xfrm rot="16200000">
            <a:off x="9782201" y="5434180"/>
            <a:ext cx="115376" cy="27272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53" name="標題 1">
            <a:extLst>
              <a:ext uri="{FF2B5EF4-FFF2-40B4-BE49-F238E27FC236}">
                <a16:creationId xmlns:a16="http://schemas.microsoft.com/office/drawing/2014/main" id="{F39BAE84-15E5-092B-C5A4-841BB56BFC0A}"/>
              </a:ext>
            </a:extLst>
          </p:cNvPr>
          <p:cNvSpPr txBox="1">
            <a:spLocks/>
          </p:cNvSpPr>
          <p:nvPr/>
        </p:nvSpPr>
        <p:spPr>
          <a:xfrm>
            <a:off x="9782558" y="6201416"/>
            <a:ext cx="1382496" cy="4860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/>
              <a:t>avatar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8EF3B7F1-D50D-738C-C62A-26A24B984B7A}"/>
              </a:ext>
            </a:extLst>
          </p:cNvPr>
          <p:cNvSpPr/>
          <p:nvPr/>
        </p:nvSpPr>
        <p:spPr>
          <a:xfrm rot="5400000">
            <a:off x="8005438" y="5507400"/>
            <a:ext cx="127971" cy="3272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/>
          </a:p>
        </p:txBody>
      </p:sp>
      <p:sp>
        <p:nvSpPr>
          <p:cNvPr id="98" name="標題 1">
            <a:extLst>
              <a:ext uri="{FF2B5EF4-FFF2-40B4-BE49-F238E27FC236}">
                <a16:creationId xmlns:a16="http://schemas.microsoft.com/office/drawing/2014/main" id="{AFAB885D-60B4-A64F-20C0-1566E23648B9}"/>
              </a:ext>
            </a:extLst>
          </p:cNvPr>
          <p:cNvSpPr txBox="1">
            <a:spLocks/>
          </p:cNvSpPr>
          <p:nvPr/>
        </p:nvSpPr>
        <p:spPr>
          <a:xfrm>
            <a:off x="10875904" y="6321127"/>
            <a:ext cx="962184" cy="502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dirty="0"/>
              <a:t>WebGL</a:t>
            </a:r>
            <a:endParaRPr lang="zh-TW" altLang="en-US" sz="1400" dirty="0"/>
          </a:p>
        </p:txBody>
      </p:sp>
      <p:sp>
        <p:nvSpPr>
          <p:cNvPr id="99" name="箭號: 向右 98">
            <a:extLst>
              <a:ext uri="{FF2B5EF4-FFF2-40B4-BE49-F238E27FC236}">
                <a16:creationId xmlns:a16="http://schemas.microsoft.com/office/drawing/2014/main" id="{9A5587B2-4303-270B-6469-C78F7233E798}"/>
              </a:ext>
            </a:extLst>
          </p:cNvPr>
          <p:cNvSpPr/>
          <p:nvPr/>
        </p:nvSpPr>
        <p:spPr>
          <a:xfrm>
            <a:off x="10688947" y="5914626"/>
            <a:ext cx="290021" cy="270985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0" name="標題 1">
            <a:extLst>
              <a:ext uri="{FF2B5EF4-FFF2-40B4-BE49-F238E27FC236}">
                <a16:creationId xmlns:a16="http://schemas.microsoft.com/office/drawing/2014/main" id="{674AACCC-4EEA-B55F-A99B-9A9D5A091C58}"/>
              </a:ext>
            </a:extLst>
          </p:cNvPr>
          <p:cNvSpPr txBox="1">
            <a:spLocks/>
          </p:cNvSpPr>
          <p:nvPr/>
        </p:nvSpPr>
        <p:spPr>
          <a:xfrm>
            <a:off x="10832729" y="5132992"/>
            <a:ext cx="962184" cy="502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b="1" dirty="0" err="1"/>
              <a:t>Aeterlux</a:t>
            </a:r>
            <a:endParaRPr lang="zh-TW" altLang="en-US" sz="1400" b="1" dirty="0"/>
          </a:p>
        </p:txBody>
      </p:sp>
      <p:sp>
        <p:nvSpPr>
          <p:cNvPr id="122" name="標題 1">
            <a:extLst>
              <a:ext uri="{FF2B5EF4-FFF2-40B4-BE49-F238E27FC236}">
                <a16:creationId xmlns:a16="http://schemas.microsoft.com/office/drawing/2014/main" id="{D5680D46-3E24-79F7-88DC-8FE64CB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9315" y="-351289"/>
            <a:ext cx="10515600" cy="1325563"/>
          </a:xfrm>
        </p:spPr>
        <p:txBody>
          <a:bodyPr>
            <a:noAutofit/>
          </a:bodyPr>
          <a:lstStyle/>
          <a:p>
            <a:r>
              <a:rPr lang="en-US" altLang="zh-TW" sz="2400" dirty="0"/>
              <a:t>How to Bring Their memory to Life?</a:t>
            </a:r>
            <a:endParaRPr lang="zh-TW" altLang="en-US" sz="2400" dirty="0"/>
          </a:p>
        </p:txBody>
      </p:sp>
      <p:pic>
        <p:nvPicPr>
          <p:cNvPr id="42" name="圖片 41" descr="Cpu - Free electronics icons">
            <a:extLst>
              <a:ext uri="{FF2B5EF4-FFF2-40B4-BE49-F238E27FC236}">
                <a16:creationId xmlns:a16="http://schemas.microsoft.com/office/drawing/2014/main" id="{716B6080-142A-6BCC-0874-54DF84D213E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12272" y="657880"/>
            <a:ext cx="493853" cy="493853"/>
          </a:xfrm>
          <a:prstGeom prst="rect">
            <a:avLst/>
          </a:prstGeom>
        </p:spPr>
      </p:pic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922DA78D-BD6B-C541-3A59-4FD6EFCB1200}"/>
              </a:ext>
            </a:extLst>
          </p:cNvPr>
          <p:cNvCxnSpPr>
            <a:cxnSpLocks/>
          </p:cNvCxnSpPr>
          <p:nvPr/>
        </p:nvCxnSpPr>
        <p:spPr>
          <a:xfrm>
            <a:off x="8729951" y="1226726"/>
            <a:ext cx="211438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標題 1">
            <a:extLst>
              <a:ext uri="{FF2B5EF4-FFF2-40B4-BE49-F238E27FC236}">
                <a16:creationId xmlns:a16="http://schemas.microsoft.com/office/drawing/2014/main" id="{14E96F4E-1D13-BCCB-09D9-5D6FF8A36638}"/>
              </a:ext>
            </a:extLst>
          </p:cNvPr>
          <p:cNvSpPr txBox="1">
            <a:spLocks/>
          </p:cNvSpPr>
          <p:nvPr/>
        </p:nvSpPr>
        <p:spPr>
          <a:xfrm>
            <a:off x="8921489" y="719554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400" b="1" dirty="0"/>
              <a:t>Lit</a:t>
            </a:r>
          </a:p>
        </p:txBody>
      </p:sp>
    </p:spTree>
    <p:extLst>
      <p:ext uri="{BB962C8B-B14F-4D97-AF65-F5344CB8AC3E}">
        <p14:creationId xmlns:p14="http://schemas.microsoft.com/office/powerpoint/2010/main" val="34099578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3B5C5-E750-D392-EF70-05BA13FEB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矩形: 圓角 113">
            <a:extLst>
              <a:ext uri="{FF2B5EF4-FFF2-40B4-BE49-F238E27FC236}">
                <a16:creationId xmlns:a16="http://schemas.microsoft.com/office/drawing/2014/main" id="{8576D9A0-160C-63CF-8149-87210886454C}"/>
              </a:ext>
            </a:extLst>
          </p:cNvPr>
          <p:cNvSpPr/>
          <p:nvPr/>
        </p:nvSpPr>
        <p:spPr>
          <a:xfrm>
            <a:off x="542142" y="3251975"/>
            <a:ext cx="2622332" cy="2964959"/>
          </a:xfrm>
          <a:prstGeom prst="roundRect">
            <a:avLst>
              <a:gd name="adj" fmla="val 7299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5" name="矩形: 圓角 94">
            <a:extLst>
              <a:ext uri="{FF2B5EF4-FFF2-40B4-BE49-F238E27FC236}">
                <a16:creationId xmlns:a16="http://schemas.microsoft.com/office/drawing/2014/main" id="{D70080B9-C819-F234-624A-929F48DD0E90}"/>
              </a:ext>
            </a:extLst>
          </p:cNvPr>
          <p:cNvSpPr/>
          <p:nvPr/>
        </p:nvSpPr>
        <p:spPr>
          <a:xfrm>
            <a:off x="3303234" y="4552204"/>
            <a:ext cx="5770422" cy="166999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highlight>
                <a:srgbClr val="FFFF00"/>
              </a:highlight>
            </a:endParaRPr>
          </a:p>
        </p:txBody>
      </p:sp>
      <p:sp>
        <p:nvSpPr>
          <p:cNvPr id="53" name="矩形: 圓角 52">
            <a:extLst>
              <a:ext uri="{FF2B5EF4-FFF2-40B4-BE49-F238E27FC236}">
                <a16:creationId xmlns:a16="http://schemas.microsoft.com/office/drawing/2014/main" id="{BAF49943-FED8-7187-F94B-9C462059C0A1}"/>
              </a:ext>
            </a:extLst>
          </p:cNvPr>
          <p:cNvSpPr/>
          <p:nvPr/>
        </p:nvSpPr>
        <p:spPr>
          <a:xfrm>
            <a:off x="4898386" y="2377951"/>
            <a:ext cx="6158810" cy="204694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highlight>
                <a:srgbClr val="FFFF00"/>
              </a:highlight>
            </a:endParaRPr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EA2C3E94-6D33-866B-C070-FCCC4F6AD576}"/>
              </a:ext>
            </a:extLst>
          </p:cNvPr>
          <p:cNvSpPr/>
          <p:nvPr/>
        </p:nvSpPr>
        <p:spPr>
          <a:xfrm>
            <a:off x="6868346" y="345763"/>
            <a:ext cx="4188850" cy="186228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highlight>
                <a:srgbClr val="FFFF00"/>
              </a:highlight>
            </a:endParaRPr>
          </a:p>
        </p:txBody>
      </p:sp>
      <p:sp>
        <p:nvSpPr>
          <p:cNvPr id="33" name="標題 1">
            <a:extLst>
              <a:ext uri="{FF2B5EF4-FFF2-40B4-BE49-F238E27FC236}">
                <a16:creationId xmlns:a16="http://schemas.microsoft.com/office/drawing/2014/main" id="{EC1C98D2-E271-8F92-2B40-2DB64ADC4CB7}"/>
              </a:ext>
            </a:extLst>
          </p:cNvPr>
          <p:cNvSpPr txBox="1">
            <a:spLocks/>
          </p:cNvSpPr>
          <p:nvPr/>
        </p:nvSpPr>
        <p:spPr>
          <a:xfrm>
            <a:off x="7484571" y="245639"/>
            <a:ext cx="290594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EVM Blockchain</a:t>
            </a:r>
            <a:endParaRPr lang="zh-TW" altLang="en-US" sz="2000" dirty="0"/>
          </a:p>
        </p:txBody>
      </p: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47341447-354D-E470-76D1-47AABFC85D03}"/>
              </a:ext>
            </a:extLst>
          </p:cNvPr>
          <p:cNvCxnSpPr>
            <a:cxnSpLocks/>
          </p:cNvCxnSpPr>
          <p:nvPr/>
        </p:nvCxnSpPr>
        <p:spPr>
          <a:xfrm>
            <a:off x="6862676" y="741351"/>
            <a:ext cx="4194520" cy="36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A3EAFDED-8B50-0EB6-1F3D-ED1656E11CB6}"/>
              </a:ext>
            </a:extLst>
          </p:cNvPr>
          <p:cNvSpPr/>
          <p:nvPr/>
        </p:nvSpPr>
        <p:spPr>
          <a:xfrm>
            <a:off x="484632" y="349406"/>
            <a:ext cx="4730678" cy="186412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D64E6D4-11B0-5419-25D0-50B2E00C80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466" y="847666"/>
            <a:ext cx="576000" cy="576000"/>
          </a:xfrm>
          <a:prstGeom prst="rect">
            <a:avLst/>
          </a:prstGeom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id="{A37B3AC8-6993-DD8F-AA16-479005AC6D0E}"/>
              </a:ext>
            </a:extLst>
          </p:cNvPr>
          <p:cNvSpPr txBox="1">
            <a:spLocks/>
          </p:cNvSpPr>
          <p:nvPr/>
        </p:nvSpPr>
        <p:spPr>
          <a:xfrm>
            <a:off x="623654" y="1459354"/>
            <a:ext cx="1398949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MPC Wallet sign in</a:t>
            </a:r>
            <a:endParaRPr lang="zh-TW" altLang="en-US" sz="20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ABAFEEF-F735-1FB6-3C65-20500AF495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9415" y="883354"/>
            <a:ext cx="576000" cy="576000"/>
          </a:xfrm>
          <a:prstGeom prst="rect">
            <a:avLst/>
          </a:prstGeom>
        </p:spPr>
      </p:pic>
      <p:sp>
        <p:nvSpPr>
          <p:cNvPr id="7" name="標題 1">
            <a:extLst>
              <a:ext uri="{FF2B5EF4-FFF2-40B4-BE49-F238E27FC236}">
                <a16:creationId xmlns:a16="http://schemas.microsoft.com/office/drawing/2014/main" id="{D30F25E1-2CAA-5650-1561-5223AC493784}"/>
              </a:ext>
            </a:extLst>
          </p:cNvPr>
          <p:cNvSpPr txBox="1">
            <a:spLocks/>
          </p:cNvSpPr>
          <p:nvPr/>
        </p:nvSpPr>
        <p:spPr>
          <a:xfrm>
            <a:off x="2077940" y="1488673"/>
            <a:ext cx="1398949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Upload Materials</a:t>
            </a:r>
            <a:endParaRPr lang="zh-TW" altLang="en-US" sz="2000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AF188CC-6D1F-340B-0437-792EBD6680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9039" y="922451"/>
            <a:ext cx="576000" cy="576000"/>
          </a:xfrm>
          <a:prstGeom prst="rect">
            <a:avLst/>
          </a:prstGeom>
        </p:spPr>
      </p:pic>
      <p:sp>
        <p:nvSpPr>
          <p:cNvPr id="9" name="標題 1">
            <a:extLst>
              <a:ext uri="{FF2B5EF4-FFF2-40B4-BE49-F238E27FC236}">
                <a16:creationId xmlns:a16="http://schemas.microsoft.com/office/drawing/2014/main" id="{DFB9F9BB-C440-602D-CFA9-1694B2EA7B4C}"/>
              </a:ext>
            </a:extLst>
          </p:cNvPr>
          <p:cNvSpPr txBox="1">
            <a:spLocks/>
          </p:cNvSpPr>
          <p:nvPr/>
        </p:nvSpPr>
        <p:spPr>
          <a:xfrm>
            <a:off x="3476889" y="1488673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Consent Form Signed</a:t>
            </a:r>
            <a:endParaRPr lang="zh-TW" altLang="en-US" sz="2000" dirty="0"/>
          </a:p>
        </p:txBody>
      </p:sp>
      <p:sp>
        <p:nvSpPr>
          <p:cNvPr id="12" name="標題 1">
            <a:extLst>
              <a:ext uri="{FF2B5EF4-FFF2-40B4-BE49-F238E27FC236}">
                <a16:creationId xmlns:a16="http://schemas.microsoft.com/office/drawing/2014/main" id="{C5A486CA-7BFB-D6C5-F6FB-4A4DEEDF6110}"/>
              </a:ext>
            </a:extLst>
          </p:cNvPr>
          <p:cNvSpPr txBox="1">
            <a:spLocks/>
          </p:cNvSpPr>
          <p:nvPr/>
        </p:nvSpPr>
        <p:spPr>
          <a:xfrm>
            <a:off x="2188616" y="180152"/>
            <a:ext cx="1419143" cy="7414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User Input</a:t>
            </a:r>
            <a:endParaRPr lang="zh-TW" altLang="en-US" sz="2000" dirty="0"/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A53B6586-5444-AB79-8E34-DD49B24ACCF4}"/>
              </a:ext>
            </a:extLst>
          </p:cNvPr>
          <p:cNvCxnSpPr>
            <a:cxnSpLocks/>
          </p:cNvCxnSpPr>
          <p:nvPr/>
        </p:nvCxnSpPr>
        <p:spPr>
          <a:xfrm>
            <a:off x="478880" y="744995"/>
            <a:ext cx="473643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圖片 16">
            <a:extLst>
              <a:ext uri="{FF2B5EF4-FFF2-40B4-BE49-F238E27FC236}">
                <a16:creationId xmlns:a16="http://schemas.microsoft.com/office/drawing/2014/main" id="{BCD2D162-8D52-4AC9-76B8-34D04C96C2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6776" y="788706"/>
            <a:ext cx="690677" cy="690677"/>
          </a:xfrm>
          <a:prstGeom prst="rect">
            <a:avLst/>
          </a:prstGeom>
        </p:spPr>
      </p:pic>
      <p:sp>
        <p:nvSpPr>
          <p:cNvPr id="18" name="標題 1">
            <a:extLst>
              <a:ext uri="{FF2B5EF4-FFF2-40B4-BE49-F238E27FC236}">
                <a16:creationId xmlns:a16="http://schemas.microsoft.com/office/drawing/2014/main" id="{9A43CF4A-440B-1060-06E6-02E0A75DD487}"/>
              </a:ext>
            </a:extLst>
          </p:cNvPr>
          <p:cNvSpPr txBox="1">
            <a:spLocks/>
          </p:cNvSpPr>
          <p:nvPr/>
        </p:nvSpPr>
        <p:spPr>
          <a:xfrm>
            <a:off x="7125681" y="1515707"/>
            <a:ext cx="1771642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ERC-721 and ERC-6150</a:t>
            </a:r>
            <a:endParaRPr lang="zh-TW" altLang="en-US" sz="2000" dirty="0"/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B3177EAC-4373-7F4A-1A4F-7A606BD6F0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8488" y="2905746"/>
            <a:ext cx="576000" cy="576000"/>
          </a:xfrm>
          <a:prstGeom prst="rect">
            <a:avLst/>
          </a:prstGeom>
        </p:spPr>
      </p:pic>
      <p:sp>
        <p:nvSpPr>
          <p:cNvPr id="22" name="標題 1">
            <a:extLst>
              <a:ext uri="{FF2B5EF4-FFF2-40B4-BE49-F238E27FC236}">
                <a16:creationId xmlns:a16="http://schemas.microsoft.com/office/drawing/2014/main" id="{BB86DFBB-2077-257E-AAFC-75BB0D1A8022}"/>
              </a:ext>
            </a:extLst>
          </p:cNvPr>
          <p:cNvSpPr txBox="1">
            <a:spLocks/>
          </p:cNvSpPr>
          <p:nvPr/>
        </p:nvSpPr>
        <p:spPr>
          <a:xfrm>
            <a:off x="4791991" y="3329054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 err="1"/>
              <a:t>Arweave</a:t>
            </a:r>
            <a:r>
              <a:rPr lang="en-US" altLang="zh-TW" sz="2000" dirty="0"/>
              <a:t> + Irys</a:t>
            </a:r>
            <a:endParaRPr lang="zh-TW" altLang="en-US" sz="2000" dirty="0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A408DDFE-6D2C-D96E-932C-E2DDA80DC48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7816" y="1147221"/>
            <a:ext cx="576000" cy="576000"/>
          </a:xfrm>
          <a:prstGeom prst="rect">
            <a:avLst/>
          </a:prstGeom>
        </p:spPr>
      </p:pic>
      <p:sp>
        <p:nvSpPr>
          <p:cNvPr id="26" name="標題 1">
            <a:extLst>
              <a:ext uri="{FF2B5EF4-FFF2-40B4-BE49-F238E27FC236}">
                <a16:creationId xmlns:a16="http://schemas.microsoft.com/office/drawing/2014/main" id="{0AE3C0D9-E97D-7767-0585-EB44536B7D08}"/>
              </a:ext>
            </a:extLst>
          </p:cNvPr>
          <p:cNvSpPr txBox="1">
            <a:spLocks/>
          </p:cNvSpPr>
          <p:nvPr/>
        </p:nvSpPr>
        <p:spPr>
          <a:xfrm>
            <a:off x="5283190" y="1577582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Lit Protocol</a:t>
            </a:r>
            <a:endParaRPr lang="zh-TW" altLang="en-US" sz="2000" dirty="0"/>
          </a:p>
        </p:txBody>
      </p:sp>
      <p:sp>
        <p:nvSpPr>
          <p:cNvPr id="27" name="箭號: 向右 26">
            <a:extLst>
              <a:ext uri="{FF2B5EF4-FFF2-40B4-BE49-F238E27FC236}">
                <a16:creationId xmlns:a16="http://schemas.microsoft.com/office/drawing/2014/main" id="{39005A4C-7442-AE16-E3DF-7CD852161F44}"/>
              </a:ext>
            </a:extLst>
          </p:cNvPr>
          <p:cNvSpPr/>
          <p:nvPr/>
        </p:nvSpPr>
        <p:spPr>
          <a:xfrm>
            <a:off x="4870547" y="1078268"/>
            <a:ext cx="658368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箭號: 向右 27">
            <a:extLst>
              <a:ext uri="{FF2B5EF4-FFF2-40B4-BE49-F238E27FC236}">
                <a16:creationId xmlns:a16="http://schemas.microsoft.com/office/drawing/2014/main" id="{C1F3C144-803F-D73A-A9F3-82A94B9CA857}"/>
              </a:ext>
            </a:extLst>
          </p:cNvPr>
          <p:cNvSpPr/>
          <p:nvPr/>
        </p:nvSpPr>
        <p:spPr>
          <a:xfrm>
            <a:off x="6594803" y="1115471"/>
            <a:ext cx="658368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左大括弧 28">
            <a:extLst>
              <a:ext uri="{FF2B5EF4-FFF2-40B4-BE49-F238E27FC236}">
                <a16:creationId xmlns:a16="http://schemas.microsoft.com/office/drawing/2014/main" id="{0ABE3264-6B2C-4463-44ED-59CA584C153A}"/>
              </a:ext>
            </a:extLst>
          </p:cNvPr>
          <p:cNvSpPr/>
          <p:nvPr/>
        </p:nvSpPr>
        <p:spPr>
          <a:xfrm>
            <a:off x="8965562" y="893648"/>
            <a:ext cx="311778" cy="120302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0" name="標題 1">
            <a:extLst>
              <a:ext uri="{FF2B5EF4-FFF2-40B4-BE49-F238E27FC236}">
                <a16:creationId xmlns:a16="http://schemas.microsoft.com/office/drawing/2014/main" id="{BF92ED38-6744-A968-B663-54A1D880BD9D}"/>
              </a:ext>
            </a:extLst>
          </p:cNvPr>
          <p:cNvSpPr txBox="1">
            <a:spLocks/>
          </p:cNvSpPr>
          <p:nvPr/>
        </p:nvSpPr>
        <p:spPr>
          <a:xfrm>
            <a:off x="9290857" y="620963"/>
            <a:ext cx="1211475" cy="17549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500" dirty="0" err="1"/>
              <a:t>ownerOf</a:t>
            </a:r>
            <a:endParaRPr lang="en-US" altLang="zh-TW" sz="1500" dirty="0"/>
          </a:p>
          <a:p>
            <a:pPr algn="ctr"/>
            <a:r>
              <a:rPr lang="en-US" altLang="zh-TW" sz="1500" dirty="0" err="1"/>
              <a:t>parentOf</a:t>
            </a:r>
            <a:endParaRPr lang="en-US" altLang="zh-TW" sz="1500" dirty="0"/>
          </a:p>
          <a:p>
            <a:pPr algn="ctr"/>
            <a:r>
              <a:rPr lang="en-US" altLang="zh-TW" sz="1500" dirty="0" err="1"/>
              <a:t>familyRole</a:t>
            </a:r>
            <a:endParaRPr lang="en-US" altLang="zh-TW" sz="1500" dirty="0"/>
          </a:p>
          <a:p>
            <a:pPr algn="ctr"/>
            <a:r>
              <a:rPr lang="en-US" altLang="zh-TW" sz="1500" dirty="0"/>
              <a:t>Visibility</a:t>
            </a:r>
          </a:p>
          <a:p>
            <a:pPr algn="ctr"/>
            <a:r>
              <a:rPr lang="en-US" altLang="zh-TW" sz="1500" dirty="0"/>
              <a:t>Successor</a:t>
            </a:r>
          </a:p>
          <a:p>
            <a:pPr algn="ctr"/>
            <a:r>
              <a:rPr lang="en-US" altLang="zh-TW" sz="1500" dirty="0" err="1"/>
              <a:t>tokenURL</a:t>
            </a:r>
            <a:endParaRPr lang="en-US" altLang="zh-TW" sz="1500" dirty="0"/>
          </a:p>
          <a:p>
            <a:pPr algn="ctr"/>
            <a:r>
              <a:rPr lang="en-US" altLang="zh-TW" sz="1500" dirty="0" err="1"/>
              <a:t>artifactURL</a:t>
            </a:r>
            <a:endParaRPr lang="zh-TW" altLang="en-US" sz="1500" dirty="0"/>
          </a:p>
        </p:txBody>
      </p:sp>
      <p:sp>
        <p:nvSpPr>
          <p:cNvPr id="36" name="箭號: 向右 35">
            <a:extLst>
              <a:ext uri="{FF2B5EF4-FFF2-40B4-BE49-F238E27FC236}">
                <a16:creationId xmlns:a16="http://schemas.microsoft.com/office/drawing/2014/main" id="{D4680C15-53D4-B385-422B-B8EE54AB5E37}"/>
              </a:ext>
            </a:extLst>
          </p:cNvPr>
          <p:cNvSpPr/>
          <p:nvPr/>
        </p:nvSpPr>
        <p:spPr>
          <a:xfrm rot="5400000">
            <a:off x="5792146" y="2198732"/>
            <a:ext cx="630461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標題 1">
            <a:extLst>
              <a:ext uri="{FF2B5EF4-FFF2-40B4-BE49-F238E27FC236}">
                <a16:creationId xmlns:a16="http://schemas.microsoft.com/office/drawing/2014/main" id="{7BF5D826-1A4B-BFD9-EDBB-18B8D9ED80E2}"/>
              </a:ext>
            </a:extLst>
          </p:cNvPr>
          <p:cNvSpPr txBox="1">
            <a:spLocks/>
          </p:cNvSpPr>
          <p:nvPr/>
        </p:nvSpPr>
        <p:spPr>
          <a:xfrm>
            <a:off x="7253899" y="2960189"/>
            <a:ext cx="1211475" cy="11678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Tx/>
              <a:buChar char="-"/>
            </a:pPr>
            <a:r>
              <a:rPr lang="en-US" altLang="zh-TW" sz="1500" dirty="0"/>
              <a:t>Name</a:t>
            </a:r>
          </a:p>
          <a:p>
            <a:pPr marL="285750" indent="-285750">
              <a:buFontTx/>
              <a:buChar char="-"/>
            </a:pPr>
            <a:r>
              <a:rPr lang="en-US" altLang="zh-TW" sz="1500" dirty="0"/>
              <a:t>DOB</a:t>
            </a:r>
          </a:p>
          <a:p>
            <a:pPr marL="285750" indent="-285750">
              <a:buFontTx/>
              <a:buChar char="-"/>
            </a:pPr>
            <a:r>
              <a:rPr lang="en-US" altLang="zh-TW" sz="1500" dirty="0"/>
              <a:t>DOD</a:t>
            </a:r>
          </a:p>
          <a:p>
            <a:pPr marL="285750" indent="-285750">
              <a:buFontTx/>
              <a:buChar char="-"/>
            </a:pPr>
            <a:r>
              <a:rPr lang="en-US" altLang="zh-TW" sz="1500" dirty="0"/>
              <a:t>Avatar</a:t>
            </a:r>
          </a:p>
          <a:p>
            <a:pPr marL="285750" indent="-285750">
              <a:buFontTx/>
              <a:buChar char="-"/>
            </a:pPr>
            <a:r>
              <a:rPr lang="en-US" altLang="zh-TW" sz="1500" dirty="0"/>
              <a:t>Origin</a:t>
            </a:r>
          </a:p>
          <a:p>
            <a:pPr marL="285750" indent="-285750">
              <a:buFontTx/>
              <a:buChar char="-"/>
            </a:pPr>
            <a:r>
              <a:rPr lang="en-US" altLang="zh-TW" sz="1500" dirty="0"/>
              <a:t>Short Bio </a:t>
            </a:r>
          </a:p>
        </p:txBody>
      </p:sp>
      <p:sp>
        <p:nvSpPr>
          <p:cNvPr id="39" name="標題 1">
            <a:extLst>
              <a:ext uri="{FF2B5EF4-FFF2-40B4-BE49-F238E27FC236}">
                <a16:creationId xmlns:a16="http://schemas.microsoft.com/office/drawing/2014/main" id="{E6C1738C-EE00-B83C-807D-9D1015798680}"/>
              </a:ext>
            </a:extLst>
          </p:cNvPr>
          <p:cNvSpPr txBox="1">
            <a:spLocks/>
          </p:cNvSpPr>
          <p:nvPr/>
        </p:nvSpPr>
        <p:spPr>
          <a:xfrm>
            <a:off x="6907410" y="2328407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metadata</a:t>
            </a:r>
            <a:endParaRPr lang="zh-TW" altLang="en-US" sz="2000" dirty="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10C096A-21F9-20DA-2A90-E89B17AC1E8E}"/>
              </a:ext>
            </a:extLst>
          </p:cNvPr>
          <p:cNvSpPr/>
          <p:nvPr/>
        </p:nvSpPr>
        <p:spPr>
          <a:xfrm>
            <a:off x="7222038" y="2849334"/>
            <a:ext cx="1390406" cy="1408555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標題 1">
            <a:extLst>
              <a:ext uri="{FF2B5EF4-FFF2-40B4-BE49-F238E27FC236}">
                <a16:creationId xmlns:a16="http://schemas.microsoft.com/office/drawing/2014/main" id="{458A4BD1-E1AE-F969-F676-23C988FD4D56}"/>
              </a:ext>
            </a:extLst>
          </p:cNvPr>
          <p:cNvSpPr txBox="1">
            <a:spLocks/>
          </p:cNvSpPr>
          <p:nvPr/>
        </p:nvSpPr>
        <p:spPr>
          <a:xfrm>
            <a:off x="8972961" y="2831353"/>
            <a:ext cx="1585024" cy="14085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Tx/>
              <a:buChar char="-"/>
            </a:pPr>
            <a:r>
              <a:rPr lang="en-US" altLang="zh-TW" sz="1500" dirty="0"/>
              <a:t>Photos</a:t>
            </a:r>
          </a:p>
          <a:p>
            <a:pPr marL="285750" indent="-285750">
              <a:buFontTx/>
              <a:buChar char="-"/>
            </a:pPr>
            <a:r>
              <a:rPr lang="en-US" altLang="zh-TW" sz="1500" dirty="0"/>
              <a:t>Videos</a:t>
            </a:r>
          </a:p>
          <a:p>
            <a:pPr marL="285750" indent="-285750">
              <a:buFontTx/>
              <a:buChar char="-"/>
            </a:pPr>
            <a:r>
              <a:rPr lang="en-US" altLang="zh-TW" sz="1500" dirty="0"/>
              <a:t>Chat History</a:t>
            </a:r>
          </a:p>
          <a:p>
            <a:pPr marL="285750" indent="-285750">
              <a:buFontTx/>
              <a:buChar char="-"/>
            </a:pPr>
            <a:r>
              <a:rPr lang="en-US" altLang="zh-TW" sz="1500" dirty="0" err="1"/>
              <a:t>LoRA</a:t>
            </a:r>
            <a:endParaRPr lang="en-US" altLang="zh-TW" sz="1500" dirty="0"/>
          </a:p>
          <a:p>
            <a:pPr marL="285750" indent="-285750">
              <a:buFontTx/>
              <a:buChar char="-"/>
            </a:pPr>
            <a:r>
              <a:rPr lang="en-US" altLang="zh-TW" sz="1500" dirty="0"/>
              <a:t>RAG</a:t>
            </a:r>
          </a:p>
          <a:p>
            <a:pPr marL="285750" indent="-285750">
              <a:buFontTx/>
              <a:buChar char="-"/>
            </a:pPr>
            <a:r>
              <a:rPr lang="en-US" altLang="zh-TW" sz="1500" dirty="0" err="1"/>
              <a:t>VoiceId</a:t>
            </a:r>
            <a:endParaRPr lang="en-US" altLang="zh-TW" sz="1500" dirty="0"/>
          </a:p>
        </p:txBody>
      </p:sp>
      <p:sp>
        <p:nvSpPr>
          <p:cNvPr id="44" name="標題 1">
            <a:extLst>
              <a:ext uri="{FF2B5EF4-FFF2-40B4-BE49-F238E27FC236}">
                <a16:creationId xmlns:a16="http://schemas.microsoft.com/office/drawing/2014/main" id="{AB7B5C7A-B18E-4028-2D78-0DB7972D6116}"/>
              </a:ext>
            </a:extLst>
          </p:cNvPr>
          <p:cNvSpPr txBox="1">
            <a:spLocks/>
          </p:cNvSpPr>
          <p:nvPr/>
        </p:nvSpPr>
        <p:spPr>
          <a:xfrm>
            <a:off x="8440095" y="2328407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artifact</a:t>
            </a:r>
            <a:endParaRPr lang="zh-TW" altLang="en-US" sz="2000" dirty="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C20AA524-73E5-45A3-D2A1-66091DF5DF80}"/>
              </a:ext>
            </a:extLst>
          </p:cNvPr>
          <p:cNvSpPr/>
          <p:nvPr/>
        </p:nvSpPr>
        <p:spPr>
          <a:xfrm>
            <a:off x="8934598" y="2846071"/>
            <a:ext cx="1532448" cy="1408555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7" name="圖片 46">
            <a:extLst>
              <a:ext uri="{FF2B5EF4-FFF2-40B4-BE49-F238E27FC236}">
                <a16:creationId xmlns:a16="http://schemas.microsoft.com/office/drawing/2014/main" id="{E76B115F-A136-E78B-CE85-F8C78117F5B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9970" y="2539874"/>
            <a:ext cx="360000" cy="360000"/>
          </a:xfrm>
          <a:prstGeom prst="rect">
            <a:avLst/>
          </a:prstGeom>
        </p:spPr>
      </p:pic>
      <p:pic>
        <p:nvPicPr>
          <p:cNvPr id="48" name="圖片 47">
            <a:extLst>
              <a:ext uri="{FF2B5EF4-FFF2-40B4-BE49-F238E27FC236}">
                <a16:creationId xmlns:a16="http://schemas.microsoft.com/office/drawing/2014/main" id="{7E786F32-9D67-FCEC-1A71-5BCB7CEDD3C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6843" y="2522124"/>
            <a:ext cx="360000" cy="360000"/>
          </a:xfrm>
          <a:prstGeom prst="rect">
            <a:avLst/>
          </a:prstGeom>
        </p:spPr>
      </p:pic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78335E33-8E84-40D0-02DA-F2C33AD9FD9C}"/>
              </a:ext>
            </a:extLst>
          </p:cNvPr>
          <p:cNvCxnSpPr>
            <a:cxnSpLocks/>
          </p:cNvCxnSpPr>
          <p:nvPr/>
        </p:nvCxnSpPr>
        <p:spPr>
          <a:xfrm flipH="1">
            <a:off x="10206491" y="2617113"/>
            <a:ext cx="249330" cy="18184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左大括弧 51">
            <a:extLst>
              <a:ext uri="{FF2B5EF4-FFF2-40B4-BE49-F238E27FC236}">
                <a16:creationId xmlns:a16="http://schemas.microsoft.com/office/drawing/2014/main" id="{F502D29B-99E9-DB64-3B6F-85E580A77455}"/>
              </a:ext>
            </a:extLst>
          </p:cNvPr>
          <p:cNvSpPr/>
          <p:nvPr/>
        </p:nvSpPr>
        <p:spPr>
          <a:xfrm>
            <a:off x="6404616" y="2670317"/>
            <a:ext cx="292896" cy="1535988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55" name="接點: 肘形 54">
            <a:extLst>
              <a:ext uri="{FF2B5EF4-FFF2-40B4-BE49-F238E27FC236}">
                <a16:creationId xmlns:a16="http://schemas.microsoft.com/office/drawing/2014/main" id="{D546230F-922A-3F57-D2D4-3F976808B1E8}"/>
              </a:ext>
            </a:extLst>
          </p:cNvPr>
          <p:cNvCxnSpPr>
            <a:cxnSpLocks/>
          </p:cNvCxnSpPr>
          <p:nvPr/>
        </p:nvCxnSpPr>
        <p:spPr>
          <a:xfrm rot="10800000" flipV="1">
            <a:off x="7732116" y="1903239"/>
            <a:ext cx="1476986" cy="648480"/>
          </a:xfrm>
          <a:prstGeom prst="bentConnector3">
            <a:avLst>
              <a:gd name="adj1" fmla="val 99436"/>
            </a:avLst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接點: 肘形 65">
            <a:extLst>
              <a:ext uri="{FF2B5EF4-FFF2-40B4-BE49-F238E27FC236}">
                <a16:creationId xmlns:a16="http://schemas.microsoft.com/office/drawing/2014/main" id="{5FF9E38E-9468-56C5-0CE5-B35707863627}"/>
              </a:ext>
            </a:extLst>
          </p:cNvPr>
          <p:cNvCxnSpPr>
            <a:cxnSpLocks/>
          </p:cNvCxnSpPr>
          <p:nvPr/>
        </p:nvCxnSpPr>
        <p:spPr>
          <a:xfrm rot="5400000">
            <a:off x="8796047" y="2259957"/>
            <a:ext cx="428985" cy="126232"/>
          </a:xfrm>
          <a:prstGeom prst="bentConnector3">
            <a:avLst>
              <a:gd name="adj1" fmla="val 43637"/>
            </a:avLst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接點 71">
            <a:extLst>
              <a:ext uri="{FF2B5EF4-FFF2-40B4-BE49-F238E27FC236}">
                <a16:creationId xmlns:a16="http://schemas.microsoft.com/office/drawing/2014/main" id="{72A57F11-8529-F4D9-9149-9EBFDE90C902}"/>
              </a:ext>
            </a:extLst>
          </p:cNvPr>
          <p:cNvCxnSpPr>
            <a:cxnSpLocks/>
          </p:cNvCxnSpPr>
          <p:nvPr/>
        </p:nvCxnSpPr>
        <p:spPr>
          <a:xfrm>
            <a:off x="9075286" y="2111003"/>
            <a:ext cx="94115" cy="0"/>
          </a:xfrm>
          <a:prstGeom prst="line">
            <a:avLst/>
          </a:prstGeom>
          <a:ln w="63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" name="圖片 75">
            <a:extLst>
              <a:ext uri="{FF2B5EF4-FFF2-40B4-BE49-F238E27FC236}">
                <a16:creationId xmlns:a16="http://schemas.microsoft.com/office/drawing/2014/main" id="{B38373EB-BEFC-6677-CCAB-2E47E1A12A8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7763" y="5132703"/>
            <a:ext cx="679862" cy="679862"/>
          </a:xfrm>
          <a:prstGeom prst="rect">
            <a:avLst/>
          </a:prstGeom>
        </p:spPr>
      </p:pic>
      <p:sp>
        <p:nvSpPr>
          <p:cNvPr id="80" name="標題 1">
            <a:extLst>
              <a:ext uri="{FF2B5EF4-FFF2-40B4-BE49-F238E27FC236}">
                <a16:creationId xmlns:a16="http://schemas.microsoft.com/office/drawing/2014/main" id="{053584B5-A0F2-FC37-CD9B-FD655EC9320B}"/>
              </a:ext>
            </a:extLst>
          </p:cNvPr>
          <p:cNvSpPr txBox="1">
            <a:spLocks/>
          </p:cNvSpPr>
          <p:nvPr/>
        </p:nvSpPr>
        <p:spPr>
          <a:xfrm>
            <a:off x="4796540" y="5682804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RAG</a:t>
            </a:r>
            <a:endParaRPr lang="zh-TW" altLang="en-US" sz="2000" dirty="0"/>
          </a:p>
        </p:txBody>
      </p:sp>
      <p:sp>
        <p:nvSpPr>
          <p:cNvPr id="86" name="加號 85">
            <a:extLst>
              <a:ext uri="{FF2B5EF4-FFF2-40B4-BE49-F238E27FC236}">
                <a16:creationId xmlns:a16="http://schemas.microsoft.com/office/drawing/2014/main" id="{90A84852-3D28-AB72-C0A8-505BA6CFDA6A}"/>
              </a:ext>
            </a:extLst>
          </p:cNvPr>
          <p:cNvSpPr/>
          <p:nvPr/>
        </p:nvSpPr>
        <p:spPr>
          <a:xfrm>
            <a:off x="5980022" y="5367836"/>
            <a:ext cx="370355" cy="368321"/>
          </a:xfrm>
          <a:prstGeom prst="mathPlus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7" name="加號 86">
            <a:extLst>
              <a:ext uri="{FF2B5EF4-FFF2-40B4-BE49-F238E27FC236}">
                <a16:creationId xmlns:a16="http://schemas.microsoft.com/office/drawing/2014/main" id="{CCA1AB67-F726-D305-6BD1-DC286AB1D038}"/>
              </a:ext>
            </a:extLst>
          </p:cNvPr>
          <p:cNvSpPr/>
          <p:nvPr/>
        </p:nvSpPr>
        <p:spPr>
          <a:xfrm>
            <a:off x="7497001" y="5367835"/>
            <a:ext cx="370355" cy="368321"/>
          </a:xfrm>
          <a:prstGeom prst="mathPlus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9" name="標題 1">
            <a:extLst>
              <a:ext uri="{FF2B5EF4-FFF2-40B4-BE49-F238E27FC236}">
                <a16:creationId xmlns:a16="http://schemas.microsoft.com/office/drawing/2014/main" id="{7320F622-F489-97FD-28D5-785D6F3F7B30}"/>
              </a:ext>
            </a:extLst>
          </p:cNvPr>
          <p:cNvSpPr txBox="1">
            <a:spLocks/>
          </p:cNvSpPr>
          <p:nvPr/>
        </p:nvSpPr>
        <p:spPr>
          <a:xfrm>
            <a:off x="3769037" y="4469030"/>
            <a:ext cx="529551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Inference</a:t>
            </a:r>
            <a:r>
              <a:rPr lang="zh-TW" altLang="en-US" sz="2000" dirty="0"/>
              <a:t> </a:t>
            </a:r>
            <a:r>
              <a:rPr lang="en-US" altLang="zh-TW" sz="2000" dirty="0"/>
              <a:t>(retrieve from </a:t>
            </a:r>
            <a:r>
              <a:rPr lang="en-US" altLang="zh-TW" sz="2000" dirty="0" err="1"/>
              <a:t>Arweave</a:t>
            </a:r>
            <a:r>
              <a:rPr lang="en-US" altLang="zh-TW" sz="2000" dirty="0"/>
              <a:t> by TXID)</a:t>
            </a:r>
            <a:endParaRPr lang="zh-TW" altLang="en-US" sz="2000" dirty="0"/>
          </a:p>
        </p:txBody>
      </p:sp>
      <p:cxnSp>
        <p:nvCxnSpPr>
          <p:cNvPr id="96" name="直線接點 95">
            <a:extLst>
              <a:ext uri="{FF2B5EF4-FFF2-40B4-BE49-F238E27FC236}">
                <a16:creationId xmlns:a16="http://schemas.microsoft.com/office/drawing/2014/main" id="{EE26AC9C-3367-1C2E-6DE4-6C53128015D8}"/>
              </a:ext>
            </a:extLst>
          </p:cNvPr>
          <p:cNvCxnSpPr>
            <a:cxnSpLocks/>
          </p:cNvCxnSpPr>
          <p:nvPr/>
        </p:nvCxnSpPr>
        <p:spPr>
          <a:xfrm>
            <a:off x="3396032" y="4970764"/>
            <a:ext cx="5677624" cy="101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8" name="圖片 97">
            <a:extLst>
              <a:ext uri="{FF2B5EF4-FFF2-40B4-BE49-F238E27FC236}">
                <a16:creationId xmlns:a16="http://schemas.microsoft.com/office/drawing/2014/main" id="{9F91CE03-ECB9-7CAF-580E-CC8EB6A0E0C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3051" y="2934636"/>
            <a:ext cx="576000" cy="576000"/>
          </a:xfrm>
          <a:prstGeom prst="rect">
            <a:avLst/>
          </a:prstGeom>
        </p:spPr>
      </p:pic>
      <p:sp>
        <p:nvSpPr>
          <p:cNvPr id="99" name="標題 1">
            <a:extLst>
              <a:ext uri="{FF2B5EF4-FFF2-40B4-BE49-F238E27FC236}">
                <a16:creationId xmlns:a16="http://schemas.microsoft.com/office/drawing/2014/main" id="{437E0EAD-36A4-383E-DBB9-AB5B0475A061}"/>
              </a:ext>
            </a:extLst>
          </p:cNvPr>
          <p:cNvSpPr txBox="1">
            <a:spLocks/>
          </p:cNvSpPr>
          <p:nvPr/>
        </p:nvSpPr>
        <p:spPr>
          <a:xfrm>
            <a:off x="3007518" y="3578068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Lit </a:t>
            </a:r>
          </a:p>
          <a:p>
            <a:pPr algn="ctr"/>
            <a:r>
              <a:rPr lang="en-US" altLang="zh-TW" sz="2000" dirty="0"/>
              <a:t>Protocol</a:t>
            </a:r>
            <a:endParaRPr lang="zh-TW" altLang="en-US" sz="2000" dirty="0"/>
          </a:p>
        </p:txBody>
      </p:sp>
      <p:sp>
        <p:nvSpPr>
          <p:cNvPr id="100" name="箭號: 向右 99">
            <a:extLst>
              <a:ext uri="{FF2B5EF4-FFF2-40B4-BE49-F238E27FC236}">
                <a16:creationId xmlns:a16="http://schemas.microsoft.com/office/drawing/2014/main" id="{54FB2384-18F9-B946-C6DE-6BC540BD48AC}"/>
              </a:ext>
            </a:extLst>
          </p:cNvPr>
          <p:cNvSpPr/>
          <p:nvPr/>
        </p:nvSpPr>
        <p:spPr>
          <a:xfrm rot="10800000">
            <a:off x="4241012" y="3028554"/>
            <a:ext cx="576000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箭號: 向右 100">
            <a:extLst>
              <a:ext uri="{FF2B5EF4-FFF2-40B4-BE49-F238E27FC236}">
                <a16:creationId xmlns:a16="http://schemas.microsoft.com/office/drawing/2014/main" id="{651A1140-9071-D71A-B770-3FA0979D849D}"/>
              </a:ext>
            </a:extLst>
          </p:cNvPr>
          <p:cNvSpPr/>
          <p:nvPr/>
        </p:nvSpPr>
        <p:spPr>
          <a:xfrm rot="5400000">
            <a:off x="3515948" y="4345990"/>
            <a:ext cx="630461" cy="44683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3" name="圖片 102">
            <a:extLst>
              <a:ext uri="{FF2B5EF4-FFF2-40B4-BE49-F238E27FC236}">
                <a16:creationId xmlns:a16="http://schemas.microsoft.com/office/drawing/2014/main" id="{4C262103-9D24-593D-A15B-4FD5D9F209F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602" y="3888822"/>
            <a:ext cx="576000" cy="576000"/>
          </a:xfrm>
          <a:prstGeom prst="rect">
            <a:avLst/>
          </a:prstGeom>
        </p:spPr>
      </p:pic>
      <p:pic>
        <p:nvPicPr>
          <p:cNvPr id="104" name="圖片 103">
            <a:extLst>
              <a:ext uri="{FF2B5EF4-FFF2-40B4-BE49-F238E27FC236}">
                <a16:creationId xmlns:a16="http://schemas.microsoft.com/office/drawing/2014/main" id="{CBC6808E-180E-5751-D896-F2CD99A40B6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456" y="3868074"/>
            <a:ext cx="576000" cy="576000"/>
          </a:xfrm>
          <a:prstGeom prst="rect">
            <a:avLst/>
          </a:prstGeom>
        </p:spPr>
      </p:pic>
      <p:pic>
        <p:nvPicPr>
          <p:cNvPr id="105" name="圖片 104">
            <a:extLst>
              <a:ext uri="{FF2B5EF4-FFF2-40B4-BE49-F238E27FC236}">
                <a16:creationId xmlns:a16="http://schemas.microsoft.com/office/drawing/2014/main" id="{5529204A-0FAC-7866-C991-22481671F3B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847" y="4980896"/>
            <a:ext cx="630000" cy="630000"/>
          </a:xfrm>
          <a:prstGeom prst="rect">
            <a:avLst/>
          </a:prstGeom>
        </p:spPr>
      </p:pic>
      <p:pic>
        <p:nvPicPr>
          <p:cNvPr id="107" name="圖片 106">
            <a:extLst>
              <a:ext uri="{FF2B5EF4-FFF2-40B4-BE49-F238E27FC236}">
                <a16:creationId xmlns:a16="http://schemas.microsoft.com/office/drawing/2014/main" id="{CE7D4B29-9DA3-AB53-A0B6-EF47DB5CD8C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2071" y="5112861"/>
            <a:ext cx="630000" cy="630000"/>
          </a:xfrm>
          <a:prstGeom prst="rect">
            <a:avLst/>
          </a:prstGeom>
        </p:spPr>
      </p:pic>
      <p:sp>
        <p:nvSpPr>
          <p:cNvPr id="108" name="標題 1">
            <a:extLst>
              <a:ext uri="{FF2B5EF4-FFF2-40B4-BE49-F238E27FC236}">
                <a16:creationId xmlns:a16="http://schemas.microsoft.com/office/drawing/2014/main" id="{481B12C0-5681-A961-1EA8-65BF728A017B}"/>
              </a:ext>
            </a:extLst>
          </p:cNvPr>
          <p:cNvSpPr txBox="1">
            <a:spLocks/>
          </p:cNvSpPr>
          <p:nvPr/>
        </p:nvSpPr>
        <p:spPr>
          <a:xfrm>
            <a:off x="1689902" y="5673735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Inheritance</a:t>
            </a:r>
          </a:p>
        </p:txBody>
      </p:sp>
      <p:sp>
        <p:nvSpPr>
          <p:cNvPr id="110" name="標題 1">
            <a:extLst>
              <a:ext uri="{FF2B5EF4-FFF2-40B4-BE49-F238E27FC236}">
                <a16:creationId xmlns:a16="http://schemas.microsoft.com/office/drawing/2014/main" id="{A88AE474-8259-F6D2-0A01-A99E89731B94}"/>
              </a:ext>
            </a:extLst>
          </p:cNvPr>
          <p:cNvSpPr txBox="1">
            <a:spLocks/>
          </p:cNvSpPr>
          <p:nvPr/>
        </p:nvSpPr>
        <p:spPr>
          <a:xfrm>
            <a:off x="438088" y="5606416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Online Memorial</a:t>
            </a:r>
          </a:p>
        </p:txBody>
      </p:sp>
      <p:sp>
        <p:nvSpPr>
          <p:cNvPr id="111" name="標題 1">
            <a:extLst>
              <a:ext uri="{FF2B5EF4-FFF2-40B4-BE49-F238E27FC236}">
                <a16:creationId xmlns:a16="http://schemas.microsoft.com/office/drawing/2014/main" id="{C9E8F8AD-64A4-39D2-DBBC-6702CC000AFE}"/>
              </a:ext>
            </a:extLst>
          </p:cNvPr>
          <p:cNvSpPr txBox="1">
            <a:spLocks/>
          </p:cNvSpPr>
          <p:nvPr/>
        </p:nvSpPr>
        <p:spPr>
          <a:xfrm>
            <a:off x="514417" y="4404926"/>
            <a:ext cx="1674491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Facetime</a:t>
            </a:r>
          </a:p>
        </p:txBody>
      </p:sp>
      <p:sp>
        <p:nvSpPr>
          <p:cNvPr id="112" name="標題 1">
            <a:extLst>
              <a:ext uri="{FF2B5EF4-FFF2-40B4-BE49-F238E27FC236}">
                <a16:creationId xmlns:a16="http://schemas.microsoft.com/office/drawing/2014/main" id="{D7FA0253-25C0-80C6-277B-54592082E145}"/>
              </a:ext>
            </a:extLst>
          </p:cNvPr>
          <p:cNvSpPr txBox="1">
            <a:spLocks/>
          </p:cNvSpPr>
          <p:nvPr/>
        </p:nvSpPr>
        <p:spPr>
          <a:xfrm>
            <a:off x="1914784" y="4462459"/>
            <a:ext cx="1149262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Family </a:t>
            </a:r>
          </a:p>
          <a:p>
            <a:pPr algn="ctr"/>
            <a:r>
              <a:rPr lang="en-US" altLang="zh-TW" sz="2000" dirty="0"/>
              <a:t>Tree</a:t>
            </a:r>
          </a:p>
        </p:txBody>
      </p:sp>
      <p:sp>
        <p:nvSpPr>
          <p:cNvPr id="115" name="標題 1">
            <a:extLst>
              <a:ext uri="{FF2B5EF4-FFF2-40B4-BE49-F238E27FC236}">
                <a16:creationId xmlns:a16="http://schemas.microsoft.com/office/drawing/2014/main" id="{F8D2EA67-8207-D1E5-8103-F04AEE172EC3}"/>
              </a:ext>
            </a:extLst>
          </p:cNvPr>
          <p:cNvSpPr txBox="1">
            <a:spLocks/>
          </p:cNvSpPr>
          <p:nvPr/>
        </p:nvSpPr>
        <p:spPr>
          <a:xfrm>
            <a:off x="1225592" y="3161202"/>
            <a:ext cx="1419143" cy="7414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000" dirty="0"/>
              <a:t>Services</a:t>
            </a:r>
            <a:endParaRPr lang="zh-TW" altLang="en-US" sz="2000" dirty="0"/>
          </a:p>
        </p:txBody>
      </p:sp>
      <p:cxnSp>
        <p:nvCxnSpPr>
          <p:cNvPr id="116" name="直線接點 115">
            <a:extLst>
              <a:ext uri="{FF2B5EF4-FFF2-40B4-BE49-F238E27FC236}">
                <a16:creationId xmlns:a16="http://schemas.microsoft.com/office/drawing/2014/main" id="{FCABDF6F-D85D-8817-0E2B-C59ED5839D38}"/>
              </a:ext>
            </a:extLst>
          </p:cNvPr>
          <p:cNvCxnSpPr>
            <a:cxnSpLocks/>
          </p:cNvCxnSpPr>
          <p:nvPr/>
        </p:nvCxnSpPr>
        <p:spPr>
          <a:xfrm>
            <a:off x="516522" y="3732040"/>
            <a:ext cx="264795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標題 1">
            <a:extLst>
              <a:ext uri="{FF2B5EF4-FFF2-40B4-BE49-F238E27FC236}">
                <a16:creationId xmlns:a16="http://schemas.microsoft.com/office/drawing/2014/main" id="{8F37326D-28DD-70EC-6377-6DE8136B8F2B}"/>
              </a:ext>
            </a:extLst>
          </p:cNvPr>
          <p:cNvSpPr txBox="1">
            <a:spLocks/>
          </p:cNvSpPr>
          <p:nvPr/>
        </p:nvSpPr>
        <p:spPr>
          <a:xfrm>
            <a:off x="4130734" y="2041495"/>
            <a:ext cx="1490208" cy="789858"/>
          </a:xfrm>
          <a:prstGeom prst="rect">
            <a:avLst/>
          </a:prstGeom>
          <a:ln>
            <a:solidFill>
              <a:schemeClr val="tx1"/>
            </a:solidFill>
            <a:prstDash val="lgDash"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1200" dirty="0"/>
              <a:t>Decentralized key network — releases decryption keys only if you hold the NFT</a:t>
            </a:r>
          </a:p>
        </p:txBody>
      </p:sp>
      <p:cxnSp>
        <p:nvCxnSpPr>
          <p:cNvPr id="122" name="接點: 弧形 121">
            <a:extLst>
              <a:ext uri="{FF2B5EF4-FFF2-40B4-BE49-F238E27FC236}">
                <a16:creationId xmlns:a16="http://schemas.microsoft.com/office/drawing/2014/main" id="{CC52250F-3706-D206-D9A9-9358D338832E}"/>
              </a:ext>
            </a:extLst>
          </p:cNvPr>
          <p:cNvCxnSpPr>
            <a:cxnSpLocks/>
            <a:endCxn id="120" idx="1"/>
          </p:cNvCxnSpPr>
          <p:nvPr/>
        </p:nvCxnSpPr>
        <p:spPr>
          <a:xfrm rot="5400000" flipH="1" flipV="1">
            <a:off x="3726517" y="2501529"/>
            <a:ext cx="469322" cy="339112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51" name="標題 1">
            <a:extLst>
              <a:ext uri="{FF2B5EF4-FFF2-40B4-BE49-F238E27FC236}">
                <a16:creationId xmlns:a16="http://schemas.microsoft.com/office/drawing/2014/main" id="{0A7AA9CB-778B-E792-795C-66A1C0A4F167}"/>
              </a:ext>
            </a:extLst>
          </p:cNvPr>
          <p:cNvSpPr txBox="1">
            <a:spLocks/>
          </p:cNvSpPr>
          <p:nvPr/>
        </p:nvSpPr>
        <p:spPr>
          <a:xfrm>
            <a:off x="4549238" y="3822462"/>
            <a:ext cx="1999250" cy="650834"/>
          </a:xfrm>
          <a:prstGeom prst="rect">
            <a:avLst/>
          </a:prstGeom>
          <a:ln>
            <a:solidFill>
              <a:schemeClr val="tx1"/>
            </a:solidFill>
            <a:prstDash val="lgDash"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1000" dirty="0"/>
              <a:t>Permanent decentralized storage: Irys bundles and accelerates</a:t>
            </a:r>
          </a:p>
          <a:p>
            <a:r>
              <a:rPr lang="en-US" altLang="zh-TW" sz="1000" dirty="0"/>
              <a:t>uploads onto </a:t>
            </a:r>
            <a:r>
              <a:rPr lang="en-US" altLang="zh-TW" sz="1000" dirty="0" err="1"/>
              <a:t>Arweave's</a:t>
            </a:r>
            <a:r>
              <a:rPr lang="en-US" altLang="zh-TW" sz="1000" dirty="0"/>
              <a:t> </a:t>
            </a:r>
            <a:r>
              <a:rPr lang="en-US" altLang="zh-TW" sz="1000" dirty="0" err="1"/>
              <a:t>permaweb</a:t>
            </a:r>
            <a:r>
              <a:rPr lang="en-US" altLang="zh-TW" sz="1000" dirty="0"/>
              <a:t>, paid once, stored forever</a:t>
            </a:r>
          </a:p>
        </p:txBody>
      </p:sp>
      <p:pic>
        <p:nvPicPr>
          <p:cNvPr id="6152" name="圖片 6151">
            <a:extLst>
              <a:ext uri="{FF2B5EF4-FFF2-40B4-BE49-F238E27FC236}">
                <a16:creationId xmlns:a16="http://schemas.microsoft.com/office/drawing/2014/main" id="{CBA3586F-79EF-56C7-D15A-D415767FBCC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050" y="2379771"/>
            <a:ext cx="765855" cy="765855"/>
          </a:xfrm>
          <a:prstGeom prst="rect">
            <a:avLst/>
          </a:prstGeom>
        </p:spPr>
      </p:pic>
      <p:grpSp>
        <p:nvGrpSpPr>
          <p:cNvPr id="6158" name="群組 6157">
            <a:extLst>
              <a:ext uri="{FF2B5EF4-FFF2-40B4-BE49-F238E27FC236}">
                <a16:creationId xmlns:a16="http://schemas.microsoft.com/office/drawing/2014/main" id="{69D7B5DE-6C63-46CD-40AD-D663FF9E406F}"/>
              </a:ext>
            </a:extLst>
          </p:cNvPr>
          <p:cNvGrpSpPr/>
          <p:nvPr/>
        </p:nvGrpSpPr>
        <p:grpSpPr>
          <a:xfrm>
            <a:off x="2025157" y="2101404"/>
            <a:ext cx="1318308" cy="1434820"/>
            <a:chOff x="1714500" y="2080321"/>
            <a:chExt cx="1318308" cy="1434820"/>
          </a:xfrm>
        </p:grpSpPr>
        <p:sp>
          <p:nvSpPr>
            <p:cNvPr id="6155" name="文字方塊 6154">
              <a:extLst>
                <a:ext uri="{FF2B5EF4-FFF2-40B4-BE49-F238E27FC236}">
                  <a16:creationId xmlns:a16="http://schemas.microsoft.com/office/drawing/2014/main" id="{80D652C3-56FE-4A69-0823-C81D254837A5}"/>
                </a:ext>
              </a:extLst>
            </p:cNvPr>
            <p:cNvSpPr txBox="1"/>
            <p:nvPr/>
          </p:nvSpPr>
          <p:spPr>
            <a:xfrm rot="16200000">
              <a:off x="2019694" y="1985439"/>
              <a:ext cx="918232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TW" altLang="en-US" sz="6600" dirty="0"/>
                <a:t>➥</a:t>
              </a:r>
            </a:p>
          </p:txBody>
        </p:sp>
        <p:sp>
          <p:nvSpPr>
            <p:cNvPr id="6156" name="文字方塊 6155">
              <a:extLst>
                <a:ext uri="{FF2B5EF4-FFF2-40B4-BE49-F238E27FC236}">
                  <a16:creationId xmlns:a16="http://schemas.microsoft.com/office/drawing/2014/main" id="{10B8344B-26AA-BECB-18D8-00ABDA7EBBE7}"/>
                </a:ext>
              </a:extLst>
            </p:cNvPr>
            <p:cNvSpPr txBox="1"/>
            <p:nvPr/>
          </p:nvSpPr>
          <p:spPr>
            <a:xfrm rot="16200000" flipV="1">
              <a:off x="1998032" y="2502027"/>
              <a:ext cx="918232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TW" altLang="en-US" sz="6600" dirty="0"/>
                <a:t>➦</a:t>
              </a:r>
            </a:p>
          </p:txBody>
        </p:sp>
        <p:sp>
          <p:nvSpPr>
            <p:cNvPr id="6157" name="矩形 6156">
              <a:extLst>
                <a:ext uri="{FF2B5EF4-FFF2-40B4-BE49-F238E27FC236}">
                  <a16:creationId xmlns:a16="http://schemas.microsoft.com/office/drawing/2014/main" id="{23F979E0-338E-5D79-869F-7874B60869A7}"/>
                </a:ext>
              </a:extLst>
            </p:cNvPr>
            <p:cNvSpPr/>
            <p:nvPr/>
          </p:nvSpPr>
          <p:spPr>
            <a:xfrm>
              <a:off x="1714500" y="2691042"/>
              <a:ext cx="774915" cy="19249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6159" name="標題 1">
            <a:extLst>
              <a:ext uri="{FF2B5EF4-FFF2-40B4-BE49-F238E27FC236}">
                <a16:creationId xmlns:a16="http://schemas.microsoft.com/office/drawing/2014/main" id="{12FFF7F7-78E6-D288-7EF3-0E04EB4D7B32}"/>
              </a:ext>
            </a:extLst>
          </p:cNvPr>
          <p:cNvSpPr txBox="1">
            <a:spLocks/>
          </p:cNvSpPr>
          <p:nvPr/>
        </p:nvSpPr>
        <p:spPr>
          <a:xfrm>
            <a:off x="4735939" y="311098"/>
            <a:ext cx="2851550" cy="726073"/>
          </a:xfrm>
          <a:prstGeom prst="rect">
            <a:avLst/>
          </a:prstGeom>
          <a:ln>
            <a:solidFill>
              <a:schemeClr val="tx1"/>
            </a:solidFill>
            <a:prstDash val="lgDash"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1200" dirty="0"/>
              <a:t>Each tablet is a unique NFT (ERC-721) with a provable on-chain owner, linked parent-to-child into a family tree (ERC-6150)</a:t>
            </a:r>
          </a:p>
        </p:txBody>
      </p:sp>
      <p:cxnSp>
        <p:nvCxnSpPr>
          <p:cNvPr id="6160" name="接點: 弧形 6159">
            <a:extLst>
              <a:ext uri="{FF2B5EF4-FFF2-40B4-BE49-F238E27FC236}">
                <a16:creationId xmlns:a16="http://schemas.microsoft.com/office/drawing/2014/main" id="{8CD0FE0B-5388-45AE-25DB-232C08344790}"/>
              </a:ext>
            </a:extLst>
          </p:cNvPr>
          <p:cNvCxnSpPr>
            <a:cxnSpLocks/>
            <a:stCxn id="17" idx="1"/>
            <a:endCxn id="6159" idx="2"/>
          </p:cNvCxnSpPr>
          <p:nvPr/>
        </p:nvCxnSpPr>
        <p:spPr>
          <a:xfrm rot="10800000">
            <a:off x="6161714" y="1037171"/>
            <a:ext cx="1605062" cy="96874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標題 1">
            <a:extLst>
              <a:ext uri="{FF2B5EF4-FFF2-40B4-BE49-F238E27FC236}">
                <a16:creationId xmlns:a16="http://schemas.microsoft.com/office/drawing/2014/main" id="{E08D56A1-FF9A-DB59-C9A8-6874A654BAAB}"/>
              </a:ext>
            </a:extLst>
          </p:cNvPr>
          <p:cNvSpPr txBox="1">
            <a:spLocks/>
          </p:cNvSpPr>
          <p:nvPr/>
        </p:nvSpPr>
        <p:spPr>
          <a:xfrm>
            <a:off x="3178184" y="5653349"/>
            <a:ext cx="2072297" cy="6304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800" dirty="0"/>
              <a:t>Qwen3-14B-AWQ</a:t>
            </a:r>
            <a:endParaRPr lang="zh-TW" altLang="en-US" sz="1800" dirty="0"/>
          </a:p>
        </p:txBody>
      </p:sp>
      <p:pic>
        <p:nvPicPr>
          <p:cNvPr id="3" name="圖片 2" descr="通義千問- 維基百科，自由的百科全書">
            <a:extLst>
              <a:ext uri="{FF2B5EF4-FFF2-40B4-BE49-F238E27FC236}">
                <a16:creationId xmlns:a16="http://schemas.microsoft.com/office/drawing/2014/main" id="{0AD04ADB-4639-AF3A-DFAC-BC8DF9E150A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11529" y="5068569"/>
            <a:ext cx="896236" cy="878667"/>
          </a:xfrm>
          <a:prstGeom prst="rect">
            <a:avLst/>
          </a:prstGeom>
        </p:spPr>
      </p:pic>
      <p:sp>
        <p:nvSpPr>
          <p:cNvPr id="10" name="加號 9">
            <a:extLst>
              <a:ext uri="{FF2B5EF4-FFF2-40B4-BE49-F238E27FC236}">
                <a16:creationId xmlns:a16="http://schemas.microsoft.com/office/drawing/2014/main" id="{FC3B50B4-A974-CF62-CA11-BE07CE8A85DE}"/>
              </a:ext>
            </a:extLst>
          </p:cNvPr>
          <p:cNvSpPr/>
          <p:nvPr/>
        </p:nvSpPr>
        <p:spPr>
          <a:xfrm>
            <a:off x="4874016" y="5374540"/>
            <a:ext cx="370355" cy="368321"/>
          </a:xfrm>
          <a:prstGeom prst="mathPlus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標題 1">
            <a:extLst>
              <a:ext uri="{FF2B5EF4-FFF2-40B4-BE49-F238E27FC236}">
                <a16:creationId xmlns:a16="http://schemas.microsoft.com/office/drawing/2014/main" id="{389F2EF8-0F41-C338-77B4-497EBAD2998D}"/>
              </a:ext>
            </a:extLst>
          </p:cNvPr>
          <p:cNvSpPr txBox="1">
            <a:spLocks/>
          </p:cNvSpPr>
          <p:nvPr/>
        </p:nvSpPr>
        <p:spPr>
          <a:xfrm>
            <a:off x="6234510" y="5711458"/>
            <a:ext cx="1221034" cy="502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800" dirty="0"/>
              <a:t>LAM 3DGS</a:t>
            </a:r>
            <a:endParaRPr lang="zh-TW" altLang="en-US" sz="1800" dirty="0"/>
          </a:p>
        </p:txBody>
      </p:sp>
      <p:sp>
        <p:nvSpPr>
          <p:cNvPr id="14" name="標題 1">
            <a:extLst>
              <a:ext uri="{FF2B5EF4-FFF2-40B4-BE49-F238E27FC236}">
                <a16:creationId xmlns:a16="http://schemas.microsoft.com/office/drawing/2014/main" id="{8474FA63-A710-603E-7A13-67D61AEF95E8}"/>
              </a:ext>
            </a:extLst>
          </p:cNvPr>
          <p:cNvSpPr txBox="1">
            <a:spLocks/>
          </p:cNvSpPr>
          <p:nvPr/>
        </p:nvSpPr>
        <p:spPr>
          <a:xfrm>
            <a:off x="7958481" y="5696104"/>
            <a:ext cx="962184" cy="502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800" dirty="0" err="1"/>
              <a:t>ARTalk</a:t>
            </a:r>
            <a:endParaRPr lang="zh-TW" altLang="en-US" sz="1800" dirty="0"/>
          </a:p>
        </p:txBody>
      </p:sp>
      <p:pic>
        <p:nvPicPr>
          <p:cNvPr id="16" name="圖片 15" descr="LA&#10;&#10;AI 產生的內容可能不正確。">
            <a:extLst>
              <a:ext uri="{FF2B5EF4-FFF2-40B4-BE49-F238E27FC236}">
                <a16:creationId xmlns:a16="http://schemas.microsoft.com/office/drawing/2014/main" id="{5A138230-47D5-5442-9110-533FB4F4672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9427" y="5362558"/>
            <a:ext cx="987641" cy="389334"/>
          </a:xfrm>
          <a:prstGeom prst="rect">
            <a:avLst/>
          </a:prstGeom>
        </p:spPr>
      </p:pic>
      <p:pic>
        <p:nvPicPr>
          <p:cNvPr id="19" name="圖片 18" descr="CLIVAT&#10;&#10;AI 產生的內容可能不正確。">
            <a:extLst>
              <a:ext uri="{FF2B5EF4-FFF2-40B4-BE49-F238E27FC236}">
                <a16:creationId xmlns:a16="http://schemas.microsoft.com/office/drawing/2014/main" id="{3DBE6107-F39B-FF18-6AED-B36E2257E7B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43216" y="5407805"/>
            <a:ext cx="1118360" cy="287235"/>
          </a:xfrm>
          <a:prstGeom prst="rect">
            <a:avLst/>
          </a:prstGeom>
        </p:spPr>
      </p:pic>
      <p:sp>
        <p:nvSpPr>
          <p:cNvPr id="31" name="箭號: 向右 30">
            <a:extLst>
              <a:ext uri="{FF2B5EF4-FFF2-40B4-BE49-F238E27FC236}">
                <a16:creationId xmlns:a16="http://schemas.microsoft.com/office/drawing/2014/main" id="{CDAD7409-A856-3DCD-3CD1-10913AFE8AF8}"/>
              </a:ext>
            </a:extLst>
          </p:cNvPr>
          <p:cNvSpPr/>
          <p:nvPr/>
        </p:nvSpPr>
        <p:spPr>
          <a:xfrm>
            <a:off x="9022593" y="5332420"/>
            <a:ext cx="414036" cy="36262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7" name="矩形: 圓角 56">
            <a:extLst>
              <a:ext uri="{FF2B5EF4-FFF2-40B4-BE49-F238E27FC236}">
                <a16:creationId xmlns:a16="http://schemas.microsoft.com/office/drawing/2014/main" id="{B73C0D38-5291-32ED-45D2-583C1204F802}"/>
              </a:ext>
            </a:extLst>
          </p:cNvPr>
          <p:cNvSpPr/>
          <p:nvPr/>
        </p:nvSpPr>
        <p:spPr>
          <a:xfrm>
            <a:off x="9427521" y="4514918"/>
            <a:ext cx="1968360" cy="179834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dirty="0">
              <a:highlight>
                <a:srgbClr val="FFFF00"/>
              </a:highlight>
            </a:endParaRPr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BB1C695B-0BD7-B8D4-9A9E-DEBCCFDE9E3C}"/>
              </a:ext>
            </a:extLst>
          </p:cNvPr>
          <p:cNvSpPr txBox="1"/>
          <p:nvPr/>
        </p:nvSpPr>
        <p:spPr>
          <a:xfrm>
            <a:off x="7363133" y="4583216"/>
            <a:ext cx="60971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Cambria" panose="02040503050406030204" pitchFamily="18" charset="0"/>
                <a:ea typeface="Cambria" panose="02040503050406030204" pitchFamily="18" charset="0"/>
              </a:rPr>
              <a:t>Live Streaming</a:t>
            </a:r>
          </a:p>
        </p:txBody>
      </p: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BFB351FC-B75D-C68D-E714-E394E4E254F4}"/>
              </a:ext>
            </a:extLst>
          </p:cNvPr>
          <p:cNvCxnSpPr>
            <a:cxnSpLocks/>
          </p:cNvCxnSpPr>
          <p:nvPr/>
        </p:nvCxnSpPr>
        <p:spPr>
          <a:xfrm>
            <a:off x="9427521" y="5000498"/>
            <a:ext cx="196836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" name="Picture 10" descr="LiveKit Free SVG, PNG, and vector do... · LobeHub">
            <a:extLst>
              <a:ext uri="{FF2B5EF4-FFF2-40B4-BE49-F238E27FC236}">
                <a16:creationId xmlns:a16="http://schemas.microsoft.com/office/drawing/2014/main" id="{DFF5E302-AFA8-11C9-E19F-BE13EAAF88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4" r="1634"/>
          <a:stretch>
            <a:fillRect/>
          </a:stretch>
        </p:blipFill>
        <p:spPr bwMode="auto">
          <a:xfrm>
            <a:off x="9652756" y="5207365"/>
            <a:ext cx="487675" cy="48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圖片 66" descr="WebGL - 維基百科，自由的百科全書">
            <a:extLst>
              <a:ext uri="{FF2B5EF4-FFF2-40B4-BE49-F238E27FC236}">
                <a16:creationId xmlns:a16="http://schemas.microsoft.com/office/drawing/2014/main" id="{8D169177-2860-681A-3CA8-5EF9B1BDFAB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557985" y="5297202"/>
            <a:ext cx="819653" cy="342505"/>
          </a:xfrm>
          <a:prstGeom prst="rect">
            <a:avLst/>
          </a:prstGeom>
        </p:spPr>
      </p:pic>
      <p:sp>
        <p:nvSpPr>
          <p:cNvPr id="71" name="標題 1">
            <a:extLst>
              <a:ext uri="{FF2B5EF4-FFF2-40B4-BE49-F238E27FC236}">
                <a16:creationId xmlns:a16="http://schemas.microsoft.com/office/drawing/2014/main" id="{3367B16D-6EC8-90A4-B912-F12C6F510DB2}"/>
              </a:ext>
            </a:extLst>
          </p:cNvPr>
          <p:cNvSpPr txBox="1">
            <a:spLocks/>
          </p:cNvSpPr>
          <p:nvPr/>
        </p:nvSpPr>
        <p:spPr>
          <a:xfrm>
            <a:off x="9383052" y="5682804"/>
            <a:ext cx="962184" cy="502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800" dirty="0"/>
              <a:t>WebGL</a:t>
            </a:r>
            <a:endParaRPr lang="zh-TW" altLang="en-US" sz="1800" dirty="0"/>
          </a:p>
        </p:txBody>
      </p:sp>
      <p:sp>
        <p:nvSpPr>
          <p:cNvPr id="73" name="標題 1">
            <a:extLst>
              <a:ext uri="{FF2B5EF4-FFF2-40B4-BE49-F238E27FC236}">
                <a16:creationId xmlns:a16="http://schemas.microsoft.com/office/drawing/2014/main" id="{CFF5A591-C058-2D46-4857-CC2ACF3B99C2}"/>
              </a:ext>
            </a:extLst>
          </p:cNvPr>
          <p:cNvSpPr txBox="1">
            <a:spLocks/>
          </p:cNvSpPr>
          <p:nvPr/>
        </p:nvSpPr>
        <p:spPr>
          <a:xfrm>
            <a:off x="10462613" y="5663300"/>
            <a:ext cx="962184" cy="5022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1800" dirty="0" err="1"/>
              <a:t>LiveKit</a:t>
            </a:r>
            <a:endParaRPr lang="zh-TW" altLang="en-US" sz="1800" dirty="0"/>
          </a:p>
        </p:txBody>
      </p:sp>
      <p:sp>
        <p:nvSpPr>
          <p:cNvPr id="74" name="加號 73">
            <a:extLst>
              <a:ext uri="{FF2B5EF4-FFF2-40B4-BE49-F238E27FC236}">
                <a16:creationId xmlns:a16="http://schemas.microsoft.com/office/drawing/2014/main" id="{BF132980-A656-56E5-32D6-10C12DDCED2C}"/>
              </a:ext>
            </a:extLst>
          </p:cNvPr>
          <p:cNvSpPr/>
          <p:nvPr/>
        </p:nvSpPr>
        <p:spPr>
          <a:xfrm>
            <a:off x="10161665" y="5271386"/>
            <a:ext cx="370355" cy="368321"/>
          </a:xfrm>
          <a:prstGeom prst="mathPlus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44397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4385B-073B-202E-D603-7CFB5B2EF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1EFBCD-412D-187E-F4E7-E9F1220FC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40" y="4169664"/>
            <a:ext cx="4236720" cy="291656"/>
          </a:xfrm>
        </p:spPr>
        <p:txBody>
          <a:bodyPr>
            <a:noAutofit/>
          </a:bodyPr>
          <a:lstStyle/>
          <a:p>
            <a:r>
              <a:rPr lang="zh-TW" altLang="en-US" sz="2400" dirty="0"/>
              <a:t>你好</a:t>
            </a:r>
          </a:p>
        </p:txBody>
      </p:sp>
    </p:spTree>
    <p:extLst>
      <p:ext uri="{BB962C8B-B14F-4D97-AF65-F5344CB8AC3E}">
        <p14:creationId xmlns:p14="http://schemas.microsoft.com/office/powerpoint/2010/main" val="6883340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1D9AD-2B13-3AB0-B0A2-4E5A65FB3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511058-5608-AAB0-62D6-F98B200F0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40" y="4169664"/>
            <a:ext cx="4236720" cy="291656"/>
          </a:xfrm>
        </p:spPr>
        <p:txBody>
          <a:bodyPr>
            <a:noAutofit/>
          </a:bodyPr>
          <a:lstStyle/>
          <a:p>
            <a:r>
              <a:rPr lang="zh-TW" altLang="en-US" sz="2400" dirty="0"/>
              <a:t>你好</a:t>
            </a:r>
          </a:p>
        </p:txBody>
      </p:sp>
    </p:spTree>
    <p:extLst>
      <p:ext uri="{BB962C8B-B14F-4D97-AF65-F5344CB8AC3E}">
        <p14:creationId xmlns:p14="http://schemas.microsoft.com/office/powerpoint/2010/main" val="1869523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2384</TotalTime>
  <Words>505</Words>
  <Application>Microsoft Office PowerPoint</Application>
  <PresentationFormat>寬螢幕</PresentationFormat>
  <Paragraphs>180</Paragraphs>
  <Slides>17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3" baseType="lpstr">
      <vt:lpstr>Aptos</vt:lpstr>
      <vt:lpstr>Arial</vt:lpstr>
      <vt:lpstr>Calibri</vt:lpstr>
      <vt:lpstr>Calibri Light</vt:lpstr>
      <vt:lpstr>Cambria</vt:lpstr>
      <vt:lpstr>Office 佈景主題</vt:lpstr>
      <vt:lpstr>你好</vt:lpstr>
      <vt:lpstr>你好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素材</vt:lpstr>
      <vt:lpstr>PowerPoint 簡報</vt:lpstr>
      <vt:lpstr>PowerPoint 簡報</vt:lpstr>
      <vt:lpstr>How to Bring Their memory to Life?</vt:lpstr>
      <vt:lpstr>How to Bring Their memory to Life?</vt:lpstr>
      <vt:lpstr>PowerPoint 簡報</vt:lpstr>
      <vt:lpstr>你好</vt:lpstr>
      <vt:lpstr>你好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內心凋零 的男孩</dc:creator>
  <cp:lastModifiedBy>ㄨㄨㄨㄨㄨ ㄍ</cp:lastModifiedBy>
  <cp:revision>130</cp:revision>
  <dcterms:created xsi:type="dcterms:W3CDTF">2026-06-02T15:45:25Z</dcterms:created>
  <dcterms:modified xsi:type="dcterms:W3CDTF">2026-06-13T16:30:35Z</dcterms:modified>
</cp:coreProperties>
</file>